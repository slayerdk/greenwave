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5.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Lst>
  <p:sldSz cx="12192000" cy="6858000"/>
  <p:notesSz cx="6858000" cy="12192000"/>
  <p:extLst>
    <p:ext uri="{521415D9-36F7-43E2-AB2F-B90AF26B5E84}">
      <p14:sectionLst xmlns:p14="http://schemas.microsoft.com/office/powerpoint/2010/main">
        <p14:section name="Intro" id="{ea01e7c9-4dee-2b21-0ac5-8b6c0f6d2589}">
          <p14:sldIdLst>
            <p14:sldId id="256"/>
          </p14:sldIdLst>
        </p14:section>
        <p14:section name="Status" id="{3661d42c-67e2-105e-4059-369182f3bc27}">
          <p14:sldIdLst>
            <p14:sldId id="257"/>
            <p14:sldId id="258"/>
          </p14:sldIdLst>
        </p14:section>
        <p14:section name="Software design" id="{3cc72b12-f1b9-f862-3efb-c65a2633d464}">
          <p14:sldIdLst>
            <p14:sldId id="259"/>
            <p14:sldId id="260"/>
          </p14:sldIdLst>
        </p14:section>
        <p14:section name="Components" id="{783b926f-f322-5da0-51f4-1346b0e1a611}">
          <p14:sldIdLst>
            <p14:sldId id="261"/>
            <p14:sldId id="262"/>
          </p14:sldIdLst>
        </p14:section>
        <p14:section name="Realization" id="{5300a41d-1af6-dec6-6cbb-132f296e8757}">
          <p14:sldIdLst>
            <p14:sldId id="263"/>
          </p14:sldIdLst>
        </p14:section>
        <p14:section name="Next steps" id="{32a8109b-a668-f67c-d3c0-131ad98e0d24}">
          <p14:sldIdLst>
            <p14:sldId id="264"/>
          </p14:sldIdLst>
        </p14:section>
      </p14:sectionLst>
    </p:ext>
  </p:ex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a:t>
            </a:r>
            <a:r>
              <a:rPr lang="en-US" sz="2000" b="0" u="none" strike="noStrike">
                <a:solidFill>
                  <a:srgbClr val="000000"/>
                </a:solidFill>
                <a:effectLst/>
                <a:uFillTx/>
                <a:latin typeface="Arial"/>
              </a:rPr>
              <a:t>notes format</a:t>
            </a:r>
            <a:endParaRPr lang="en-US" sz="2000" b="0" u="none" strike="noStrike">
              <a:solidFill>
                <a:srgbClr val="000000"/>
              </a:solidFill>
              <a:effectLst/>
              <a:uFillTx/>
              <a:latin typeface="Arial"/>
            </a:endParaRP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23" name="PlaceHolder 4"/>
          <p:cNvSpPr>
            <a:spLocks noGrp="1"/>
          </p:cNvSpPr>
          <p:nvPr>
            <p:ph type="dt" idx="3"/>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4" name="PlaceHolder 5"/>
          <p:cNvSpPr>
            <a:spLocks noGrp="1"/>
          </p:cNvSpPr>
          <p:nvPr>
            <p:ph type="ftr" idx="4"/>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6"/>
          <p:cNvSpPr>
            <a:spLocks noGrp="1"/>
          </p:cNvSpPr>
          <p:nvPr>
            <p:ph type="sldNum" idx="5"/>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095EC95-FB67-4DCC-90B3-D4F1C74E0DF4}"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sldImg"/>
          </p:nvPr>
        </p:nvSpPr>
        <p:spPr>
          <a:xfrm>
            <a:off x="685800" y="1143000"/>
            <a:ext cx="5486040" cy="3085920"/>
          </a:xfrm>
          <a:prstGeom prst="rect">
            <a:avLst/>
          </a:prstGeom>
          <a:ln w="0">
            <a:noFill/>
          </a:ln>
        </p:spPr>
      </p:sp>
      <p:sp>
        <p:nvSpPr>
          <p:cNvPr id="4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We're group 5, and this is the status of GreenWave, our smart-traffic project for Aarhus.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biggest change since presentation 1: we're no longer building a system that controls traffic lights. We work with real-time traffic data instead. We show the current traffic state, and the next goal is to predict it.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picture is real data from our own database: the 13 roads we monitor, with the speeds TomTom measured on Thursday 1 October at 10:40. Green is free flow; yellow, orange and red mean the speed has dropped below the road's free-flow speed.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Today: what changed and why, where each block stands, the design, the components, how it scales, and what's next.</a:t>
            </a:r>
            <a:endParaRPr lang="en-US" sz="2000" b="0" u="none" strike="noStrike">
              <a:solidFill>
                <a:srgbClr val="000000"/>
              </a:solidFill>
              <a:effectLst/>
              <a:uFillTx/>
              <a:latin typeface="Arial"/>
            </a:endParaRPr>
          </a:p>
        </p:txBody>
      </p:sp>
      <p:sp>
        <p:nvSpPr>
          <p:cNvPr id="426"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D1FE0C1-F4B8-42D2-8B40-3843B4A4F26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sldImg"/>
          </p:nvPr>
        </p:nvSpPr>
        <p:spPr>
          <a:xfrm>
            <a:off x="685800" y="1143000"/>
            <a:ext cx="5486040" cy="3085920"/>
          </a:xfrm>
          <a:prstGeom prst="rect">
            <a:avLst/>
          </a:prstGeom>
          <a:ln w="0">
            <a:noFill/>
          </a:ln>
        </p:spPr>
      </p:sp>
      <p:sp>
        <p:nvSpPr>
          <p:cNvPr id="4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In presentation 1 the goal was to control traffic lights: simulated sensors at intersections, a backend computing signal plans, and lights following them.</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Now the goal is to work with real-time data: show the traffic state on a live map, and predict where it's heading.</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Three reasons. First, real data: Aarhus Kommune shares TomTom's live speeds for 13 main roads with us, plus a year of history, and real data beats simulated sensors. Second, we can't steer real traffic lights, so the value is in showing the state rather than acting on it. Third, that year of history gives us something to learn from, which is what makes prediction possible.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For the architecture that means an adapter per city instead of an edge controller per intersection, MQTT only instead of CoAP plus MQTT, and congestion state and forecasts instead of signal plans. The open choices from last time are settled: Node.js with TypeScript, and PostgreSQL.</a:t>
            </a:r>
            <a:endParaRPr lang="en-US" sz="2000" b="0" u="none" strike="noStrike">
              <a:solidFill>
                <a:srgbClr val="000000"/>
              </a:solidFill>
              <a:effectLst/>
              <a:uFillTx/>
              <a:latin typeface="Arial"/>
            </a:endParaRPr>
          </a:p>
        </p:txBody>
      </p:sp>
      <p:sp>
        <p:nvSpPr>
          <p:cNvPr id="429"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7A2A1A0-3E38-408C-BC24-AC6A1CC13C2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Img"/>
          </p:nvPr>
        </p:nvSpPr>
        <p:spPr>
          <a:xfrm>
            <a:off x="685800" y="1143000"/>
            <a:ext cx="5486040" cy="3085920"/>
          </a:xfrm>
          <a:prstGeom prst="rect">
            <a:avLst/>
          </a:prstGeom>
          <a:ln w="0">
            <a:noFill/>
          </a:ln>
        </p:spPr>
      </p:sp>
      <p:sp>
        <p:nvSpPr>
          <p:cNvPr id="4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Here's every block of the new architecture and where it stands.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Working today: the database and the frontend, with login, the live map and the history page.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Not implemented yet: the adapter, the MQTT broker, the backend and the prediction. They're designed, and the next slides show how.</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At the bottom is what runs today: one Next.js app that does everything itself. It reads 13 routes from TomTom, about 1,100 road segments, colours the map, and shows a typical weekday averaged over 199 weekdays. The new design splits that app into the blocks above, with MQTT between them.</a:t>
            </a:r>
            <a:endParaRPr lang="en-US" sz="2000" b="0" u="none" strike="noStrike">
              <a:solidFill>
                <a:srgbClr val="000000"/>
              </a:solidFill>
              <a:effectLst/>
              <a:uFillTx/>
              <a:latin typeface="Arial"/>
            </a:endParaRPr>
          </a:p>
        </p:txBody>
      </p:sp>
      <p:sp>
        <p:nvSpPr>
          <p:cNvPr id="432"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5D2AC58-24A0-4744-A319-9AE20E7EC27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sldImg"/>
          </p:nvPr>
        </p:nvSpPr>
        <p:spPr>
          <a:xfrm>
            <a:off x="685800" y="1143000"/>
            <a:ext cx="5486040" cy="3085920"/>
          </a:xfrm>
          <a:prstGeom prst="rect">
            <a:avLst/>
          </a:prstGeom>
          <a:ln w="0">
            <a:noFill/>
          </a:ln>
        </p:spPr>
      </p:sp>
      <p:sp>
        <p:nvSpPr>
          <p:cNvPr id="4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This is the new architecture as building blocks, at C4 container level.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top row is the live path. The adapter for Aarhus fetches TomTom's data every minute and publishes it over MQTT. The broker passes it on, and the backend works out the congestion and publishes the new state.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bottom row is what the user sees. The backend saves everything in the database, and the frontend draws the first version of the map from there. After that, the browser gets live updates straight from the broker over a WebSocket.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Prediction is the new block. It reads the history from the database and writes forecasts back, so the frontend can show them next to the live state. Everything inside the dashed box runs with Docker Compose on one machine.</a:t>
            </a:r>
            <a:endParaRPr lang="en-US" sz="2000" b="0" u="none" strike="noStrike">
              <a:solidFill>
                <a:srgbClr val="000000"/>
              </a:solidFill>
              <a:effectLst/>
              <a:uFillTx/>
              <a:latin typeface="Arial"/>
            </a:endParaRPr>
          </a:p>
        </p:txBody>
      </p:sp>
      <p:sp>
        <p:nvSpPr>
          <p:cNvPr id="435"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746E73D-A8A8-4496-82E8-2FEBBB5F5CE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sldImg"/>
          </p:nvPr>
        </p:nvSpPr>
        <p:spPr>
          <a:xfrm>
            <a:off x="685800" y="1143000"/>
            <a:ext cx="5486040" cy="3085920"/>
          </a:xfrm>
          <a:prstGeom prst="rect">
            <a:avLst/>
          </a:prstGeom>
          <a:ln w="0">
            <a:noFill/>
          </a:ln>
        </p:spPr>
      </p:sp>
      <p:sp>
        <p:nvSpPr>
          <p:cNvPr id="4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One level deeper, in plain steps.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adapter fetches every route each minute, checks the data, converts it to our own message format and publishes it. Most of that code already exists in our proof of concept.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backend receives the readings, drops duplicates and anything older than what it already has, classifies the congestion on every road segment, stores the state and the history, and publishes the new state.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frontend is our existing app. It draws the map from the database, then subscribes to live updates and only applies what's newer than what it shows.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Prediction is the newest block: learn from the history we have, the year of Traffic Stats plus what we record ourselves, forecast each route, and save the forecasts for the map. We haven't picked the method yet.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(If asked: the adapter, backend and frontend share one package with the message format and the congestion thresholds, so they can't drift apart.)</a:t>
            </a:r>
            <a:endParaRPr lang="en-US" sz="2000" b="0" u="none" strike="noStrike">
              <a:solidFill>
                <a:srgbClr val="000000"/>
              </a:solidFill>
              <a:effectLst/>
              <a:uFillTx/>
              <a:latin typeface="Arial"/>
            </a:endParaRPr>
          </a:p>
        </p:txBody>
      </p:sp>
      <p:sp>
        <p:nvSpPr>
          <p:cNvPr id="438"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F372CEF-DFA6-4576-9398-728CBBF4765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PlaceHolder 1"/>
          <p:cNvSpPr>
            <a:spLocks noGrp="1"/>
          </p:cNvSpPr>
          <p:nvPr>
            <p:ph type="sldImg"/>
          </p:nvPr>
        </p:nvSpPr>
        <p:spPr>
          <a:xfrm>
            <a:off x="685800" y="1143000"/>
            <a:ext cx="5486040" cy="3085920"/>
          </a:xfrm>
          <a:prstGeom prst="rect">
            <a:avLst/>
          </a:prstGeom>
          <a:ln w="0">
            <a:noFill/>
          </a:ln>
        </p:spPr>
      </p:sp>
      <p:sp>
        <p:nvSpPr>
          <p:cNvPr id="4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The concrete components. We have no hardware of our own: our sensors are vehicles. TomTom turns their GPS data into a speed per road segment, and Aarhus Kommune gives us access. The broker is Mosquitto with MQTT 5. The adapter and backend are Node.js with TypeScript, the database is PostgreSQL, and the frontend is Next.js with Mapbox for the map. Prediction will be a batch job; the method is still open. Everything runs in Docker Compose.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How they connect: three MQTT topics per city. Readings go from the adapter to the backend. The state goes from the backend to the map, and the broker keeps the latest one, so a new viewer sees every road at once. The adapter's status turns 'offline' if it dies, using MQTT's Last Will.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Adding a city means one more adapter and a broker login that can only write to that city's topics. Every reading carries an event id, so repeats are dropped. Backend copies share one subscription, and browsers can only read.</a:t>
            </a:r>
            <a:endParaRPr lang="en-US" sz="2000" b="0" u="none" strike="noStrike">
              <a:solidFill>
                <a:srgbClr val="000000"/>
              </a:solidFill>
              <a:effectLst/>
              <a:uFillTx/>
              <a:latin typeface="Arial"/>
            </a:endParaRPr>
          </a:p>
        </p:txBody>
      </p:sp>
      <p:sp>
        <p:nvSpPr>
          <p:cNvPr id="441"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3263DAD-3B3B-4D07-9764-1F6CAEB567D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sldImg"/>
          </p:nvPr>
        </p:nvSpPr>
        <p:spPr>
          <a:xfrm>
            <a:off x="685800" y="1143000"/>
            <a:ext cx="5486040" cy="3085920"/>
          </a:xfrm>
          <a:prstGeom prst="rect">
            <a:avLst/>
          </a:prstGeom>
          <a:ln w="0">
            <a:noFill/>
          </a:ln>
        </p:spPr>
      </p:sp>
      <p:sp>
        <p:nvSpPr>
          <p:cNvPr id="4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How it grows. Another city is just another adapter, and calls to a city's API grow with its roads, not with the number of viewers. One Mosquitto handles far more than Aarhus produces: 13 messages and about 250 KB a minute. Processing scales by adding backend copies on the shared subscription. The data stays small because the latest state is one row per segment and history is aggregated; per-minute history would be 1.6 million rows a day for Aarhus alone. And viewers are cheap, because the broker fans out the state it already keeps.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It holds up because every part under load is either stateless, like the adapters and the frontend, or split by a key it already has, the city or the route. The real limits are TomTom's quota and the database, and a load test will show that with numbers.</a:t>
            </a:r>
            <a:endParaRPr lang="en-US" sz="2000" b="0" u="none" strike="noStrike">
              <a:solidFill>
                <a:srgbClr val="000000"/>
              </a:solidFill>
              <a:effectLst/>
              <a:uFillTx/>
              <a:latin typeface="Arial"/>
            </a:endParaRPr>
          </a:p>
        </p:txBody>
      </p:sp>
      <p:sp>
        <p:nvSpPr>
          <p:cNvPr id="444"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2012BD7-2590-4118-A162-9CD34943805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sldImg"/>
          </p:nvPr>
        </p:nvSpPr>
        <p:spPr>
          <a:xfrm>
            <a:off x="685800" y="1143000"/>
            <a:ext cx="5486040" cy="3085920"/>
          </a:xfrm>
          <a:prstGeom prst="rect">
            <a:avLst/>
          </a:prstGeom>
          <a:ln w="0">
            <a:noFill/>
          </a:ln>
        </p:spPr>
      </p:sp>
      <p:sp>
        <p:nvSpPr>
          <p:cNvPr id="4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What has become concrete since presentation 1: the data source, the message format and topics, the backend's steps, the whole stack, and how it runs.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Still open, with our plan for each. How we predict: we start from what we have, the typical weekday from Traffic Stats and our own recorded history, and pick a method from there. When a road counts as congested needs tuning on real data. Running several backend copies needs care, so we start with one. And where the real limits are, a load test will tell.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Challenges so far. TomTom's segment ids are too big for JavaScript numbers and were silently rounded, so we keep them as strings and validate every response. Serverless didn't suit a pipeline: our hourly job on GitHub Actions failed 58 times on missing secrets, and a serverless function can't hold an MQTT connection, hence Docker Compose. And MQTT can deliver duplicate, late or stale data, which event ids, newest-wins and expiring state handle.</a:t>
            </a:r>
            <a:endParaRPr lang="en-US" sz="2000" b="0" u="none" strike="noStrike">
              <a:solidFill>
                <a:srgbClr val="000000"/>
              </a:solidFill>
              <a:effectLst/>
              <a:uFillTx/>
              <a:latin typeface="Arial"/>
            </a:endParaRPr>
          </a:p>
        </p:txBody>
      </p:sp>
      <p:sp>
        <p:nvSpPr>
          <p:cNvPr id="447"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6295E33-0AA4-4BA2-B363-E352ED9581E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sldImg"/>
          </p:nvPr>
        </p:nvSpPr>
        <p:spPr>
          <a:xfrm>
            <a:off x="685800" y="1143000"/>
            <a:ext cx="5486040" cy="3085920"/>
          </a:xfrm>
          <a:prstGeom prst="rect">
            <a:avLst/>
          </a:prstGeom>
          <a:ln w="0">
            <a:noFill/>
          </a:ln>
        </p:spPr>
      </p:sp>
      <p:sp>
        <p:nvSpPr>
          <p:cNvPr id="4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Next steps. First the skeleton: the project structure for the new services, and Docker Compose with the MQTT broker. Then the live pipeline: the adapter publishing TomTom data, the backend classifying and storing it, and the map updating live over MQTT. Then prediction: record the history prediction needs, build a first forecast job, and show the forecasts on the map.</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Along the way we test it: watch every message with mosquitto_sub, stop the adapter and check it shows as offline, restart the backend and check nothing is lost or doubled, and run a load test.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Thank you. Questions?</a:t>
            </a:r>
            <a:endParaRPr lang="en-US" sz="2000" b="0" u="none" strike="noStrike">
              <a:solidFill>
                <a:srgbClr val="000000"/>
              </a:solidFill>
              <a:effectLst/>
              <a:uFillTx/>
              <a:latin typeface="Arial"/>
            </a:endParaRPr>
          </a:p>
        </p:txBody>
      </p:sp>
      <p:sp>
        <p:nvSpPr>
          <p:cNvPr id="450"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5311ACD-3BFA-4DC4-8152-B8DA0521A17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GW_TITLE">
    <p:bg>
      <p:bgPr>
        <a:solidFill>
          <a:schemeClr val="dk1"/>
        </a:solidFill>
      </p:bgPr>
    </p:bg>
    <p:spTree>
      <p:nvGrpSpPr>
        <p:cNvPr id="1" name=""/>
        <p:cNvGrpSpPr/>
        <p:nvPr/>
      </p:nvGrpSpPr>
      <p:grpSpPr>
        <a:xfrm>
          <a:off x="0" y="0"/>
          <a:ext cx="0" cy="0"/>
          <a:chOff x="0" y="0"/>
          <a:chExt cx="0" cy="0"/>
        </a:xfrm>
      </p:grpSpPr>
      <p:sp>
        <p:nvSpPr>
          <p:cNvPr id="2" name="PlaceHolder 1"/>
          <p:cNvSpPr>
            <a:spLocks noGrp="1"/>
          </p:cNvSpPr>
          <p:nvPr>
            <p:ph type="body"/>
          </p:nvPr>
        </p:nvSpPr>
        <p:spPr>
          <a:xfrm>
            <a:off x="731520" y="1783080"/>
            <a:ext cx="5486040" cy="365400"/>
          </a:xfrm>
          <a:prstGeom prst="rect">
            <a:avLst/>
          </a:prstGeom>
          <a:noFill/>
          <a:ln w="0">
            <a:noFill/>
          </a:ln>
        </p:spPr>
        <p:txBody>
          <a:bodyPr lIns="90000" tIns="45000" rIns="90000" bIns="45000" anchor="t">
            <a:noAutofit/>
          </a:bodyPr>
          <a:lstStyle>
            <a:lvl1pPr algn="l">
              <a:spcBef>
                <a:spcPts val="1417"/>
              </a:spcBef>
              <a:buClr>
                <a:srgbClr val="FFFFFF"/>
              </a:buClr>
              <a:buSzPct val="45000"/>
              <a:buFont typeface="Wingdings" charset="2"/>
              <a:buChar char=""/>
              <a:defRPr lang="en-US" sz="13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en-US" sz="13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en-US" sz="13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en-US" sz="13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en-US" sz="13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en-US" sz="13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en-US" sz="1300" b="0" u="none" strike="noStrike">
                <a:solidFill>
                  <a:schemeClr val="dk1"/>
                </a:solidFill>
                <a:effectLst/>
                <a:uFillTx/>
                <a:latin typeface="Calibri"/>
              </a:defRPr>
            </a:lvl7pPr>
          </a:lstStyle>
          <a:p>
            <a:pPr algn="l">
              <a:spcBef>
                <a:spcPts val="1417"/>
              </a:spcBef>
              <a:buClr>
                <a:srgbClr val="FFFFFF"/>
              </a:buClr>
              <a:buSzPct val="45000"/>
              <a:buFont typeface="Wingdings" charset="2"/>
              <a:buChar char=""/>
            </a:pPr>
            <a:r>
              <a:rPr lang="en-US" sz="1300" b="0" u="none" strike="noStrike">
                <a:solidFill>
                  <a:schemeClr val="dk1"/>
                </a:solidFill>
                <a:effectLst/>
                <a:uFillTx/>
                <a:latin typeface="Calibri"/>
              </a:rPr>
              <a:t>Click to edit the outline text format</a:t>
            </a:r>
            <a:endParaRPr lang="en-US" sz="1300" b="0" u="none" strike="noStrike">
              <a:solidFill>
                <a:schemeClr val="dk1"/>
              </a:solidFill>
              <a:effectLst/>
              <a:uFillTx/>
              <a:latin typeface="Calibri"/>
            </a:endParaRPr>
          </a:p>
          <a:p>
            <a:pPr marL="743040" lvl="1" indent="-285840" algn="l">
              <a:spcBef>
                <a:spcPts val="1134"/>
              </a:spcBef>
              <a:buClr>
                <a:srgbClr val="FFFFFF"/>
              </a:buClr>
              <a:buSzPct val="75000"/>
              <a:buFont typeface="Symbol" charset="2"/>
              <a:buChar char=""/>
            </a:pPr>
            <a:r>
              <a:rPr lang="en-US" sz="1300" b="0" u="none" strike="noStrike">
                <a:solidFill>
                  <a:schemeClr val="dk1"/>
                </a:solidFill>
                <a:effectLst/>
                <a:uFillTx/>
                <a:latin typeface="Calibri"/>
              </a:rPr>
              <a:t>Second Outline Level</a:t>
            </a:r>
            <a:endParaRPr lang="en-US" sz="1300" b="0" u="none" strike="noStrike">
              <a:solidFill>
                <a:schemeClr val="dk1"/>
              </a:solidFill>
              <a:effectLst/>
              <a:uFillTx/>
              <a:latin typeface="Calibri"/>
            </a:endParaRPr>
          </a:p>
          <a:p>
            <a:pPr marL="1143000" lvl="2" indent="-228600" algn="l">
              <a:spcBef>
                <a:spcPts val="850"/>
              </a:spcBef>
              <a:buClr>
                <a:srgbClr val="FFFFFF"/>
              </a:buClr>
              <a:buSzPct val="45000"/>
              <a:buFont typeface="Wingdings" charset="2"/>
              <a:buChar char=""/>
            </a:pPr>
            <a:r>
              <a:rPr lang="en-US" sz="1300" b="0" u="none" strike="noStrike">
                <a:solidFill>
                  <a:schemeClr val="dk1"/>
                </a:solidFill>
                <a:effectLst/>
                <a:uFillTx/>
                <a:latin typeface="Calibri"/>
              </a:rPr>
              <a:t>Third Outline Level</a:t>
            </a:r>
            <a:endParaRPr lang="en-US" sz="1300" b="0" u="none" strike="noStrike">
              <a:solidFill>
                <a:schemeClr val="dk1"/>
              </a:solidFill>
              <a:effectLst/>
              <a:uFillTx/>
              <a:latin typeface="Calibri"/>
            </a:endParaRPr>
          </a:p>
          <a:p>
            <a:pPr marL="1600200" lvl="3" indent="-228600" algn="l">
              <a:spcBef>
                <a:spcPts val="567"/>
              </a:spcBef>
              <a:buClr>
                <a:srgbClr val="FFFFFF"/>
              </a:buClr>
              <a:buSzPct val="75000"/>
              <a:buFont typeface="Symbol" charset="2"/>
              <a:buChar char=""/>
            </a:pPr>
            <a:r>
              <a:rPr lang="en-US" sz="1300" b="0" u="none" strike="noStrike">
                <a:solidFill>
                  <a:schemeClr val="dk1"/>
                </a:solidFill>
                <a:effectLst/>
                <a:uFillTx/>
                <a:latin typeface="Calibri"/>
              </a:rPr>
              <a:t>Fourth Outline Level</a:t>
            </a:r>
            <a:endParaRPr lang="en-US" sz="1300" b="0" u="none" strike="noStrike">
              <a:solidFill>
                <a:schemeClr val="dk1"/>
              </a:solidFill>
              <a:effectLst/>
              <a:uFillTx/>
              <a:latin typeface="Calibri"/>
            </a:endParaRPr>
          </a:p>
          <a:p>
            <a:pPr marL="2057400" lvl="4" indent="-228600" algn="l">
              <a:spcBef>
                <a:spcPts val="283"/>
              </a:spcBef>
              <a:buClr>
                <a:srgbClr val="FFFFFF"/>
              </a:buClr>
              <a:buSzPct val="45000"/>
              <a:buFont typeface="Wingdings" charset="2"/>
              <a:buChar char=""/>
            </a:pPr>
            <a:r>
              <a:rPr lang="en-US" sz="1300" b="0" u="none" strike="noStrike">
                <a:solidFill>
                  <a:schemeClr val="dk1"/>
                </a:solidFill>
                <a:effectLst/>
                <a:uFillTx/>
                <a:latin typeface="Calibri"/>
              </a:rPr>
              <a:t>Fifth Outline Level</a:t>
            </a:r>
            <a:endParaRPr lang="en-US" sz="1300" b="0" u="none" strike="noStrike">
              <a:solidFill>
                <a:schemeClr val="dk1"/>
              </a:solidFill>
              <a:effectLst/>
              <a:uFillTx/>
              <a:latin typeface="Calibri"/>
            </a:endParaRPr>
          </a:p>
          <a:p>
            <a:pPr marL="2514600" lvl="5" indent="-228600" algn="l">
              <a:spcBef>
                <a:spcPts val="283"/>
              </a:spcBef>
              <a:buClr>
                <a:srgbClr val="FFFFFF"/>
              </a:buClr>
              <a:buSzPct val="45000"/>
              <a:buFont typeface="Wingdings" charset="2"/>
              <a:buChar char=""/>
            </a:pPr>
            <a:r>
              <a:rPr lang="en-US" sz="1300" b="0" u="none" strike="noStrike">
                <a:solidFill>
                  <a:schemeClr val="dk1"/>
                </a:solidFill>
                <a:effectLst/>
                <a:uFillTx/>
                <a:latin typeface="Calibri"/>
              </a:rPr>
              <a:t>Sixth Outline Level</a:t>
            </a:r>
            <a:endParaRPr lang="en-US" sz="1300" b="0" u="none" strike="noStrike">
              <a:solidFill>
                <a:schemeClr val="dk1"/>
              </a:solidFill>
              <a:effectLst/>
              <a:uFillTx/>
              <a:latin typeface="Calibri"/>
            </a:endParaRPr>
          </a:p>
          <a:p>
            <a:pPr marL="2971800" lvl="6" indent="-228600" algn="l">
              <a:spcBef>
                <a:spcPts val="283"/>
              </a:spcBef>
              <a:buClr>
                <a:srgbClr val="FFFFFF"/>
              </a:buClr>
              <a:buSzPct val="45000"/>
              <a:buFont typeface="Wingdings" charset="2"/>
              <a:buChar char=""/>
            </a:pPr>
            <a:r>
              <a:rPr lang="en-US" sz="1300" b="0" u="none" strike="noStrike">
                <a:solidFill>
                  <a:schemeClr val="dk1"/>
                </a:solidFill>
                <a:effectLst/>
                <a:uFillTx/>
                <a:latin typeface="Calibri"/>
              </a:rPr>
              <a:t>Seventh Outline Level</a:t>
            </a:r>
            <a:endParaRPr lang="en-US" sz="1300" b="0" u="none" strike="noStrike">
              <a:solidFill>
                <a:schemeClr val="dk1"/>
              </a:solidFill>
              <a:effectLst/>
              <a:uFillTx/>
              <a:latin typeface="Calibri"/>
            </a:endParaRPr>
          </a:p>
        </p:txBody>
      </p:sp>
      <p:sp>
        <p:nvSpPr>
          <p:cNvPr id="3" name="PlaceHolder 2"/>
          <p:cNvSpPr>
            <a:spLocks noGrp="1"/>
          </p:cNvSpPr>
          <p:nvPr>
            <p:ph type="title"/>
          </p:nvPr>
        </p:nvSpPr>
        <p:spPr>
          <a:xfrm>
            <a:off x="731520" y="2194560"/>
            <a:ext cx="5760360" cy="1096920"/>
          </a:xfrm>
          <a:prstGeom prst="rect">
            <a:avLst/>
          </a:prstGeom>
          <a:noFill/>
          <a:ln w="0">
            <a:noFill/>
          </a:ln>
        </p:spPr>
        <p:txBody>
          <a:bodyPr lIns="90000" tIns="45000" rIns="90000" bIns="45000" anchor="t">
            <a:noAutofit/>
          </a:bodyPr>
          <a:lstStyle>
            <a:lvl1pPr indent="0" algn="l">
              <a:buNone/>
              <a:defRPr lang="en-US" sz="6000" b="0" u="none" strike="noStrike">
                <a:solidFill>
                  <a:schemeClr val="dk1"/>
                </a:solidFill>
                <a:effectLst/>
                <a:uFillTx/>
                <a:latin typeface="Calibri"/>
              </a:defRPr>
            </a:lvl1pPr>
          </a:lstStyle>
          <a:p>
            <a:pPr indent="0" algn="l">
              <a:buNone/>
            </a:pPr>
            <a:r>
              <a:rPr lang="en-US" sz="6000" b="0" u="none" strike="noStrike">
                <a:solidFill>
                  <a:schemeClr val="dk1"/>
                </a:solidFill>
                <a:effectLst/>
                <a:uFillTx/>
                <a:latin typeface="Calibri"/>
              </a:rPr>
              <a:t>Click to </a:t>
            </a:r>
            <a:r>
              <a:rPr lang="en-US" sz="6000" b="0" u="none" strike="noStrike">
                <a:solidFill>
                  <a:schemeClr val="dk1"/>
                </a:solidFill>
                <a:effectLst/>
                <a:uFillTx/>
                <a:latin typeface="Calibri"/>
              </a:rPr>
              <a:t>edit the </a:t>
            </a:r>
            <a:r>
              <a:rPr lang="en-US" sz="6000" b="0" u="none" strike="noStrike">
                <a:solidFill>
                  <a:schemeClr val="dk1"/>
                </a:solidFill>
                <a:effectLst/>
                <a:uFillTx/>
                <a:latin typeface="Calibri"/>
              </a:rPr>
              <a:t>title text </a:t>
            </a:r>
            <a:r>
              <a:rPr lang="en-US" sz="6000" b="0" u="none" strike="noStrike">
                <a:solidFill>
                  <a:schemeClr val="dk1"/>
                </a:solidFill>
                <a:effectLst/>
                <a:uFillTx/>
                <a:latin typeface="Calibri"/>
              </a:rPr>
              <a:t>format</a:t>
            </a:r>
            <a:endParaRPr lang="en-US" sz="6000" b="0" u="none" strike="noStrike">
              <a:solidFill>
                <a:schemeClr val="dk1"/>
              </a:solidFill>
              <a:effectLst/>
              <a:uFillTx/>
              <a:latin typeface="Calibri"/>
            </a:endParaRPr>
          </a:p>
        </p:txBody>
      </p:sp>
      <p:sp>
        <p:nvSpPr>
          <p:cNvPr id="4" name="PlaceHolder 3"/>
          <p:cNvSpPr>
            <a:spLocks noGrp="1"/>
          </p:cNvSpPr>
          <p:nvPr>
            <p:ph type="body"/>
          </p:nvPr>
        </p:nvSpPr>
        <p:spPr>
          <a:xfrm>
            <a:off x="731520" y="3429000"/>
            <a:ext cx="5760360" cy="411120"/>
          </a:xfrm>
          <a:prstGeom prst="rect">
            <a:avLst/>
          </a:prstGeom>
          <a:noFill/>
          <a:ln w="0">
            <a:noFill/>
          </a:ln>
        </p:spPr>
        <p:txBody>
          <a:bodyPr lIns="90000" tIns="45000" rIns="90000" bIns="45000" anchor="t">
            <a:noAutofit/>
          </a:bodyPr>
          <a:lstStyle>
            <a:lvl1pPr algn="l">
              <a:spcBef>
                <a:spcPts val="1417"/>
              </a:spcBef>
              <a:buClr>
                <a:srgbClr val="FFFFFF"/>
              </a:buClr>
              <a:buSzPct val="45000"/>
              <a:buFont typeface="Wingdings" charset="2"/>
              <a:buChar char=""/>
              <a:defRPr lang="en-US" sz="18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en-US" sz="18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en-US" sz="18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en-US" sz="18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en-US" sz="18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en-US" sz="18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en-US" sz="1800" b="0" u="none" strike="noStrike">
                <a:solidFill>
                  <a:schemeClr val="dk1"/>
                </a:solidFill>
                <a:effectLst/>
                <a:uFillTx/>
                <a:latin typeface="Calibri"/>
              </a:defRPr>
            </a:lvl7pPr>
          </a:lstStyle>
          <a:p>
            <a:pPr algn="l">
              <a:spcBef>
                <a:spcPts val="1417"/>
              </a:spcBef>
              <a:buClr>
                <a:srgbClr val="FFFFFF"/>
              </a:buClr>
              <a:buSzPct val="45000"/>
              <a:buFont typeface="Wingdings" charset="2"/>
              <a:buChar char=""/>
            </a:pPr>
            <a:r>
              <a:rPr lang="en-US" sz="1800" b="0" u="none" strike="noStrike">
                <a:solidFill>
                  <a:schemeClr val="dk1"/>
                </a:solidFill>
                <a:effectLst/>
                <a:uFillTx/>
                <a:latin typeface="Calibri"/>
              </a:rPr>
              <a:t>Click to edit the outline text format</a:t>
            </a:r>
            <a:endParaRPr lang="en-US" sz="1800" b="0" u="none" strike="noStrike">
              <a:solidFill>
                <a:schemeClr val="dk1"/>
              </a:solidFill>
              <a:effectLst/>
              <a:uFillTx/>
              <a:latin typeface="Calibri"/>
            </a:endParaRPr>
          </a:p>
          <a:p>
            <a:pPr marL="743040" lvl="1" indent="-285840" algn="l">
              <a:spcBef>
                <a:spcPts val="1134"/>
              </a:spcBef>
              <a:buClr>
                <a:srgbClr val="FFFFFF"/>
              </a:buClr>
              <a:buSzPct val="75000"/>
              <a:buFont typeface="Symbol" charset="2"/>
              <a:buChar char=""/>
            </a:pPr>
            <a:r>
              <a:rPr lang="en-US" sz="1800" b="0" u="none" strike="noStrike">
                <a:solidFill>
                  <a:schemeClr val="dk1"/>
                </a:solidFill>
                <a:effectLst/>
                <a:uFillTx/>
                <a:latin typeface="Calibri"/>
              </a:rPr>
              <a:t>Second Outline Level</a:t>
            </a:r>
            <a:endParaRPr lang="en-US" sz="1800" b="0" u="none" strike="noStrike">
              <a:solidFill>
                <a:schemeClr val="dk1"/>
              </a:solidFill>
              <a:effectLst/>
              <a:uFillTx/>
              <a:latin typeface="Calibri"/>
            </a:endParaRPr>
          </a:p>
          <a:p>
            <a:pPr marL="1143000" lvl="2" indent="-228600" algn="l">
              <a:spcBef>
                <a:spcPts val="850"/>
              </a:spcBef>
              <a:buClr>
                <a:srgbClr val="FFFFFF"/>
              </a:buClr>
              <a:buSzPct val="45000"/>
              <a:buFont typeface="Wingdings" charset="2"/>
              <a:buChar char=""/>
            </a:pPr>
            <a:r>
              <a:rPr lang="en-US" sz="1800" b="0" u="none" strike="noStrike">
                <a:solidFill>
                  <a:schemeClr val="dk1"/>
                </a:solidFill>
                <a:effectLst/>
                <a:uFillTx/>
                <a:latin typeface="Calibri"/>
              </a:rPr>
              <a:t>Third Outline Level</a:t>
            </a:r>
            <a:endParaRPr lang="en-US" sz="1800" b="0" u="none" strike="noStrike">
              <a:solidFill>
                <a:schemeClr val="dk1"/>
              </a:solidFill>
              <a:effectLst/>
              <a:uFillTx/>
              <a:latin typeface="Calibri"/>
            </a:endParaRPr>
          </a:p>
          <a:p>
            <a:pPr marL="1600200" lvl="3" indent="-228600" algn="l">
              <a:spcBef>
                <a:spcPts val="567"/>
              </a:spcBef>
              <a:buClr>
                <a:srgbClr val="FFFFFF"/>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chemeClr val="dk1"/>
              </a:solidFill>
              <a:effectLst/>
              <a:uFillTx/>
              <a:latin typeface="Calibri"/>
            </a:endParaRPr>
          </a:p>
          <a:p>
            <a:pPr marL="2057400" lvl="4" indent="-228600" algn="l">
              <a:spcBef>
                <a:spcPts val="283"/>
              </a:spcBef>
              <a:buClr>
                <a:srgbClr val="FFFFFF"/>
              </a:buClr>
              <a:buSzPct val="45000"/>
              <a:buFont typeface="Wingdings" charset="2"/>
              <a:buChar char=""/>
            </a:pPr>
            <a:r>
              <a:rPr lang="en-US" sz="1800" b="0" u="none" strike="noStrike">
                <a:solidFill>
                  <a:schemeClr val="dk1"/>
                </a:solidFill>
                <a:effectLst/>
                <a:uFillTx/>
                <a:latin typeface="Calibri"/>
              </a:rPr>
              <a:t>Fifth Outline Level</a:t>
            </a:r>
            <a:endParaRPr lang="en-US" sz="1800" b="0" u="none" strike="noStrike">
              <a:solidFill>
                <a:schemeClr val="dk1"/>
              </a:solidFill>
              <a:effectLst/>
              <a:uFillTx/>
              <a:latin typeface="Calibri"/>
            </a:endParaRPr>
          </a:p>
          <a:p>
            <a:pPr marL="2514600" lvl="5" indent="-228600" algn="l">
              <a:spcBef>
                <a:spcPts val="283"/>
              </a:spcBef>
              <a:buClr>
                <a:srgbClr val="FFFFFF"/>
              </a:buClr>
              <a:buSzPct val="45000"/>
              <a:buFont typeface="Wingdings" charset="2"/>
              <a:buChar char=""/>
            </a:pPr>
            <a:r>
              <a:rPr lang="en-US" sz="1800" b="0" u="none" strike="noStrike">
                <a:solidFill>
                  <a:schemeClr val="dk1"/>
                </a:solidFill>
                <a:effectLst/>
                <a:uFillTx/>
                <a:latin typeface="Calibri"/>
              </a:rPr>
              <a:t>Sixth Outline Level</a:t>
            </a:r>
            <a:endParaRPr lang="en-US" sz="1800" b="0" u="none" strike="noStrike">
              <a:solidFill>
                <a:schemeClr val="dk1"/>
              </a:solidFill>
              <a:effectLst/>
              <a:uFillTx/>
              <a:latin typeface="Calibri"/>
            </a:endParaRPr>
          </a:p>
          <a:p>
            <a:pPr marL="2971800" lvl="6" indent="-228600" algn="l">
              <a:spcBef>
                <a:spcPts val="283"/>
              </a:spcBef>
              <a:buClr>
                <a:srgbClr val="FFFFFF"/>
              </a:buClr>
              <a:buSzPct val="45000"/>
              <a:buFont typeface="Wingdings" charset="2"/>
              <a:buChar char=""/>
            </a:pPr>
            <a:r>
              <a:rPr lang="en-US" sz="1800" b="0" u="none" strike="noStrike">
                <a:solidFill>
                  <a:schemeClr val="dk1"/>
                </a:solidFill>
                <a:effectLst/>
                <a:uFillTx/>
                <a:latin typeface="Calibri"/>
              </a:rPr>
              <a:t>Seventh Outline Level</a:t>
            </a:r>
            <a:endParaRPr lang="en-US" sz="1800" b="0" u="none" strike="noStrike">
              <a:solidFill>
                <a:schemeClr val="dk1"/>
              </a:solidFill>
              <a:effectLst/>
              <a:uFillTx/>
              <a:latin typeface="Calibri"/>
            </a:endParaRPr>
          </a:p>
        </p:txBody>
      </p:sp>
      <p:sp>
        <p:nvSpPr>
          <p:cNvPr id="5" name="PlaceHolder 4"/>
          <p:cNvSpPr>
            <a:spLocks noGrp="1"/>
          </p:cNvSpPr>
          <p:nvPr>
            <p:ph type="body"/>
          </p:nvPr>
        </p:nvSpPr>
        <p:spPr>
          <a:xfrm>
            <a:off x="731520" y="3931920"/>
            <a:ext cx="5760360" cy="685440"/>
          </a:xfrm>
          <a:prstGeom prst="rect">
            <a:avLst/>
          </a:prstGeom>
          <a:noFill/>
          <a:ln w="0">
            <a:noFill/>
          </a:ln>
        </p:spPr>
        <p:txBody>
          <a:bodyPr lIns="90000" tIns="45000" rIns="90000" bIns="45000" anchor="t">
            <a:noAutofit/>
          </a:bodyPr>
          <a:lstStyle>
            <a:lvl1pPr algn="l">
              <a:spcBef>
                <a:spcPts val="1417"/>
              </a:spcBef>
              <a:buClr>
                <a:srgbClr val="FFFFFF"/>
              </a:buClr>
              <a:buSzPct val="45000"/>
              <a:buFont typeface="Wingdings" charset="2"/>
              <a:buChar char=""/>
              <a:defRPr lang="en-US" sz="15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en-US" sz="15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en-US" sz="15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en-US" sz="15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en-US" sz="15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en-US" sz="15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en-US" sz="1500" b="0" u="none" strike="noStrike">
                <a:solidFill>
                  <a:schemeClr val="dk1"/>
                </a:solidFill>
                <a:effectLst/>
                <a:uFillTx/>
                <a:latin typeface="Calibri"/>
              </a:defRPr>
            </a:lvl7pPr>
          </a:lstStyle>
          <a:p>
            <a:pPr algn="l">
              <a:spcBef>
                <a:spcPts val="1417"/>
              </a:spcBef>
              <a:buClr>
                <a:srgbClr val="FFFFFF"/>
              </a:buClr>
              <a:buSzPct val="45000"/>
              <a:buFont typeface="Wingdings" charset="2"/>
              <a:buChar char=""/>
            </a:pPr>
            <a:r>
              <a:rPr lang="en-US" sz="1500" b="0" u="none" strike="noStrike">
                <a:solidFill>
                  <a:schemeClr val="dk1"/>
                </a:solidFill>
                <a:effectLst/>
                <a:uFillTx/>
                <a:latin typeface="Calibri"/>
              </a:rPr>
              <a:t>Click to edit the outline text format</a:t>
            </a:r>
            <a:endParaRPr lang="en-US" sz="1500" b="0" u="none" strike="noStrike">
              <a:solidFill>
                <a:schemeClr val="dk1"/>
              </a:solidFill>
              <a:effectLst/>
              <a:uFillTx/>
              <a:latin typeface="Calibri"/>
            </a:endParaRPr>
          </a:p>
          <a:p>
            <a:pPr marL="743040" lvl="1" indent="-285840" algn="l">
              <a:spcBef>
                <a:spcPts val="1134"/>
              </a:spcBef>
              <a:buClr>
                <a:srgbClr val="FFFFFF"/>
              </a:buClr>
              <a:buSzPct val="75000"/>
              <a:buFont typeface="Symbol" charset="2"/>
              <a:buChar char=""/>
            </a:pPr>
            <a:r>
              <a:rPr lang="en-US" sz="1500" b="0" u="none" strike="noStrike">
                <a:solidFill>
                  <a:schemeClr val="dk1"/>
                </a:solidFill>
                <a:effectLst/>
                <a:uFillTx/>
                <a:latin typeface="Calibri"/>
              </a:rPr>
              <a:t>Second Outline Level</a:t>
            </a:r>
            <a:endParaRPr lang="en-US" sz="1500" b="0" u="none" strike="noStrike">
              <a:solidFill>
                <a:schemeClr val="dk1"/>
              </a:solidFill>
              <a:effectLst/>
              <a:uFillTx/>
              <a:latin typeface="Calibri"/>
            </a:endParaRPr>
          </a:p>
          <a:p>
            <a:pPr marL="1143000" lvl="2" indent="-228600" algn="l">
              <a:spcBef>
                <a:spcPts val="850"/>
              </a:spcBef>
              <a:buClr>
                <a:srgbClr val="FFFFFF"/>
              </a:buClr>
              <a:buSzPct val="45000"/>
              <a:buFont typeface="Wingdings" charset="2"/>
              <a:buChar char=""/>
            </a:pPr>
            <a:r>
              <a:rPr lang="en-US" sz="1500" b="0" u="none" strike="noStrike">
                <a:solidFill>
                  <a:schemeClr val="dk1"/>
                </a:solidFill>
                <a:effectLst/>
                <a:uFillTx/>
                <a:latin typeface="Calibri"/>
              </a:rPr>
              <a:t>Third Outline Level</a:t>
            </a:r>
            <a:endParaRPr lang="en-US" sz="1500" b="0" u="none" strike="noStrike">
              <a:solidFill>
                <a:schemeClr val="dk1"/>
              </a:solidFill>
              <a:effectLst/>
              <a:uFillTx/>
              <a:latin typeface="Calibri"/>
            </a:endParaRPr>
          </a:p>
          <a:p>
            <a:pPr marL="1600200" lvl="3" indent="-228600" algn="l">
              <a:spcBef>
                <a:spcPts val="567"/>
              </a:spcBef>
              <a:buClr>
                <a:srgbClr val="FFFFFF"/>
              </a:buClr>
              <a:buSzPct val="75000"/>
              <a:buFont typeface="Symbol" charset="2"/>
              <a:buChar char=""/>
            </a:pPr>
            <a:r>
              <a:rPr lang="en-US" sz="1500" b="0" u="none" strike="noStrike">
                <a:solidFill>
                  <a:schemeClr val="dk1"/>
                </a:solidFill>
                <a:effectLst/>
                <a:uFillTx/>
                <a:latin typeface="Calibri"/>
              </a:rPr>
              <a:t>Fourth Outline Level</a:t>
            </a:r>
            <a:endParaRPr lang="en-US" sz="1500" b="0" u="none" strike="noStrike">
              <a:solidFill>
                <a:schemeClr val="dk1"/>
              </a:solidFill>
              <a:effectLst/>
              <a:uFillTx/>
              <a:latin typeface="Calibri"/>
            </a:endParaRPr>
          </a:p>
          <a:p>
            <a:pPr marL="2057400" lvl="4" indent="-228600" algn="l">
              <a:spcBef>
                <a:spcPts val="283"/>
              </a:spcBef>
              <a:buClr>
                <a:srgbClr val="FFFFFF"/>
              </a:buClr>
              <a:buSzPct val="45000"/>
              <a:buFont typeface="Wingdings" charset="2"/>
              <a:buChar char=""/>
            </a:pPr>
            <a:r>
              <a:rPr lang="en-US" sz="1500" b="0" u="none" strike="noStrike">
                <a:solidFill>
                  <a:schemeClr val="dk1"/>
                </a:solidFill>
                <a:effectLst/>
                <a:uFillTx/>
                <a:latin typeface="Calibri"/>
              </a:rPr>
              <a:t>Fifth Outline Level</a:t>
            </a:r>
            <a:endParaRPr lang="en-US" sz="1500" b="0" u="none" strike="noStrike">
              <a:solidFill>
                <a:schemeClr val="dk1"/>
              </a:solidFill>
              <a:effectLst/>
              <a:uFillTx/>
              <a:latin typeface="Calibri"/>
            </a:endParaRPr>
          </a:p>
          <a:p>
            <a:pPr marL="2514600" lvl="5" indent="-228600" algn="l">
              <a:spcBef>
                <a:spcPts val="283"/>
              </a:spcBef>
              <a:buClr>
                <a:srgbClr val="FFFFFF"/>
              </a:buClr>
              <a:buSzPct val="45000"/>
              <a:buFont typeface="Wingdings" charset="2"/>
              <a:buChar char=""/>
            </a:pPr>
            <a:r>
              <a:rPr lang="en-US" sz="1500" b="0" u="none" strike="noStrike">
                <a:solidFill>
                  <a:schemeClr val="dk1"/>
                </a:solidFill>
                <a:effectLst/>
                <a:uFillTx/>
                <a:latin typeface="Calibri"/>
              </a:rPr>
              <a:t>Sixth Outline Level</a:t>
            </a:r>
            <a:endParaRPr lang="en-US" sz="1500" b="0" u="none" strike="noStrike">
              <a:solidFill>
                <a:schemeClr val="dk1"/>
              </a:solidFill>
              <a:effectLst/>
              <a:uFillTx/>
              <a:latin typeface="Calibri"/>
            </a:endParaRPr>
          </a:p>
          <a:p>
            <a:pPr marL="2971800" lvl="6" indent="-228600" algn="l">
              <a:spcBef>
                <a:spcPts val="283"/>
              </a:spcBef>
              <a:buClr>
                <a:srgbClr val="FFFFFF"/>
              </a:buClr>
              <a:buSzPct val="45000"/>
              <a:buFont typeface="Wingdings" charset="2"/>
              <a:buChar char=""/>
            </a:pPr>
            <a:r>
              <a:rPr lang="en-US" sz="1500" b="0" u="none" strike="noStrike">
                <a:solidFill>
                  <a:schemeClr val="dk1"/>
                </a:solidFill>
                <a:effectLst/>
                <a:uFillTx/>
                <a:latin typeface="Calibri"/>
              </a:rPr>
              <a:t>Seventh Outline Level</a:t>
            </a:r>
            <a:endParaRPr lang="en-US" sz="1500" b="0" u="none" strike="noStrike">
              <a:solidFill>
                <a:schemeClr val="dk1"/>
              </a:solidFill>
              <a:effectLst/>
              <a:uFillTx/>
              <a:latin typeface="Calibri"/>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GW_LIGHT">
    <p:bg>
      <p:bgPr>
        <a:solidFill>
          <a:schemeClr val="lt2"/>
        </a:solidFill>
      </p:bgPr>
    </p:bg>
    <p:spTree>
      <p:nvGrpSpPr>
        <p:cNvPr id="1" name=""/>
        <p:cNvGrpSpPr/>
        <p:nvPr/>
      </p:nvGrpSpPr>
      <p:grpSpPr>
        <a:xfrm>
          <a:off x="0" y="0"/>
          <a:ext cx="0" cy="0"/>
          <a:chOff x="0" y="0"/>
          <a:chExt cx="0" cy="0"/>
        </a:xfrm>
      </p:grpSpPr>
      <p:sp>
        <p:nvSpPr>
          <p:cNvPr id="6" name="Text 0"/>
          <p:cNvSpPr/>
          <p:nvPr/>
        </p:nvSpPr>
        <p:spPr>
          <a:xfrm>
            <a:off x="11000160" y="731520"/>
            <a:ext cx="136800" cy="136800"/>
          </a:xfrm>
          <a:prstGeom prst="ellipse">
            <a:avLst/>
          </a:prstGeom>
          <a:solidFill>
            <a:schemeClr val="accent3"/>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 name="Text 1"/>
          <p:cNvSpPr/>
          <p:nvPr/>
        </p:nvSpPr>
        <p:spPr>
          <a:xfrm>
            <a:off x="11256120" y="731520"/>
            <a:ext cx="136800" cy="136800"/>
          </a:xfrm>
          <a:prstGeom prst="ellipse">
            <a:avLst/>
          </a:prstGeom>
          <a:solidFill>
            <a:schemeClr val="accent1"/>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 name="Text 2"/>
          <p:cNvSpPr/>
          <p:nvPr/>
        </p:nvSpPr>
        <p:spPr>
          <a:xfrm>
            <a:off x="11512440" y="731520"/>
            <a:ext cx="136800" cy="136800"/>
          </a:xfrm>
          <a:prstGeom prst="ellipse">
            <a:avLst/>
          </a:prstGeom>
          <a:solidFill>
            <a:schemeClr val="accent2"/>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9" name="PlaceHolder 1"/>
          <p:cNvSpPr>
            <a:spLocks noGrp="1"/>
          </p:cNvSpPr>
          <p:nvPr>
            <p:ph type="body"/>
          </p:nvPr>
        </p:nvSpPr>
        <p:spPr>
          <a:xfrm>
            <a:off x="548640" y="640080"/>
            <a:ext cx="8686440" cy="310680"/>
          </a:xfrm>
          <a:prstGeom prst="rect">
            <a:avLst/>
          </a:prstGeom>
          <a:noFill/>
          <a:ln w="0">
            <a:noFill/>
          </a:ln>
        </p:spPr>
        <p:txBody>
          <a:bodyPr lIns="90000" tIns="45000" rIns="90000" bIns="45000" anchor="t">
            <a:noAutofit/>
          </a:bodyPr>
          <a:lstStyle>
            <a:lvl1pPr algn="l">
              <a:spcBef>
                <a:spcPts val="1417"/>
              </a:spcBef>
              <a:buClr>
                <a:srgbClr val="000000"/>
              </a:buClr>
              <a:buSzPct val="45000"/>
              <a:buFont typeface="Wingdings" charset="2"/>
              <a:buChar char=""/>
              <a:defRPr lang="en-US" sz="1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12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12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12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12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12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1200" b="0" u="none" strike="noStrike">
                <a:solidFill>
                  <a:schemeClr val="dk1"/>
                </a:solidFill>
                <a:effectLst/>
                <a:uFillTx/>
                <a:latin typeface="Calibri"/>
              </a:defRPr>
            </a:lvl7pPr>
          </a:lstStyle>
          <a:p>
            <a:pPr algn="l">
              <a:spcBef>
                <a:spcPts val="1417"/>
              </a:spcBef>
              <a:buClr>
                <a:srgbClr val="000000"/>
              </a:buClr>
              <a:buSzPct val="45000"/>
              <a:buFont typeface="Wingdings" charset="2"/>
              <a:buChar char=""/>
            </a:pPr>
            <a:r>
              <a:rPr lang="en-US" sz="1200" b="0" u="none" strike="noStrike">
                <a:solidFill>
                  <a:schemeClr val="dk1"/>
                </a:solidFill>
                <a:effectLst/>
                <a:uFillTx/>
                <a:latin typeface="Calibri"/>
              </a:rPr>
              <a:t>Click to edit the outline text format</a:t>
            </a:r>
            <a:endParaRPr lang="en-US" sz="1200" b="0" u="none" strike="noStrike">
              <a:solidFill>
                <a:schemeClr val="dk1"/>
              </a:solidFill>
              <a:effectLst/>
              <a:uFillTx/>
              <a:latin typeface="Calibri"/>
            </a:endParaRPr>
          </a:p>
          <a:p>
            <a:pPr marL="743040" lvl="1" indent="-285840" algn="l">
              <a:spcBef>
                <a:spcPts val="1134"/>
              </a:spcBef>
              <a:buClr>
                <a:srgbClr val="000000"/>
              </a:buClr>
              <a:buSzPct val="75000"/>
              <a:buFont typeface="Symbol" charset="2"/>
              <a:buChar char=""/>
            </a:pPr>
            <a:r>
              <a:rPr lang="en-US" sz="1200" b="0" u="none" strike="noStrike">
                <a:solidFill>
                  <a:schemeClr val="dk1"/>
                </a:solidFill>
                <a:effectLst/>
                <a:uFillTx/>
                <a:latin typeface="Calibri"/>
              </a:rPr>
              <a:t>Second Outline Level</a:t>
            </a:r>
            <a:endParaRPr lang="en-US" sz="1200" b="0" u="none" strike="noStrike">
              <a:solidFill>
                <a:schemeClr val="dk1"/>
              </a:solidFill>
              <a:effectLst/>
              <a:uFillTx/>
              <a:latin typeface="Calibri"/>
            </a:endParaRPr>
          </a:p>
          <a:p>
            <a:pPr marL="1143000" lvl="2" indent="-228600" algn="l">
              <a:spcBef>
                <a:spcPts val="850"/>
              </a:spcBef>
              <a:buClr>
                <a:srgbClr val="000000"/>
              </a:buClr>
              <a:buSzPct val="45000"/>
              <a:buFont typeface="Wingdings" charset="2"/>
              <a:buChar char=""/>
            </a:pPr>
            <a:r>
              <a:rPr lang="en-US" sz="1200" b="0" u="none" strike="noStrike">
                <a:solidFill>
                  <a:schemeClr val="dk1"/>
                </a:solidFill>
                <a:effectLst/>
                <a:uFillTx/>
                <a:latin typeface="Calibri"/>
              </a:rPr>
              <a:t>Third Outline Level</a:t>
            </a:r>
            <a:endParaRPr lang="en-US" sz="1200" b="0" u="none" strike="noStrike">
              <a:solidFill>
                <a:schemeClr val="dk1"/>
              </a:solidFill>
              <a:effectLst/>
              <a:uFillTx/>
              <a:latin typeface="Calibri"/>
            </a:endParaRPr>
          </a:p>
          <a:p>
            <a:pPr marL="1600200" lvl="3" indent="-228600" algn="l">
              <a:spcBef>
                <a:spcPts val="567"/>
              </a:spcBef>
              <a:buClr>
                <a:srgbClr val="000000"/>
              </a:buClr>
              <a:buSzPct val="75000"/>
              <a:buFont typeface="Symbol" charset="2"/>
              <a:buChar char=""/>
            </a:pPr>
            <a:r>
              <a:rPr lang="en-US" sz="1200" b="0" u="none" strike="noStrike">
                <a:solidFill>
                  <a:schemeClr val="dk1"/>
                </a:solidFill>
                <a:effectLst/>
                <a:uFillTx/>
                <a:latin typeface="Calibri"/>
              </a:rPr>
              <a:t>Fourth Outline Level</a:t>
            </a:r>
            <a:endParaRPr lang="en-US" sz="1200" b="0" u="none" strike="noStrike">
              <a:solidFill>
                <a:schemeClr val="dk1"/>
              </a:solidFill>
              <a:effectLst/>
              <a:uFillTx/>
              <a:latin typeface="Calibri"/>
            </a:endParaRPr>
          </a:p>
          <a:p>
            <a:pPr marL="2057400" lvl="4" indent="-228600" algn="l">
              <a:spcBef>
                <a:spcPts val="283"/>
              </a:spcBef>
              <a:buClr>
                <a:srgbClr val="000000"/>
              </a:buClr>
              <a:buSzPct val="45000"/>
              <a:buFont typeface="Wingdings" charset="2"/>
              <a:buChar char=""/>
            </a:pPr>
            <a:r>
              <a:rPr lang="en-US" sz="1200" b="0" u="none" strike="noStrike">
                <a:solidFill>
                  <a:schemeClr val="dk1"/>
                </a:solidFill>
                <a:effectLst/>
                <a:uFillTx/>
                <a:latin typeface="Calibri"/>
              </a:rPr>
              <a:t>Fifth Outline Level</a:t>
            </a:r>
            <a:endParaRPr lang="en-US" sz="1200" b="0" u="none" strike="noStrike">
              <a:solidFill>
                <a:schemeClr val="dk1"/>
              </a:solidFill>
              <a:effectLst/>
              <a:uFillTx/>
              <a:latin typeface="Calibri"/>
            </a:endParaRPr>
          </a:p>
          <a:p>
            <a:pPr marL="2514600" lvl="5" indent="-228600" algn="l">
              <a:spcBef>
                <a:spcPts val="283"/>
              </a:spcBef>
              <a:buClr>
                <a:srgbClr val="000000"/>
              </a:buClr>
              <a:buSzPct val="45000"/>
              <a:buFont typeface="Wingdings" charset="2"/>
              <a:buChar char=""/>
            </a:pPr>
            <a:r>
              <a:rPr lang="en-US" sz="1200" b="0" u="none" strike="noStrike">
                <a:solidFill>
                  <a:schemeClr val="dk1"/>
                </a:solidFill>
                <a:effectLst/>
                <a:uFillTx/>
                <a:latin typeface="Calibri"/>
              </a:rPr>
              <a:t>Sixth Outline Level</a:t>
            </a:r>
            <a:endParaRPr lang="en-US" sz="1200" b="0" u="none" strike="noStrike">
              <a:solidFill>
                <a:schemeClr val="dk1"/>
              </a:solidFill>
              <a:effectLst/>
              <a:uFillTx/>
              <a:latin typeface="Calibri"/>
            </a:endParaRPr>
          </a:p>
          <a:p>
            <a:pPr marL="2971800" lvl="6" indent="-228600" algn="l">
              <a:spcBef>
                <a:spcPts val="283"/>
              </a:spcBef>
              <a:buClr>
                <a:srgbClr val="000000"/>
              </a:buClr>
              <a:buSzPct val="45000"/>
              <a:buFont typeface="Wingdings" charset="2"/>
              <a:buChar char=""/>
            </a:pPr>
            <a:r>
              <a:rPr lang="en-US" sz="1200" b="0" u="none" strike="noStrike">
                <a:solidFill>
                  <a:schemeClr val="dk1"/>
                </a:solidFill>
                <a:effectLst/>
                <a:uFillTx/>
                <a:latin typeface="Calibri"/>
              </a:rPr>
              <a:t>Seventh Outline Level</a:t>
            </a:r>
            <a:endParaRPr lang="en-US" sz="1200" b="0" u="none" strike="noStrike">
              <a:solidFill>
                <a:schemeClr val="dk1"/>
              </a:solidFill>
              <a:effectLst/>
              <a:uFillTx/>
              <a:latin typeface="Calibri"/>
            </a:endParaRPr>
          </a:p>
        </p:txBody>
      </p:sp>
      <p:sp>
        <p:nvSpPr>
          <p:cNvPr id="10" name="PlaceHolder 2"/>
          <p:cNvSpPr>
            <a:spLocks noGrp="1"/>
          </p:cNvSpPr>
          <p:nvPr>
            <p:ph type="title"/>
          </p:nvPr>
        </p:nvSpPr>
        <p:spPr>
          <a:xfrm>
            <a:off x="548640" y="951120"/>
            <a:ext cx="10606680" cy="658080"/>
          </a:xfrm>
          <a:prstGeom prst="rect">
            <a:avLst/>
          </a:prstGeom>
          <a:noFill/>
          <a:ln w="0">
            <a:noFill/>
          </a:ln>
        </p:spPr>
        <p:txBody>
          <a:bodyPr lIns="90000" tIns="45000" rIns="90000" bIns="45000" anchor="t">
            <a:noAutofit/>
          </a:bodyPr>
          <a:lstStyle>
            <a:lvl1pPr indent="0" algn="l">
              <a:buNone/>
              <a:defRPr lang="en-US" sz="3200" b="0" u="none" strike="noStrike">
                <a:solidFill>
                  <a:schemeClr val="dk1"/>
                </a:solidFill>
                <a:effectLst/>
                <a:uFillTx/>
                <a:latin typeface="Calibri"/>
              </a:defRPr>
            </a:lvl1pPr>
          </a:lstStyle>
          <a:p>
            <a:pPr indent="0" algn="l">
              <a:buNone/>
            </a:pPr>
            <a:r>
              <a:rPr lang="en-US" sz="3200" b="0" u="none" strike="noStrike">
                <a:solidFill>
                  <a:schemeClr val="dk1"/>
                </a:solidFill>
                <a:effectLst/>
                <a:uFillTx/>
                <a:latin typeface="Calibri"/>
              </a:rPr>
              <a:t>Click to edit the </a:t>
            </a:r>
            <a:r>
              <a:rPr lang="en-US" sz="3200" b="0" u="none" strike="noStrike">
                <a:solidFill>
                  <a:schemeClr val="dk1"/>
                </a:solidFill>
                <a:effectLst/>
                <a:uFillTx/>
                <a:latin typeface="Calibri"/>
              </a:rPr>
              <a:t>title text format</a:t>
            </a:r>
            <a:endParaRPr lang="en-US" sz="3200" b="0" u="none" strike="noStrike">
              <a:solidFill>
                <a:schemeClr val="dk1"/>
              </a:solidFill>
              <a:effectLst/>
              <a:uFillTx/>
              <a:latin typeface="Calibri"/>
            </a:endParaRPr>
          </a:p>
        </p:txBody>
      </p:sp>
      <p:sp>
        <p:nvSpPr>
          <p:cNvPr id="11" name="Text 3"/>
          <p:cNvSpPr/>
          <p:nvPr/>
        </p:nvSpPr>
        <p:spPr>
          <a:xfrm>
            <a:off x="548640" y="6382440"/>
            <a:ext cx="45716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chemeClr val="accent4"/>
                </a:solidFill>
                <a:effectLst/>
                <a:uFillTx/>
                <a:latin typeface="Calibri"/>
              </a:rPr>
              <a:t>GreenWave  ·  IoT Group 5</a:t>
            </a:r>
            <a:endParaRPr lang="en-US" sz="1000" b="0" u="none" strike="noStrike">
              <a:solidFill>
                <a:srgbClr val="000000"/>
              </a:solidFill>
              <a:effectLst/>
              <a:uFillTx/>
              <a:latin typeface="Arial"/>
            </a:endParaRPr>
          </a:p>
        </p:txBody>
      </p:sp>
      <p:sp>
        <p:nvSpPr>
          <p:cNvPr id="12" name="PlaceHolder 3"/>
          <p:cNvSpPr>
            <a:spLocks noGrp="1"/>
          </p:cNvSpPr>
          <p:nvPr>
            <p:ph type="sldNum" idx="1"/>
          </p:nvPr>
        </p:nvSpPr>
        <p:spPr>
          <a:xfrm>
            <a:off x="11185920" y="6382440"/>
            <a:ext cx="456840" cy="25560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4"/>
                </a:solidFill>
                <a:effectLst/>
                <a:uFillTx/>
                <a:latin typeface="Calibri"/>
              </a:defRPr>
            </a:lvl1pPr>
          </a:lstStyle>
          <a:p>
            <a:pPr indent="0" algn="r" defTabSz="914400">
              <a:lnSpc>
                <a:spcPct val="100000"/>
              </a:lnSpc>
              <a:buNone/>
            </a:pPr>
            <a:fld id="{6FD26FC2-60AC-4877-8DC7-B5302F708BE7}" type="slidenum">
              <a:rPr lang="en-US" sz="1000" b="0" u="none" strike="noStrike">
                <a:solidFill>
                  <a:schemeClr val="accent4"/>
                </a:solidFill>
                <a:effectLst/>
                <a:uFillTx/>
                <a:latin typeface="Calibri"/>
              </a:rPr>
              <a:t>&lt;number&gt;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GW_DARK">
    <p:bg>
      <p:bgPr>
        <a:solidFill>
          <a:schemeClr val="dk1"/>
        </a:solidFill>
      </p:bgPr>
    </p:bg>
    <p:spTree>
      <p:nvGrpSpPr>
        <p:cNvPr id="1" name=""/>
        <p:cNvGrpSpPr/>
        <p:nvPr/>
      </p:nvGrpSpPr>
      <p:grpSpPr>
        <a:xfrm>
          <a:off x="0" y="0"/>
          <a:ext cx="0" cy="0"/>
          <a:chOff x="0" y="0"/>
          <a:chExt cx="0" cy="0"/>
        </a:xfrm>
      </p:grpSpPr>
      <p:sp>
        <p:nvSpPr>
          <p:cNvPr id="13" name="Text 0"/>
          <p:cNvSpPr/>
          <p:nvPr/>
        </p:nvSpPr>
        <p:spPr>
          <a:xfrm>
            <a:off x="11000160" y="731520"/>
            <a:ext cx="136800" cy="136800"/>
          </a:xfrm>
          <a:prstGeom prst="ellipse">
            <a:avLst/>
          </a:prstGeom>
          <a:solidFill>
            <a:schemeClr val="accent3"/>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14" name="Text 1"/>
          <p:cNvSpPr/>
          <p:nvPr/>
        </p:nvSpPr>
        <p:spPr>
          <a:xfrm>
            <a:off x="11256120" y="731520"/>
            <a:ext cx="136800" cy="136800"/>
          </a:xfrm>
          <a:prstGeom prst="ellipse">
            <a:avLst/>
          </a:prstGeom>
          <a:solidFill>
            <a:schemeClr val="accent1"/>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15" name="Text 2"/>
          <p:cNvSpPr/>
          <p:nvPr/>
        </p:nvSpPr>
        <p:spPr>
          <a:xfrm>
            <a:off x="11512440" y="731520"/>
            <a:ext cx="136800" cy="136800"/>
          </a:xfrm>
          <a:prstGeom prst="ellipse">
            <a:avLst/>
          </a:prstGeom>
          <a:solidFill>
            <a:schemeClr val="accent2"/>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16" name="PlaceHolder 1"/>
          <p:cNvSpPr>
            <a:spLocks noGrp="1"/>
          </p:cNvSpPr>
          <p:nvPr>
            <p:ph type="body"/>
          </p:nvPr>
        </p:nvSpPr>
        <p:spPr>
          <a:xfrm>
            <a:off x="548640" y="640080"/>
            <a:ext cx="8686440" cy="310680"/>
          </a:xfrm>
          <a:prstGeom prst="rect">
            <a:avLst/>
          </a:prstGeom>
          <a:noFill/>
          <a:ln w="0">
            <a:noFill/>
          </a:ln>
        </p:spPr>
        <p:txBody>
          <a:bodyPr lIns="90000" tIns="45000" rIns="90000" bIns="45000" anchor="t">
            <a:noAutofit/>
          </a:bodyPr>
          <a:lstStyle>
            <a:lvl1pPr algn="l">
              <a:spcBef>
                <a:spcPts val="1417"/>
              </a:spcBef>
              <a:buClr>
                <a:srgbClr val="FFFFFF"/>
              </a:buClr>
              <a:buSzPct val="45000"/>
              <a:buFont typeface="Wingdings" charset="2"/>
              <a:buChar char=""/>
              <a:defRPr lang="en-US" sz="12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en-US" sz="12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en-US" sz="12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en-US" sz="12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en-US" sz="12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en-US" sz="12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en-US" sz="1200" b="0" u="none" strike="noStrike">
                <a:solidFill>
                  <a:schemeClr val="dk1"/>
                </a:solidFill>
                <a:effectLst/>
                <a:uFillTx/>
                <a:latin typeface="Calibri"/>
              </a:defRPr>
            </a:lvl7pPr>
          </a:lstStyle>
          <a:p>
            <a:pPr algn="l">
              <a:spcBef>
                <a:spcPts val="1417"/>
              </a:spcBef>
              <a:buClr>
                <a:srgbClr val="FFFFFF"/>
              </a:buClr>
              <a:buSzPct val="45000"/>
              <a:buFont typeface="Wingdings" charset="2"/>
              <a:buChar char=""/>
            </a:pPr>
            <a:r>
              <a:rPr lang="en-US" sz="1200" b="0" u="none" strike="noStrike">
                <a:solidFill>
                  <a:schemeClr val="dk1"/>
                </a:solidFill>
                <a:effectLst/>
                <a:uFillTx/>
                <a:latin typeface="Calibri"/>
              </a:rPr>
              <a:t>Click to edit the outline text format</a:t>
            </a:r>
            <a:endParaRPr lang="en-US" sz="1200" b="0" u="none" strike="noStrike">
              <a:solidFill>
                <a:schemeClr val="dk1"/>
              </a:solidFill>
              <a:effectLst/>
              <a:uFillTx/>
              <a:latin typeface="Calibri"/>
            </a:endParaRPr>
          </a:p>
          <a:p>
            <a:pPr marL="743040" lvl="1" indent="-285840" algn="l">
              <a:spcBef>
                <a:spcPts val="1134"/>
              </a:spcBef>
              <a:buClr>
                <a:srgbClr val="FFFFFF"/>
              </a:buClr>
              <a:buSzPct val="75000"/>
              <a:buFont typeface="Symbol" charset="2"/>
              <a:buChar char=""/>
            </a:pPr>
            <a:r>
              <a:rPr lang="en-US" sz="1200" b="0" u="none" strike="noStrike">
                <a:solidFill>
                  <a:schemeClr val="dk1"/>
                </a:solidFill>
                <a:effectLst/>
                <a:uFillTx/>
                <a:latin typeface="Calibri"/>
              </a:rPr>
              <a:t>Second Outline Level</a:t>
            </a:r>
            <a:endParaRPr lang="en-US" sz="1200" b="0" u="none" strike="noStrike">
              <a:solidFill>
                <a:schemeClr val="dk1"/>
              </a:solidFill>
              <a:effectLst/>
              <a:uFillTx/>
              <a:latin typeface="Calibri"/>
            </a:endParaRPr>
          </a:p>
          <a:p>
            <a:pPr marL="1143000" lvl="2" indent="-228600" algn="l">
              <a:spcBef>
                <a:spcPts val="850"/>
              </a:spcBef>
              <a:buClr>
                <a:srgbClr val="FFFFFF"/>
              </a:buClr>
              <a:buSzPct val="45000"/>
              <a:buFont typeface="Wingdings" charset="2"/>
              <a:buChar char=""/>
            </a:pPr>
            <a:r>
              <a:rPr lang="en-US" sz="1200" b="0" u="none" strike="noStrike">
                <a:solidFill>
                  <a:schemeClr val="dk1"/>
                </a:solidFill>
                <a:effectLst/>
                <a:uFillTx/>
                <a:latin typeface="Calibri"/>
              </a:rPr>
              <a:t>Third Outline Level</a:t>
            </a:r>
            <a:endParaRPr lang="en-US" sz="1200" b="0" u="none" strike="noStrike">
              <a:solidFill>
                <a:schemeClr val="dk1"/>
              </a:solidFill>
              <a:effectLst/>
              <a:uFillTx/>
              <a:latin typeface="Calibri"/>
            </a:endParaRPr>
          </a:p>
          <a:p>
            <a:pPr marL="1600200" lvl="3" indent="-228600" algn="l">
              <a:spcBef>
                <a:spcPts val="567"/>
              </a:spcBef>
              <a:buClr>
                <a:srgbClr val="FFFFFF"/>
              </a:buClr>
              <a:buSzPct val="75000"/>
              <a:buFont typeface="Symbol" charset="2"/>
              <a:buChar char=""/>
            </a:pPr>
            <a:r>
              <a:rPr lang="en-US" sz="1200" b="0" u="none" strike="noStrike">
                <a:solidFill>
                  <a:schemeClr val="dk1"/>
                </a:solidFill>
                <a:effectLst/>
                <a:uFillTx/>
                <a:latin typeface="Calibri"/>
              </a:rPr>
              <a:t>Fourth Outline Level</a:t>
            </a:r>
            <a:endParaRPr lang="en-US" sz="1200" b="0" u="none" strike="noStrike">
              <a:solidFill>
                <a:schemeClr val="dk1"/>
              </a:solidFill>
              <a:effectLst/>
              <a:uFillTx/>
              <a:latin typeface="Calibri"/>
            </a:endParaRPr>
          </a:p>
          <a:p>
            <a:pPr marL="2057400" lvl="4" indent="-228600" algn="l">
              <a:spcBef>
                <a:spcPts val="283"/>
              </a:spcBef>
              <a:buClr>
                <a:srgbClr val="FFFFFF"/>
              </a:buClr>
              <a:buSzPct val="45000"/>
              <a:buFont typeface="Wingdings" charset="2"/>
              <a:buChar char=""/>
            </a:pPr>
            <a:r>
              <a:rPr lang="en-US" sz="1200" b="0" u="none" strike="noStrike">
                <a:solidFill>
                  <a:schemeClr val="dk1"/>
                </a:solidFill>
                <a:effectLst/>
                <a:uFillTx/>
                <a:latin typeface="Calibri"/>
              </a:rPr>
              <a:t>Fifth Outline Level</a:t>
            </a:r>
            <a:endParaRPr lang="en-US" sz="1200" b="0" u="none" strike="noStrike">
              <a:solidFill>
                <a:schemeClr val="dk1"/>
              </a:solidFill>
              <a:effectLst/>
              <a:uFillTx/>
              <a:latin typeface="Calibri"/>
            </a:endParaRPr>
          </a:p>
          <a:p>
            <a:pPr marL="2514600" lvl="5" indent="-228600" algn="l">
              <a:spcBef>
                <a:spcPts val="283"/>
              </a:spcBef>
              <a:buClr>
                <a:srgbClr val="FFFFFF"/>
              </a:buClr>
              <a:buSzPct val="45000"/>
              <a:buFont typeface="Wingdings" charset="2"/>
              <a:buChar char=""/>
            </a:pPr>
            <a:r>
              <a:rPr lang="en-US" sz="1200" b="0" u="none" strike="noStrike">
                <a:solidFill>
                  <a:schemeClr val="dk1"/>
                </a:solidFill>
                <a:effectLst/>
                <a:uFillTx/>
                <a:latin typeface="Calibri"/>
              </a:rPr>
              <a:t>Sixth Outline Level</a:t>
            </a:r>
            <a:endParaRPr lang="en-US" sz="1200" b="0" u="none" strike="noStrike">
              <a:solidFill>
                <a:schemeClr val="dk1"/>
              </a:solidFill>
              <a:effectLst/>
              <a:uFillTx/>
              <a:latin typeface="Calibri"/>
            </a:endParaRPr>
          </a:p>
          <a:p>
            <a:pPr marL="2971800" lvl="6" indent="-228600" algn="l">
              <a:spcBef>
                <a:spcPts val="283"/>
              </a:spcBef>
              <a:buClr>
                <a:srgbClr val="FFFFFF"/>
              </a:buClr>
              <a:buSzPct val="45000"/>
              <a:buFont typeface="Wingdings" charset="2"/>
              <a:buChar char=""/>
            </a:pPr>
            <a:r>
              <a:rPr lang="en-US" sz="1200" b="0" u="none" strike="noStrike">
                <a:solidFill>
                  <a:schemeClr val="dk1"/>
                </a:solidFill>
                <a:effectLst/>
                <a:uFillTx/>
                <a:latin typeface="Calibri"/>
              </a:rPr>
              <a:t>Seventh Outline Level</a:t>
            </a:r>
            <a:endParaRPr lang="en-US" sz="1200" b="0" u="none" strike="noStrike">
              <a:solidFill>
                <a:schemeClr val="dk1"/>
              </a:solidFill>
              <a:effectLst/>
              <a:uFillTx/>
              <a:latin typeface="Calibri"/>
            </a:endParaRPr>
          </a:p>
        </p:txBody>
      </p:sp>
      <p:sp>
        <p:nvSpPr>
          <p:cNvPr id="17" name="PlaceHolder 2"/>
          <p:cNvSpPr>
            <a:spLocks noGrp="1"/>
          </p:cNvSpPr>
          <p:nvPr>
            <p:ph type="title"/>
          </p:nvPr>
        </p:nvSpPr>
        <p:spPr>
          <a:xfrm>
            <a:off x="548640" y="951120"/>
            <a:ext cx="10606680" cy="658080"/>
          </a:xfrm>
          <a:prstGeom prst="rect">
            <a:avLst/>
          </a:prstGeom>
          <a:noFill/>
          <a:ln w="0">
            <a:noFill/>
          </a:ln>
        </p:spPr>
        <p:txBody>
          <a:bodyPr lIns="90000" tIns="45000" rIns="90000" bIns="45000" anchor="t">
            <a:noAutofit/>
          </a:bodyPr>
          <a:lstStyle>
            <a:lvl1pPr indent="0" algn="l">
              <a:buNone/>
              <a:defRPr lang="en-US" sz="3200" b="0" u="none" strike="noStrike">
                <a:solidFill>
                  <a:schemeClr val="dk1"/>
                </a:solidFill>
                <a:effectLst/>
                <a:uFillTx/>
                <a:latin typeface="Calibri"/>
              </a:defRPr>
            </a:lvl1pPr>
          </a:lstStyle>
          <a:p>
            <a:pPr indent="0" algn="l">
              <a:buNone/>
            </a:pPr>
            <a:r>
              <a:rPr lang="en-US" sz="3200" b="0" u="none" strike="noStrike">
                <a:solidFill>
                  <a:schemeClr val="dk1"/>
                </a:solidFill>
                <a:effectLst/>
                <a:uFillTx/>
                <a:latin typeface="Calibri"/>
              </a:rPr>
              <a:t>Click to </a:t>
            </a:r>
            <a:r>
              <a:rPr lang="en-US" sz="3200" b="0" u="none" strike="noStrike">
                <a:solidFill>
                  <a:schemeClr val="dk1"/>
                </a:solidFill>
                <a:effectLst/>
                <a:uFillTx/>
                <a:latin typeface="Calibri"/>
              </a:rPr>
              <a:t>edit the </a:t>
            </a:r>
            <a:r>
              <a:rPr lang="en-US" sz="3200" b="0" u="none" strike="noStrike">
                <a:solidFill>
                  <a:schemeClr val="dk1"/>
                </a:solidFill>
                <a:effectLst/>
                <a:uFillTx/>
                <a:latin typeface="Calibri"/>
              </a:rPr>
              <a:t>title text </a:t>
            </a:r>
            <a:r>
              <a:rPr lang="en-US" sz="3200" b="0" u="none" strike="noStrike">
                <a:solidFill>
                  <a:schemeClr val="dk1"/>
                </a:solidFill>
                <a:effectLst/>
                <a:uFillTx/>
                <a:latin typeface="Calibri"/>
              </a:rPr>
              <a:t>format</a:t>
            </a:r>
            <a:endParaRPr lang="en-US" sz="3200" b="0" u="none" strike="noStrike">
              <a:solidFill>
                <a:schemeClr val="dk1"/>
              </a:solidFill>
              <a:effectLst/>
              <a:uFillTx/>
              <a:latin typeface="Calibri"/>
            </a:endParaRPr>
          </a:p>
        </p:txBody>
      </p:sp>
      <p:sp>
        <p:nvSpPr>
          <p:cNvPr id="18" name="Text 3"/>
          <p:cNvSpPr/>
          <p:nvPr/>
        </p:nvSpPr>
        <p:spPr>
          <a:xfrm>
            <a:off x="548640" y="6382440"/>
            <a:ext cx="45716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chemeClr val="accent4"/>
                </a:solidFill>
                <a:effectLst/>
                <a:uFillTx/>
                <a:latin typeface="Calibri"/>
              </a:rPr>
              <a:t>G</a:t>
            </a:r>
            <a:r>
              <a:rPr lang="en-US" sz="1000" b="0" u="none" strike="noStrike">
                <a:solidFill>
                  <a:schemeClr val="accent4"/>
                </a:solidFill>
                <a:effectLst/>
                <a:uFillTx/>
                <a:latin typeface="Calibri"/>
              </a:rPr>
              <a:t>r</a:t>
            </a:r>
            <a:r>
              <a:rPr lang="en-US" sz="1000" b="0" u="none" strike="noStrike">
                <a:solidFill>
                  <a:schemeClr val="accent4"/>
                </a:solidFill>
                <a:effectLst/>
                <a:uFillTx/>
                <a:latin typeface="Calibri"/>
              </a:rPr>
              <a:t>e</a:t>
            </a:r>
            <a:r>
              <a:rPr lang="en-US" sz="1000" b="0" u="none" strike="noStrike">
                <a:solidFill>
                  <a:schemeClr val="accent4"/>
                </a:solidFill>
                <a:effectLst/>
                <a:uFillTx/>
                <a:latin typeface="Calibri"/>
              </a:rPr>
              <a:t>e</a:t>
            </a:r>
            <a:r>
              <a:rPr lang="en-US" sz="1000" b="0" u="none" strike="noStrike">
                <a:solidFill>
                  <a:schemeClr val="accent4"/>
                </a:solidFill>
                <a:effectLst/>
                <a:uFillTx/>
                <a:latin typeface="Calibri"/>
              </a:rPr>
              <a:t>n</a:t>
            </a:r>
            <a:r>
              <a:rPr lang="en-US" sz="1000" b="0" u="none" strike="noStrike">
                <a:solidFill>
                  <a:schemeClr val="accent4"/>
                </a:solidFill>
                <a:effectLst/>
                <a:uFillTx/>
                <a:latin typeface="Calibri"/>
              </a:rPr>
              <a:t>W</a:t>
            </a:r>
            <a:r>
              <a:rPr lang="en-US" sz="1000" b="0" u="none" strike="noStrike">
                <a:solidFill>
                  <a:schemeClr val="accent4"/>
                </a:solidFill>
                <a:effectLst/>
                <a:uFillTx/>
                <a:latin typeface="Calibri"/>
              </a:rPr>
              <a:t>a</a:t>
            </a:r>
            <a:r>
              <a:rPr lang="en-US" sz="1000" b="0" u="none" strike="noStrike">
                <a:solidFill>
                  <a:schemeClr val="accent4"/>
                </a:solidFill>
                <a:effectLst/>
                <a:uFillTx/>
                <a:latin typeface="Calibri"/>
              </a:rPr>
              <a:t>v</a:t>
            </a:r>
            <a:r>
              <a:rPr lang="en-US" sz="1000" b="0" u="none" strike="noStrike">
                <a:solidFill>
                  <a:schemeClr val="accent4"/>
                </a:solidFill>
                <a:effectLst/>
                <a:uFillTx/>
                <a:latin typeface="Calibri"/>
              </a:rPr>
              <a:t>e</a:t>
            </a:r>
            <a:r>
              <a:rPr lang="en-US" sz="1000" b="0" u="none" strike="noStrike">
                <a:solidFill>
                  <a:schemeClr val="accent4"/>
                </a:solidFill>
                <a:effectLst/>
                <a:uFillTx/>
                <a:latin typeface="Calibri"/>
              </a:rPr>
              <a:t> </a:t>
            </a:r>
            <a:r>
              <a:rPr lang="en-US" sz="1000" b="0" u="none" strike="noStrike">
                <a:solidFill>
                  <a:schemeClr val="accent4"/>
                </a:solidFill>
                <a:effectLst/>
                <a:uFillTx/>
                <a:latin typeface="Calibri"/>
              </a:rPr>
              <a:t> </a:t>
            </a:r>
            <a:r>
              <a:rPr lang="en-US" sz="1000" b="0" u="none" strike="noStrike">
                <a:solidFill>
                  <a:schemeClr val="accent4"/>
                </a:solidFill>
                <a:effectLst/>
                <a:uFillTx/>
                <a:latin typeface="Calibri"/>
              </a:rPr>
              <a:t>·</a:t>
            </a:r>
            <a:r>
              <a:rPr lang="en-US" sz="1000" b="0" u="none" strike="noStrike">
                <a:solidFill>
                  <a:schemeClr val="accent4"/>
                </a:solidFill>
                <a:effectLst/>
                <a:uFillTx/>
                <a:latin typeface="Calibri"/>
              </a:rPr>
              <a:t> </a:t>
            </a:r>
            <a:r>
              <a:rPr lang="en-US" sz="1000" b="0" u="none" strike="noStrike">
                <a:solidFill>
                  <a:schemeClr val="accent4"/>
                </a:solidFill>
                <a:effectLst/>
                <a:uFillTx/>
                <a:latin typeface="Calibri"/>
              </a:rPr>
              <a:t> </a:t>
            </a:r>
            <a:r>
              <a:rPr lang="en-US" sz="1000" b="0" u="none" strike="noStrike">
                <a:solidFill>
                  <a:schemeClr val="accent4"/>
                </a:solidFill>
                <a:effectLst/>
                <a:uFillTx/>
                <a:latin typeface="Calibri"/>
              </a:rPr>
              <a:t>I</a:t>
            </a:r>
            <a:r>
              <a:rPr lang="en-US" sz="1000" b="0" u="none" strike="noStrike">
                <a:solidFill>
                  <a:schemeClr val="accent4"/>
                </a:solidFill>
                <a:effectLst/>
                <a:uFillTx/>
                <a:latin typeface="Calibri"/>
              </a:rPr>
              <a:t>o</a:t>
            </a:r>
            <a:r>
              <a:rPr lang="en-US" sz="1000" b="0" u="none" strike="noStrike">
                <a:solidFill>
                  <a:schemeClr val="accent4"/>
                </a:solidFill>
                <a:effectLst/>
                <a:uFillTx/>
                <a:latin typeface="Calibri"/>
              </a:rPr>
              <a:t>T</a:t>
            </a:r>
            <a:r>
              <a:rPr lang="en-US" sz="1000" b="0" u="none" strike="noStrike">
                <a:solidFill>
                  <a:schemeClr val="accent4"/>
                </a:solidFill>
                <a:effectLst/>
                <a:uFillTx/>
                <a:latin typeface="Calibri"/>
              </a:rPr>
              <a:t> </a:t>
            </a:r>
            <a:r>
              <a:rPr lang="en-US" sz="1000" b="0" u="none" strike="noStrike">
                <a:solidFill>
                  <a:schemeClr val="accent4"/>
                </a:solidFill>
                <a:effectLst/>
                <a:uFillTx/>
                <a:latin typeface="Calibri"/>
              </a:rPr>
              <a:t>G</a:t>
            </a:r>
            <a:r>
              <a:rPr lang="en-US" sz="1000" b="0" u="none" strike="noStrike">
                <a:solidFill>
                  <a:schemeClr val="accent4"/>
                </a:solidFill>
                <a:effectLst/>
                <a:uFillTx/>
                <a:latin typeface="Calibri"/>
              </a:rPr>
              <a:t>r</a:t>
            </a:r>
            <a:r>
              <a:rPr lang="en-US" sz="1000" b="0" u="none" strike="noStrike">
                <a:solidFill>
                  <a:schemeClr val="accent4"/>
                </a:solidFill>
                <a:effectLst/>
                <a:uFillTx/>
                <a:latin typeface="Calibri"/>
              </a:rPr>
              <a:t>o</a:t>
            </a:r>
            <a:r>
              <a:rPr lang="en-US" sz="1000" b="0" u="none" strike="noStrike">
                <a:solidFill>
                  <a:schemeClr val="accent4"/>
                </a:solidFill>
                <a:effectLst/>
                <a:uFillTx/>
                <a:latin typeface="Calibri"/>
              </a:rPr>
              <a:t>u</a:t>
            </a:r>
            <a:r>
              <a:rPr lang="en-US" sz="1000" b="0" u="none" strike="noStrike">
                <a:solidFill>
                  <a:schemeClr val="accent4"/>
                </a:solidFill>
                <a:effectLst/>
                <a:uFillTx/>
                <a:latin typeface="Calibri"/>
              </a:rPr>
              <a:t>p</a:t>
            </a:r>
            <a:r>
              <a:rPr lang="en-US" sz="1000" b="0" u="none" strike="noStrike">
                <a:solidFill>
                  <a:schemeClr val="accent4"/>
                </a:solidFill>
                <a:effectLst/>
                <a:uFillTx/>
                <a:latin typeface="Calibri"/>
              </a:rPr>
              <a:t> </a:t>
            </a:r>
            <a:r>
              <a:rPr lang="en-US" sz="1000" b="0" u="none" strike="noStrike">
                <a:solidFill>
                  <a:schemeClr val="accent4"/>
                </a:solidFill>
                <a:effectLst/>
                <a:uFillTx/>
                <a:latin typeface="Calibri"/>
              </a:rPr>
              <a:t>5</a:t>
            </a:r>
            <a:endParaRPr lang="en-US" sz="1000" b="0" u="none" strike="noStrike">
              <a:solidFill>
                <a:srgbClr val="FFFFFF"/>
              </a:solidFill>
              <a:effectLst/>
              <a:uFillTx/>
              <a:latin typeface="Arial"/>
            </a:endParaRPr>
          </a:p>
        </p:txBody>
      </p:sp>
      <p:sp>
        <p:nvSpPr>
          <p:cNvPr id="19" name="PlaceHolder 3"/>
          <p:cNvSpPr>
            <a:spLocks noGrp="1"/>
          </p:cNvSpPr>
          <p:nvPr>
            <p:ph type="sldNum" idx="2"/>
          </p:nvPr>
        </p:nvSpPr>
        <p:spPr>
          <a:xfrm>
            <a:off x="11185920" y="6382440"/>
            <a:ext cx="456840" cy="25560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4"/>
                </a:solidFill>
                <a:effectLst/>
                <a:uFillTx/>
                <a:latin typeface="Calibri"/>
              </a:defRPr>
            </a:lvl1pPr>
          </a:lstStyle>
          <a:p>
            <a:pPr indent="0" algn="r" defTabSz="914400">
              <a:lnSpc>
                <a:spcPct val="100000"/>
              </a:lnSpc>
              <a:buNone/>
            </a:pPr>
            <a:fld id="{71EA1DD7-98BE-4199-8ECF-3E7DA2BD47E3}" type="slidenum">
              <a:rPr lang="en-US" sz="1000" b="0" u="none" strike="noStrike">
                <a:solidFill>
                  <a:schemeClr val="accent4"/>
                </a:solidFill>
                <a:effectLst/>
                <a:uFillTx/>
                <a:latin typeface="Calibri"/>
              </a:rPr>
              <a:t>&lt;number&gt;</a:t>
            </a:fld>
            <a:endParaRPr lang="en-US" sz="1000" b="0" u="none" strike="noStrike">
              <a:solidFill>
                <a:srgbClr val="FFFFFF"/>
              </a:solidFill>
              <a:effectLst/>
              <a:uFillTx/>
              <a:latin typeface="Times New Roman"/>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3.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slideLayout" Target="../slideLayouts/slideLayout3.xml"/><Relationship Id="rId8"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slideLayout" Target="../slideLayouts/slideLayout3.xml"/><Relationship Id="rId6"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1.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slideLayout" Target="../slideLayouts/slideLayout3.xml"/><Relationship Id="rId1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21.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20.png"/><Relationship Id="rId6" Type="http://schemas.openxmlformats.org/officeDocument/2006/relationships/slideLayout" Target="../slideLayouts/slideLayout3.xml"/><Relationship Id="rId7"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slideLayout" Target="../slideLayouts/slideLayout3.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PlaceHolder 1"/>
          <p:cNvSpPr>
            <a:spLocks noGrp="1"/>
          </p:cNvSpPr>
          <p:nvPr>
            <p:ph hasCustomPrompt="1"/>
          </p:nvPr>
        </p:nvSpPr>
        <p:spPr>
          <a:xfrm>
            <a:off x="731520" y="1783080"/>
            <a:ext cx="5486040" cy="365400"/>
          </a:xfrm>
          <a:prstGeom prst="rect">
            <a:avLst/>
          </a:prstGeom>
          <a:noFill/>
          <a:ln w="0">
            <a:noFill/>
          </a:ln>
        </p:spPr>
        <p:txBody>
          <a:bodyPr lIns="0" tIns="0" rIns="0" bIns="0" anchor="ctr">
            <a:noAutofit/>
          </a:bodyPr>
          <a:p>
            <a:pPr indent="0" algn="l" defTabSz="914400">
              <a:lnSpc>
                <a:spcPct val="100000"/>
              </a:lnSpc>
              <a:spcBef>
                <a:spcPts val="261"/>
              </a:spcBef>
              <a:buNone/>
              <a:tabLst>
                <a:tab pos="0" algn="l"/>
              </a:tabLst>
            </a:pPr>
            <a:r>
              <a:rPr lang="en-US" sz="1300" b="1" u="none" spc="99" strike="noStrike">
                <a:solidFill>
                  <a:schemeClr val="accent1"/>
                </a:solidFill>
                <a:effectLst/>
                <a:uFillTx/>
                <a:latin typeface="Arial"/>
                <a:ea typeface="Arial"/>
              </a:rPr>
              <a:t>IoT  ·  GROUP 5</a:t>
            </a:r>
            <a:endParaRPr lang="en-US" sz="1300" b="0" u="none" strike="noStrike">
              <a:solidFill>
                <a:schemeClr val="dk1"/>
              </a:solidFill>
              <a:effectLst/>
              <a:uFillTx/>
              <a:latin typeface="Calibri"/>
            </a:endParaRPr>
          </a:p>
        </p:txBody>
      </p:sp>
      <p:sp>
        <p:nvSpPr>
          <p:cNvPr id="27" name="PlaceHolder 2"/>
          <p:cNvSpPr>
            <a:spLocks noGrp="1"/>
          </p:cNvSpPr>
          <p:nvPr>
            <p:ph type="title" hasCustomPrompt="1"/>
          </p:nvPr>
        </p:nvSpPr>
        <p:spPr>
          <a:xfrm>
            <a:off x="731520" y="2194560"/>
            <a:ext cx="5760360" cy="10969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6000" b="1" u="none" strike="noStrike">
                <a:solidFill>
                  <a:schemeClr val="lt1"/>
                </a:solidFill>
                <a:effectLst/>
                <a:uFillTx/>
                <a:latin typeface="Arial"/>
                <a:ea typeface="Arial"/>
              </a:rPr>
              <a:t>Gree</a:t>
            </a:r>
            <a:r>
              <a:rPr lang="en-US" sz="6000" b="1" u="none" strike="noStrike">
                <a:solidFill>
                  <a:schemeClr val="lt1"/>
                </a:solidFill>
                <a:effectLst/>
                <a:uFillTx/>
                <a:latin typeface="Arial"/>
                <a:ea typeface="Arial"/>
              </a:rPr>
              <a:t>nWa</a:t>
            </a:r>
            <a:r>
              <a:rPr lang="en-US" sz="6000" b="1" u="none" strike="noStrike">
                <a:solidFill>
                  <a:schemeClr val="lt1"/>
                </a:solidFill>
                <a:effectLst/>
                <a:uFillTx/>
                <a:latin typeface="Arial"/>
                <a:ea typeface="Arial"/>
              </a:rPr>
              <a:t>ve</a:t>
            </a:r>
            <a:endParaRPr lang="en-US" sz="6000" b="0" u="none" strike="noStrike">
              <a:solidFill>
                <a:schemeClr val="dk1"/>
              </a:solidFill>
              <a:effectLst/>
              <a:uFillTx/>
              <a:latin typeface="Calibri"/>
            </a:endParaRPr>
          </a:p>
        </p:txBody>
      </p:sp>
      <p:sp>
        <p:nvSpPr>
          <p:cNvPr id="28" name="PlaceHolder 3"/>
          <p:cNvSpPr>
            <a:spLocks noGrp="1"/>
          </p:cNvSpPr>
          <p:nvPr>
            <p:ph hasCustomPrompt="1"/>
          </p:nvPr>
        </p:nvSpPr>
        <p:spPr>
          <a:xfrm>
            <a:off x="731520" y="3429000"/>
            <a:ext cx="5760360" cy="411120"/>
          </a:xfrm>
          <a:prstGeom prst="rect">
            <a:avLst/>
          </a:prstGeom>
          <a:noFill/>
          <a:ln w="0">
            <a:noFill/>
          </a:ln>
        </p:spPr>
        <p:txBody>
          <a:bodyPr lIns="0" tIns="0" rIns="0" bIns="0" anchor="ctr">
            <a:noAutofit/>
          </a:bodyPr>
          <a:p>
            <a:pPr indent="0" algn="l" defTabSz="914400">
              <a:lnSpc>
                <a:spcPct val="100000"/>
              </a:lnSpc>
              <a:spcBef>
                <a:spcPts val="360"/>
              </a:spcBef>
              <a:buNone/>
              <a:tabLst>
                <a:tab pos="0" algn="l"/>
              </a:tabLst>
            </a:pPr>
            <a:r>
              <a:rPr lang="en-US" sz="1800" b="0" u="none" strike="noStrike">
                <a:solidFill>
                  <a:schemeClr val="lt1">
                    <a:alpha val="75000"/>
                  </a:schemeClr>
                </a:solidFill>
                <a:effectLst/>
                <a:uFillTx/>
                <a:latin typeface="Calibri"/>
              </a:rPr>
              <a:t>Smart traffic in Aarhus  ·  Presentation 2  ·  Project status</a:t>
            </a:r>
            <a:endParaRPr lang="en-US" sz="1800" b="0" u="none" strike="noStrike">
              <a:solidFill>
                <a:schemeClr val="dk1"/>
              </a:solidFill>
              <a:effectLst/>
              <a:uFillTx/>
              <a:latin typeface="Calibri"/>
            </a:endParaRPr>
          </a:p>
        </p:txBody>
      </p:sp>
      <p:sp>
        <p:nvSpPr>
          <p:cNvPr id="29" name="PlaceHolder 4"/>
          <p:cNvSpPr>
            <a:spLocks noGrp="1"/>
          </p:cNvSpPr>
          <p:nvPr>
            <p:ph hasCustomPrompt="1"/>
          </p:nvPr>
        </p:nvSpPr>
        <p:spPr>
          <a:xfrm>
            <a:off x="731520" y="3931920"/>
            <a:ext cx="5760360" cy="685440"/>
          </a:xfrm>
          <a:prstGeom prst="rect">
            <a:avLst/>
          </a:prstGeom>
          <a:noFill/>
          <a:ln w="0">
            <a:noFill/>
          </a:ln>
        </p:spPr>
        <p:txBody>
          <a:bodyPr lIns="0" tIns="0" rIns="0" bIns="0" anchor="t">
            <a:noAutofit/>
          </a:bodyPr>
          <a:p>
            <a:pPr indent="0" algn="l" defTabSz="914400">
              <a:lnSpc>
                <a:spcPct val="100000"/>
              </a:lnSpc>
              <a:spcBef>
                <a:spcPts val="300"/>
              </a:spcBef>
              <a:buNone/>
              <a:tabLst>
                <a:tab pos="0" algn="l"/>
              </a:tabLst>
            </a:pPr>
            <a:r>
              <a:rPr lang="en-US" sz="1500" b="0" i="1" u="none" strike="noStrike">
                <a:solidFill>
                  <a:schemeClr val="accent1"/>
                </a:solidFill>
                <a:effectLst/>
                <a:uFillTx/>
                <a:latin typeface="Calibri"/>
              </a:rPr>
              <a:t>Real-time traffic in Aarhus: shown live, and predicted</a:t>
            </a:r>
            <a:endParaRPr lang="en-US" sz="1500" b="0" u="none" strike="noStrike">
              <a:solidFill>
                <a:schemeClr val="dk1"/>
              </a:solidFill>
              <a:effectLst/>
              <a:uFillTx/>
              <a:latin typeface="Calibri"/>
            </a:endParaRPr>
          </a:p>
        </p:txBody>
      </p:sp>
      <p:pic>
        <p:nvPicPr>
          <p:cNvPr id="30" name="Monitored routes map" descr="The 13 monitored routes in Aarhus, each road segment coloured by its measured speed on 1 October 2026 at 10:40"/>
          <p:cNvPicPr/>
          <p:nvPr/>
        </p:nvPicPr>
        <p:blipFill>
          <a:blip r:embed="rId1"/>
          <a:stretch/>
        </p:blipFill>
        <p:spPr>
          <a:xfrm>
            <a:off x="6583680" y="411480"/>
            <a:ext cx="5261400" cy="6034680"/>
          </a:xfrm>
          <a:prstGeom prst="rect">
            <a:avLst/>
          </a:prstGeom>
          <a:noFill/>
          <a:ln w="0">
            <a:noFill/>
          </a:ln>
        </p:spPr>
      </p:pic>
      <p:sp>
        <p:nvSpPr>
          <p:cNvPr id="31" name="Map caption"/>
          <p:cNvSpPr/>
          <p:nvPr/>
        </p:nvSpPr>
        <p:spPr>
          <a:xfrm>
            <a:off x="731520" y="5358240"/>
            <a:ext cx="5806080" cy="420120"/>
          </a:xfrm>
          <a:prstGeom prst="rect">
            <a:avLst/>
          </a:prstGeom>
          <a:noFill/>
          <a:ln w="0">
            <a:noFill/>
          </a:ln>
        </p:spPr>
        <p:style>
          <a:lnRef idx="0"/>
          <a:fillRef idx="0"/>
          <a:effectRef idx="0"/>
          <a:fontRef idx="minor"/>
        </p:style>
        <p:txBody>
          <a:bodyPr lIns="0" tIns="0" rIns="0" bIns="0" anchor="b">
            <a:noAutofit/>
          </a:bodyPr>
          <a:p>
            <a:pPr defTabSz="914400">
              <a:lnSpc>
                <a:spcPct val="100000"/>
              </a:lnSpc>
              <a:tabLst>
                <a:tab pos="0" algn="l"/>
              </a:tabLst>
            </a:pPr>
            <a:r>
              <a:rPr lang="en-US" sz="1100" b="0" u="none" strike="noStrike">
                <a:solidFill>
                  <a:schemeClr val="lt1">
                    <a:alpha val="60000"/>
                  </a:schemeClr>
                </a:solidFill>
                <a:effectLst/>
                <a:uFillTx/>
                <a:latin typeface="Calibri"/>
              </a:rPr>
              <a:t>Our 13 monitored routes, drawn </a:t>
            </a:r>
            <a:r>
              <a:rPr lang="en-US" sz="1100" b="0" u="none" strike="noStrike">
                <a:solidFill>
                  <a:schemeClr val="lt1">
                    <a:alpha val="60000"/>
                  </a:schemeClr>
                </a:solidFill>
                <a:effectLst/>
                <a:uFillTx/>
                <a:latin typeface="Calibri"/>
              </a:rPr>
              <a:t>from our own database.</a:t>
            </a:r>
            <a:endParaRPr lang="en-US" sz="1100" b="0" u="none" strike="noStrike">
              <a:solidFill>
                <a:srgbClr val="FFFFFF"/>
              </a:solidFill>
              <a:effectLst/>
              <a:uFillTx/>
              <a:latin typeface="Arial"/>
            </a:endParaRPr>
          </a:p>
          <a:p>
            <a:pPr defTabSz="914400">
              <a:lnSpc>
                <a:spcPct val="100000"/>
              </a:lnSpc>
              <a:tabLst>
                <a:tab pos="0" algn="l"/>
              </a:tabLst>
            </a:pPr>
            <a:r>
              <a:rPr lang="en-US" sz="1100" b="0" u="none" strike="noStrike">
                <a:solidFill>
                  <a:schemeClr val="lt1">
                    <a:alpha val="60000"/>
                  </a:schemeClr>
                </a:solidFill>
                <a:effectLst/>
                <a:uFillTx/>
                <a:latin typeface="Calibri"/>
              </a:rPr>
              <a:t>Real TomTom speeds, Thursday 1 </a:t>
            </a:r>
            <a:r>
              <a:rPr lang="en-US" sz="1100" b="0" u="none" strike="noStrike">
                <a:solidFill>
                  <a:schemeClr val="lt1">
                    <a:alpha val="60000"/>
                  </a:schemeClr>
                </a:solidFill>
                <a:effectLst/>
                <a:uFillTx/>
                <a:latin typeface="Calibri"/>
              </a:rPr>
              <a:t>October 2026, 10:40.</a:t>
            </a:r>
            <a:endParaRPr lang="en-US" sz="1100" b="0" u="none" strike="noStrike">
              <a:solidFill>
                <a:srgbClr val="FFFFFF"/>
              </a:solidFill>
              <a:effectLst/>
              <a:uFillTx/>
              <a:latin typeface="Arial"/>
            </a:endParaRPr>
          </a:p>
        </p:txBody>
      </p:sp>
      <p:sp>
        <p:nvSpPr>
          <p:cNvPr id="32" name="Legend Free flow swatch"/>
          <p:cNvSpPr/>
          <p:nvPr/>
        </p:nvSpPr>
        <p:spPr>
          <a:xfrm>
            <a:off x="731520" y="6035040"/>
            <a:ext cx="274320" cy="360"/>
          </a:xfrm>
          <a:prstGeom prst="line">
            <a:avLst/>
          </a:prstGeom>
          <a:ln w="50800">
            <a:solidFill>
              <a:srgbClr val="22C55E"/>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FFFFFF"/>
              </a:solidFill>
              <a:effectLst/>
              <a:uFillTx/>
              <a:latin typeface="Arial"/>
            </a:endParaRPr>
          </a:p>
        </p:txBody>
      </p:sp>
      <p:sp>
        <p:nvSpPr>
          <p:cNvPr id="33" name="Legend Free flow"/>
          <p:cNvSpPr/>
          <p:nvPr/>
        </p:nvSpPr>
        <p:spPr>
          <a:xfrm>
            <a:off x="1078920" y="5925240"/>
            <a:ext cx="708480" cy="219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chemeClr val="lt1">
                    <a:alpha val="75000"/>
                  </a:schemeClr>
                </a:solidFill>
                <a:effectLst/>
                <a:uFillTx/>
                <a:latin typeface="Calibri"/>
              </a:rPr>
              <a:t>Free flow</a:t>
            </a:r>
            <a:endParaRPr lang="en-US" sz="1100" b="0" u="none" strike="noStrike">
              <a:solidFill>
                <a:srgbClr val="FFFFFF"/>
              </a:solidFill>
              <a:effectLst/>
              <a:uFillTx/>
              <a:latin typeface="Arial"/>
            </a:endParaRPr>
          </a:p>
        </p:txBody>
      </p:sp>
      <p:sp>
        <p:nvSpPr>
          <p:cNvPr id="34" name="Legend Light swatch"/>
          <p:cNvSpPr/>
          <p:nvPr/>
        </p:nvSpPr>
        <p:spPr>
          <a:xfrm>
            <a:off x="2061720" y="6035040"/>
            <a:ext cx="274320" cy="360"/>
          </a:xfrm>
          <a:prstGeom prst="line">
            <a:avLst/>
          </a:prstGeom>
          <a:ln w="50800">
            <a:solidFill>
              <a:srgbClr val="FACC15"/>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FFFFFF"/>
              </a:solidFill>
              <a:effectLst/>
              <a:uFillTx/>
              <a:latin typeface="Arial"/>
            </a:endParaRPr>
          </a:p>
        </p:txBody>
      </p:sp>
      <p:sp>
        <p:nvSpPr>
          <p:cNvPr id="35" name="Legend Light"/>
          <p:cNvSpPr/>
          <p:nvPr/>
        </p:nvSpPr>
        <p:spPr>
          <a:xfrm>
            <a:off x="2409480" y="5925240"/>
            <a:ext cx="434160" cy="219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chemeClr val="lt1">
                    <a:alpha val="75000"/>
                  </a:schemeClr>
                </a:solidFill>
                <a:effectLst/>
                <a:uFillTx/>
                <a:latin typeface="Calibri"/>
              </a:rPr>
              <a:t>L</a:t>
            </a:r>
            <a:r>
              <a:rPr lang="en-US" sz="1100" b="0" u="none" strike="noStrike">
                <a:solidFill>
                  <a:schemeClr val="lt1">
                    <a:alpha val="75000"/>
                  </a:schemeClr>
                </a:solidFill>
                <a:effectLst/>
                <a:uFillTx/>
                <a:latin typeface="Calibri"/>
              </a:rPr>
              <a:t>i</a:t>
            </a:r>
            <a:r>
              <a:rPr lang="en-US" sz="1100" b="0" u="none" strike="noStrike">
                <a:solidFill>
                  <a:schemeClr val="lt1">
                    <a:alpha val="75000"/>
                  </a:schemeClr>
                </a:solidFill>
                <a:effectLst/>
                <a:uFillTx/>
                <a:latin typeface="Calibri"/>
              </a:rPr>
              <a:t>g</a:t>
            </a:r>
            <a:r>
              <a:rPr lang="en-US" sz="1100" b="0" u="none" strike="noStrike">
                <a:solidFill>
                  <a:schemeClr val="lt1">
                    <a:alpha val="75000"/>
                  </a:schemeClr>
                </a:solidFill>
                <a:effectLst/>
                <a:uFillTx/>
                <a:latin typeface="Calibri"/>
              </a:rPr>
              <a:t>h</a:t>
            </a:r>
            <a:r>
              <a:rPr lang="en-US" sz="1100" b="0" u="none" strike="noStrike">
                <a:solidFill>
                  <a:schemeClr val="lt1">
                    <a:alpha val="75000"/>
                  </a:schemeClr>
                </a:solidFill>
                <a:effectLst/>
                <a:uFillTx/>
                <a:latin typeface="Calibri"/>
              </a:rPr>
              <a:t>t</a:t>
            </a:r>
            <a:endParaRPr lang="en-US" sz="1100" b="0" u="none" strike="noStrike">
              <a:solidFill>
                <a:srgbClr val="FFFFFF"/>
              </a:solidFill>
              <a:effectLst/>
              <a:uFillTx/>
              <a:latin typeface="Arial"/>
            </a:endParaRPr>
          </a:p>
        </p:txBody>
      </p:sp>
      <p:sp>
        <p:nvSpPr>
          <p:cNvPr id="36" name="Legend Moderate swatch"/>
          <p:cNvSpPr/>
          <p:nvPr/>
        </p:nvSpPr>
        <p:spPr>
          <a:xfrm>
            <a:off x="3117960" y="6035040"/>
            <a:ext cx="274320" cy="360"/>
          </a:xfrm>
          <a:prstGeom prst="line">
            <a:avLst/>
          </a:prstGeom>
          <a:ln w="50800">
            <a:solidFill>
              <a:srgbClr val="F97316"/>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FFFFFF"/>
              </a:solidFill>
              <a:effectLst/>
              <a:uFillTx/>
              <a:latin typeface="Arial"/>
            </a:endParaRPr>
          </a:p>
        </p:txBody>
      </p:sp>
      <p:sp>
        <p:nvSpPr>
          <p:cNvPr id="37" name="Legend Moderate"/>
          <p:cNvSpPr/>
          <p:nvPr/>
        </p:nvSpPr>
        <p:spPr>
          <a:xfrm>
            <a:off x="3465720" y="5925240"/>
            <a:ext cx="639720" cy="219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chemeClr val="lt1">
                    <a:alpha val="75000"/>
                  </a:schemeClr>
                </a:solidFill>
                <a:effectLst/>
                <a:uFillTx/>
                <a:latin typeface="Calibri"/>
              </a:rPr>
              <a:t>Moderate</a:t>
            </a:r>
            <a:endParaRPr lang="en-US" sz="1100" b="0" u="none" strike="noStrike">
              <a:solidFill>
                <a:srgbClr val="FFFFFF"/>
              </a:solidFill>
              <a:effectLst/>
              <a:uFillTx/>
              <a:latin typeface="Arial"/>
            </a:endParaRPr>
          </a:p>
        </p:txBody>
      </p:sp>
      <p:sp>
        <p:nvSpPr>
          <p:cNvPr id="38" name="Legend Heavy swatch"/>
          <p:cNvSpPr/>
          <p:nvPr/>
        </p:nvSpPr>
        <p:spPr>
          <a:xfrm>
            <a:off x="4379760" y="6035040"/>
            <a:ext cx="274320" cy="360"/>
          </a:xfrm>
          <a:prstGeom prst="line">
            <a:avLst/>
          </a:prstGeom>
          <a:ln w="50800">
            <a:solidFill>
              <a:srgbClr val="DC2626"/>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FFFFFF"/>
              </a:solidFill>
              <a:effectLst/>
              <a:uFillTx/>
              <a:latin typeface="Arial"/>
            </a:endParaRPr>
          </a:p>
        </p:txBody>
      </p:sp>
      <p:sp>
        <p:nvSpPr>
          <p:cNvPr id="39" name="Legend Heavy"/>
          <p:cNvSpPr/>
          <p:nvPr/>
        </p:nvSpPr>
        <p:spPr>
          <a:xfrm>
            <a:off x="4727520" y="5925240"/>
            <a:ext cx="434160" cy="219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chemeClr val="lt1">
                    <a:alpha val="75000"/>
                  </a:schemeClr>
                </a:solidFill>
                <a:effectLst/>
                <a:uFillTx/>
                <a:latin typeface="Calibri"/>
              </a:rPr>
              <a:t>Heavy</a:t>
            </a:r>
            <a:endParaRPr lang="en-US" sz="1100" b="0" u="none" strike="noStrike">
              <a:solidFill>
                <a:srgbClr val="FFFFFF"/>
              </a:solidFill>
              <a:effectLst/>
              <a:uFillTx/>
              <a:latin typeface="Arial"/>
            </a:endParaRPr>
          </a:p>
        </p:txBody>
      </p:sp>
      <p:sp>
        <p:nvSpPr>
          <p:cNvPr id="40" name="Legend Closed swatch"/>
          <p:cNvSpPr/>
          <p:nvPr/>
        </p:nvSpPr>
        <p:spPr>
          <a:xfrm>
            <a:off x="5436000" y="6035040"/>
            <a:ext cx="274320" cy="360"/>
          </a:xfrm>
          <a:prstGeom prst="line">
            <a:avLst/>
          </a:prstGeom>
          <a:ln w="50800">
            <a:solidFill>
              <a:srgbClr val="7F1D1D"/>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FFFFFF"/>
              </a:solidFill>
              <a:effectLst/>
              <a:uFillTx/>
              <a:latin typeface="Arial"/>
            </a:endParaRPr>
          </a:p>
        </p:txBody>
      </p:sp>
      <p:sp>
        <p:nvSpPr>
          <p:cNvPr id="41" name="Legend Closed"/>
          <p:cNvSpPr/>
          <p:nvPr/>
        </p:nvSpPr>
        <p:spPr>
          <a:xfrm>
            <a:off x="5783760" y="5925240"/>
            <a:ext cx="502560" cy="219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chemeClr val="lt1">
                    <a:alpha val="75000"/>
                  </a:schemeClr>
                </a:solidFill>
                <a:effectLst/>
                <a:uFillTx/>
                <a:latin typeface="Calibri"/>
              </a:rPr>
              <a:t>Closed</a:t>
            </a:r>
            <a:endParaRPr lang="en-U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hasCustomPrompt="1"/>
          </p:nvPr>
        </p:nvSpPr>
        <p:spPr>
          <a:xfrm>
            <a:off x="548640" y="640080"/>
            <a:ext cx="8686440" cy="310680"/>
          </a:xfrm>
          <a:prstGeom prst="rect">
            <a:avLst/>
          </a:prstGeom>
          <a:noFill/>
          <a:ln w="0">
            <a:noFill/>
          </a:ln>
        </p:spPr>
        <p:txBody>
          <a:bodyPr lIns="0" tIns="0" rIns="0" bIns="0" anchor="ctr">
            <a:noAutofit/>
          </a:bodyPr>
          <a:p>
            <a:pPr indent="0" algn="l" defTabSz="914400">
              <a:lnSpc>
                <a:spcPct val="100000"/>
              </a:lnSpc>
              <a:spcBef>
                <a:spcPts val="241"/>
              </a:spcBef>
              <a:buNone/>
              <a:tabLst>
                <a:tab pos="0" algn="l"/>
              </a:tabLst>
            </a:pPr>
            <a:r>
              <a:rPr lang="en-US" sz="1200" b="1" u="none" spc="51" strike="noStrike">
                <a:solidFill>
                  <a:schemeClr val="accent6"/>
                </a:solidFill>
                <a:effectLst/>
                <a:uFillTx/>
                <a:latin typeface="Arial"/>
                <a:ea typeface="Arial"/>
              </a:rPr>
              <a:t>01  ·  WHAT CHANGED</a:t>
            </a:r>
            <a:endParaRPr lang="en-US" sz="1200" b="0" u="none" strike="noStrike">
              <a:solidFill>
                <a:schemeClr val="dk1"/>
              </a:solidFill>
              <a:effectLst/>
              <a:uFillTx/>
              <a:latin typeface="Calibri"/>
            </a:endParaRPr>
          </a:p>
        </p:txBody>
      </p:sp>
      <p:sp>
        <p:nvSpPr>
          <p:cNvPr id="43" name="PlaceHolder 2"/>
          <p:cNvSpPr>
            <a:spLocks noGrp="1"/>
          </p:cNvSpPr>
          <p:nvPr>
            <p:ph type="title" hasCustomPrompt="1"/>
          </p:nvPr>
        </p:nvSpPr>
        <p:spPr>
          <a:xfrm>
            <a:off x="548640" y="951120"/>
            <a:ext cx="10606680" cy="65808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From controlling traffic lights to real-time data</a:t>
            </a:r>
            <a:endParaRPr lang="en-US" sz="3200" b="0" u="none" strike="noStrike">
              <a:solidFill>
                <a:schemeClr val="dk1"/>
              </a:solidFill>
              <a:effectLst/>
              <a:uFillTx/>
              <a:latin typeface="Calibri"/>
            </a:endParaRPr>
          </a:p>
        </p:txBody>
      </p:sp>
      <p:sp>
        <p:nvSpPr>
          <p:cNvPr id="44" name="Then panel"/>
          <p:cNvSpPr/>
          <p:nvPr/>
        </p:nvSpPr>
        <p:spPr>
          <a:xfrm>
            <a:off x="548640" y="1783080"/>
            <a:ext cx="5074560" cy="1782720"/>
          </a:xfrm>
          <a:prstGeom prst="roundRect">
            <a:avLst>
              <a:gd name="adj" fmla="val 4103"/>
            </a:avLst>
          </a:prstGeom>
          <a:solidFill>
            <a:schemeClr val="accent4">
              <a:alpha val="12000"/>
            </a:schemeClr>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5" name="Then tag"/>
          <p:cNvSpPr/>
          <p:nvPr/>
        </p:nvSpPr>
        <p:spPr>
          <a:xfrm>
            <a:off x="777240" y="1947600"/>
            <a:ext cx="27428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51" strike="noStrike">
                <a:solidFill>
                  <a:schemeClr val="accent6"/>
                </a:solidFill>
                <a:effectLst/>
                <a:uFillTx/>
                <a:latin typeface="Arial"/>
                <a:ea typeface="Arial"/>
              </a:rPr>
              <a:t>PRESENTATION 1</a:t>
            </a:r>
            <a:endParaRPr lang="en-US" sz="1100" b="0" u="none" strike="noStrike">
              <a:solidFill>
                <a:srgbClr val="000000"/>
              </a:solidFill>
              <a:effectLst/>
              <a:uFillTx/>
              <a:latin typeface="Arial"/>
            </a:endParaRPr>
          </a:p>
        </p:txBody>
      </p:sp>
      <p:sp>
        <p:nvSpPr>
          <p:cNvPr id="46" name="Then heading"/>
          <p:cNvSpPr/>
          <p:nvPr/>
        </p:nvSpPr>
        <p:spPr>
          <a:xfrm>
            <a:off x="777240" y="2203560"/>
            <a:ext cx="46173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chemeClr val="dk2"/>
                </a:solidFill>
                <a:effectLst/>
                <a:uFillTx/>
                <a:latin typeface="Arial"/>
                <a:ea typeface="Arial"/>
              </a:rPr>
              <a:t>Control the traffic lights</a:t>
            </a:r>
            <a:endParaRPr lang="en-US" sz="1700" b="0" u="none" strike="noStrike">
              <a:solidFill>
                <a:srgbClr val="000000"/>
              </a:solidFill>
              <a:effectLst/>
              <a:uFillTx/>
              <a:latin typeface="Arial"/>
            </a:endParaRPr>
          </a:p>
        </p:txBody>
      </p:sp>
      <p:sp>
        <p:nvSpPr>
          <p:cNvPr id="47" name="Then step 1"/>
          <p:cNvSpPr/>
          <p:nvPr/>
        </p:nvSpPr>
        <p:spPr>
          <a:xfrm>
            <a:off x="777240" y="2724840"/>
            <a:ext cx="1319400" cy="621360"/>
          </a:xfrm>
          <a:prstGeom prst="roundRect">
            <a:avLst>
              <a:gd name="adj" fmla="val 8824"/>
            </a:avLst>
          </a:prstGeom>
          <a:solidFill>
            <a:schemeClr val="lt1">
              <a:alpha val="80000"/>
            </a:schemeClr>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8" name="Then step 1 text"/>
          <p:cNvSpPr/>
          <p:nvPr/>
        </p:nvSpPr>
        <p:spPr>
          <a:xfrm>
            <a:off x="850320" y="2724840"/>
            <a:ext cx="1173240" cy="621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chemeClr val="dk2"/>
                </a:solidFill>
                <a:effectLst/>
                <a:uFillTx/>
                <a:latin typeface="Calibri"/>
              </a:rPr>
              <a:t>Simulated sensors</a:t>
            </a:r>
            <a:endParaRPr lang="en-US" sz="1250" b="0" u="none" strike="noStrike">
              <a:solidFill>
                <a:srgbClr val="000000"/>
              </a:solidFill>
              <a:effectLst/>
              <a:uFillTx/>
              <a:latin typeface="Arial"/>
            </a:endParaRPr>
          </a:p>
        </p:txBody>
      </p:sp>
      <p:sp>
        <p:nvSpPr>
          <p:cNvPr id="49" name="Then arrow 1"/>
          <p:cNvSpPr/>
          <p:nvPr/>
        </p:nvSpPr>
        <p:spPr>
          <a:xfrm>
            <a:off x="2142720" y="3035520"/>
            <a:ext cx="237600" cy="360"/>
          </a:xfrm>
          <a:prstGeom prst="line">
            <a:avLst/>
          </a:prstGeom>
          <a:ln w="22225">
            <a:solidFill>
              <a:srgbClr val="5B7C99"/>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50" name="Then step 2"/>
          <p:cNvSpPr/>
          <p:nvPr/>
        </p:nvSpPr>
        <p:spPr>
          <a:xfrm>
            <a:off x="2426040" y="2724840"/>
            <a:ext cx="1319400" cy="621360"/>
          </a:xfrm>
          <a:prstGeom prst="roundRect">
            <a:avLst>
              <a:gd name="adj" fmla="val 8824"/>
            </a:avLst>
          </a:prstGeom>
          <a:solidFill>
            <a:schemeClr val="lt1">
              <a:alpha val="80000"/>
            </a:schemeClr>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1" name="Then step 2 text"/>
          <p:cNvSpPr/>
          <p:nvPr/>
        </p:nvSpPr>
        <p:spPr>
          <a:xfrm>
            <a:off x="2499480" y="2724840"/>
            <a:ext cx="1173240" cy="621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chemeClr val="dk2"/>
                </a:solidFill>
                <a:effectLst/>
                <a:uFillTx/>
                <a:latin typeface="Calibri"/>
              </a:rPr>
              <a:t>Signal plans</a:t>
            </a:r>
            <a:endParaRPr lang="en-US" sz="1250" b="0" u="none" strike="noStrike">
              <a:solidFill>
                <a:srgbClr val="000000"/>
              </a:solidFill>
              <a:effectLst/>
              <a:uFillTx/>
              <a:latin typeface="Arial"/>
            </a:endParaRPr>
          </a:p>
        </p:txBody>
      </p:sp>
      <p:sp>
        <p:nvSpPr>
          <p:cNvPr id="52" name="Then arrow 2"/>
          <p:cNvSpPr/>
          <p:nvPr/>
        </p:nvSpPr>
        <p:spPr>
          <a:xfrm>
            <a:off x="3791520" y="3035520"/>
            <a:ext cx="237600" cy="360"/>
          </a:xfrm>
          <a:prstGeom prst="line">
            <a:avLst/>
          </a:prstGeom>
          <a:ln w="22225">
            <a:solidFill>
              <a:srgbClr val="5B7C99"/>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53" name="Then step 3"/>
          <p:cNvSpPr/>
          <p:nvPr/>
        </p:nvSpPr>
        <p:spPr>
          <a:xfrm>
            <a:off x="4075200" y="2724840"/>
            <a:ext cx="1319400" cy="621360"/>
          </a:xfrm>
          <a:prstGeom prst="roundRect">
            <a:avLst>
              <a:gd name="adj" fmla="val 8824"/>
            </a:avLst>
          </a:prstGeom>
          <a:solidFill>
            <a:schemeClr val="lt1">
              <a:alpha val="80000"/>
            </a:schemeClr>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4" name="Then step 3 text"/>
          <p:cNvSpPr/>
          <p:nvPr/>
        </p:nvSpPr>
        <p:spPr>
          <a:xfrm>
            <a:off x="4148280" y="2724840"/>
            <a:ext cx="1173240" cy="621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chemeClr val="dk2"/>
                </a:solidFill>
                <a:effectLst/>
                <a:uFillTx/>
                <a:latin typeface="Calibri"/>
              </a:rPr>
              <a:t>Traffic lights</a:t>
            </a:r>
            <a:endParaRPr lang="en-US" sz="1250" b="0" u="none" strike="noStrike">
              <a:solidFill>
                <a:srgbClr val="000000"/>
              </a:solidFill>
              <a:effectLst/>
              <a:uFillTx/>
              <a:latin typeface="Arial"/>
            </a:endParaRPr>
          </a:p>
        </p:txBody>
      </p:sp>
      <p:sp>
        <p:nvSpPr>
          <p:cNvPr id="55" name="Now panel"/>
          <p:cNvSpPr/>
          <p:nvPr/>
        </p:nvSpPr>
        <p:spPr>
          <a:xfrm>
            <a:off x="6336720" y="1783080"/>
            <a:ext cx="5306040" cy="1782720"/>
          </a:xfrm>
          <a:prstGeom prst="roundRect">
            <a:avLst>
              <a:gd name="adj" fmla="val 4103"/>
            </a:avLst>
          </a:prstGeom>
          <a:solidFill>
            <a:schemeClr val="bg1"/>
          </a:solidFill>
          <a:ln w="25400">
            <a:solidFill>
              <a:srgbClr val="F2A03D"/>
            </a:solidFill>
            <a:round/>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6" name="Now tag"/>
          <p:cNvSpPr/>
          <p:nvPr/>
        </p:nvSpPr>
        <p:spPr>
          <a:xfrm>
            <a:off x="6565320" y="1947600"/>
            <a:ext cx="27428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51" strike="noStrike">
                <a:solidFill>
                  <a:schemeClr val="accent6"/>
                </a:solidFill>
                <a:effectLst/>
                <a:uFillTx/>
                <a:latin typeface="Arial"/>
                <a:ea typeface="Arial"/>
              </a:rPr>
              <a:t>NOW</a:t>
            </a:r>
            <a:endParaRPr lang="en-US" sz="1100" b="0" u="none" strike="noStrike">
              <a:solidFill>
                <a:srgbClr val="000000"/>
              </a:solidFill>
              <a:effectLst/>
              <a:uFillTx/>
              <a:latin typeface="Arial"/>
            </a:endParaRPr>
          </a:p>
        </p:txBody>
      </p:sp>
      <p:sp>
        <p:nvSpPr>
          <p:cNvPr id="57" name="Now heading"/>
          <p:cNvSpPr/>
          <p:nvPr/>
        </p:nvSpPr>
        <p:spPr>
          <a:xfrm>
            <a:off x="6565320" y="2203560"/>
            <a:ext cx="48488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chemeClr val="dk1"/>
                </a:solidFill>
                <a:effectLst/>
                <a:uFillTx/>
                <a:latin typeface="Arial"/>
                <a:ea typeface="Arial"/>
              </a:rPr>
              <a:t>Show and predict the traffic</a:t>
            </a:r>
            <a:endParaRPr lang="en-US" sz="1700" b="0" u="none" strike="noStrike">
              <a:solidFill>
                <a:srgbClr val="000000"/>
              </a:solidFill>
              <a:effectLst/>
              <a:uFillTx/>
              <a:latin typeface="Arial"/>
            </a:endParaRPr>
          </a:p>
        </p:txBody>
      </p:sp>
      <p:sp>
        <p:nvSpPr>
          <p:cNvPr id="58" name="Now step 1"/>
          <p:cNvSpPr/>
          <p:nvPr/>
        </p:nvSpPr>
        <p:spPr>
          <a:xfrm>
            <a:off x="6565320" y="2724840"/>
            <a:ext cx="1396440" cy="621360"/>
          </a:xfrm>
          <a:prstGeom prst="roundRect">
            <a:avLst>
              <a:gd name="adj" fmla="val 8824"/>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9" name="Now step 1 text"/>
          <p:cNvSpPr/>
          <p:nvPr/>
        </p:nvSpPr>
        <p:spPr>
          <a:xfrm>
            <a:off x="6638400" y="2724840"/>
            <a:ext cx="1250280" cy="621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chemeClr val="lt1"/>
                </a:solidFill>
                <a:effectLst/>
                <a:uFillTx/>
                <a:latin typeface="Calibri"/>
              </a:rPr>
              <a:t>Real-time TomTom data</a:t>
            </a:r>
            <a:endParaRPr lang="en-US" sz="1250" b="0" u="none" strike="noStrike">
              <a:solidFill>
                <a:srgbClr val="000000"/>
              </a:solidFill>
              <a:effectLst/>
              <a:uFillTx/>
              <a:latin typeface="Arial"/>
            </a:endParaRPr>
          </a:p>
        </p:txBody>
      </p:sp>
      <p:sp>
        <p:nvSpPr>
          <p:cNvPr id="60" name="Now arrow 1"/>
          <p:cNvSpPr/>
          <p:nvPr/>
        </p:nvSpPr>
        <p:spPr>
          <a:xfrm>
            <a:off x="8007840" y="3035520"/>
            <a:ext cx="237600" cy="360"/>
          </a:xfrm>
          <a:prstGeom prst="line">
            <a:avLst/>
          </a:prstGeom>
          <a:ln w="22225">
            <a:solidFill>
              <a:srgbClr val="F2A03D"/>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61" name="Now step 2"/>
          <p:cNvSpPr/>
          <p:nvPr/>
        </p:nvSpPr>
        <p:spPr>
          <a:xfrm>
            <a:off x="8291520" y="2724840"/>
            <a:ext cx="1396440" cy="621360"/>
          </a:xfrm>
          <a:prstGeom prst="roundRect">
            <a:avLst>
              <a:gd name="adj" fmla="val 8824"/>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2" name="Now step 2 text"/>
          <p:cNvSpPr/>
          <p:nvPr/>
        </p:nvSpPr>
        <p:spPr>
          <a:xfrm>
            <a:off x="8364600" y="2724840"/>
            <a:ext cx="1250280" cy="621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chemeClr val="lt1"/>
                </a:solidFill>
                <a:effectLst/>
                <a:uFillTx/>
                <a:latin typeface="Calibri"/>
              </a:rPr>
              <a:t>Live traffic state on a map</a:t>
            </a:r>
            <a:endParaRPr lang="en-US" sz="1250" b="0" u="none" strike="noStrike">
              <a:solidFill>
                <a:srgbClr val="000000"/>
              </a:solidFill>
              <a:effectLst/>
              <a:uFillTx/>
              <a:latin typeface="Arial"/>
            </a:endParaRPr>
          </a:p>
        </p:txBody>
      </p:sp>
      <p:sp>
        <p:nvSpPr>
          <p:cNvPr id="63" name="Now arrow 2"/>
          <p:cNvSpPr/>
          <p:nvPr/>
        </p:nvSpPr>
        <p:spPr>
          <a:xfrm>
            <a:off x="9734040" y="3035520"/>
            <a:ext cx="237600" cy="360"/>
          </a:xfrm>
          <a:prstGeom prst="line">
            <a:avLst/>
          </a:prstGeom>
          <a:ln w="22225">
            <a:solidFill>
              <a:srgbClr val="F2A03D"/>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64" name="Now step 3"/>
          <p:cNvSpPr/>
          <p:nvPr/>
        </p:nvSpPr>
        <p:spPr>
          <a:xfrm>
            <a:off x="10017720" y="2724840"/>
            <a:ext cx="1396440" cy="621360"/>
          </a:xfrm>
          <a:prstGeom prst="roundRect">
            <a:avLst>
              <a:gd name="adj" fmla="val 8824"/>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5" name="Now step 3 text"/>
          <p:cNvSpPr/>
          <p:nvPr/>
        </p:nvSpPr>
        <p:spPr>
          <a:xfrm>
            <a:off x="10090800" y="2724840"/>
            <a:ext cx="1250280" cy="621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chemeClr val="lt1"/>
                </a:solidFill>
                <a:effectLst/>
                <a:uFillTx/>
                <a:latin typeface="Calibri"/>
              </a:rPr>
              <a:t>Predicted traffic state</a:t>
            </a:r>
            <a:endParaRPr lang="en-US" sz="1250" b="0" u="none" strike="noStrike">
              <a:solidFill>
                <a:srgbClr val="000000"/>
              </a:solidFill>
              <a:effectLst/>
              <a:uFillTx/>
              <a:latin typeface="Arial"/>
            </a:endParaRPr>
          </a:p>
        </p:txBody>
      </p:sp>
      <p:sp>
        <p:nvSpPr>
          <p:cNvPr id="66" name="Then to now"/>
          <p:cNvSpPr/>
          <p:nvPr/>
        </p:nvSpPr>
        <p:spPr>
          <a:xfrm>
            <a:off x="5733000" y="2674440"/>
            <a:ext cx="493920" cy="360"/>
          </a:xfrm>
          <a:prstGeom prst="line">
            <a:avLst/>
          </a:prstGeom>
          <a:ln w="38100">
            <a:solidFill>
              <a:srgbClr val="F2A03D"/>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67" name="Why label"/>
          <p:cNvSpPr/>
          <p:nvPr/>
        </p:nvSpPr>
        <p:spPr>
          <a:xfrm>
            <a:off x="548640" y="3794760"/>
            <a:ext cx="27428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51" strike="noStrike">
                <a:solidFill>
                  <a:schemeClr val="accent6"/>
                </a:solidFill>
                <a:effectLst/>
                <a:uFillTx/>
                <a:latin typeface="Arial"/>
                <a:ea typeface="Arial"/>
              </a:rPr>
              <a:t>WHY</a:t>
            </a:r>
            <a:endParaRPr lang="en-US" sz="1100" b="0" u="none" strike="noStrike">
              <a:solidFill>
                <a:srgbClr val="000000"/>
              </a:solidFill>
              <a:effectLst/>
              <a:uFillTx/>
              <a:latin typeface="Arial"/>
            </a:endParaRPr>
          </a:p>
        </p:txBody>
      </p:sp>
      <p:sp>
        <p:nvSpPr>
          <p:cNvPr id="68" name="Real data instead of simulation circle"/>
          <p:cNvSpPr/>
          <p:nvPr/>
        </p:nvSpPr>
        <p:spPr>
          <a:xfrm>
            <a:off x="548640" y="4178880"/>
            <a:ext cx="438480" cy="438480"/>
          </a:xfrm>
          <a:prstGeom prst="ellipse">
            <a:avLst/>
          </a:prstGeom>
          <a:solidFill>
            <a:schemeClr val="accent1">
              <a:alpha val="20000"/>
            </a:schemeClr>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69" name="Real data instead of simulation icon" descr="Real data instead of simulation"/>
          <p:cNvPicPr/>
          <p:nvPr/>
        </p:nvPicPr>
        <p:blipFill>
          <a:blip r:embed="rId1"/>
          <a:stretch/>
        </p:blipFill>
        <p:spPr>
          <a:xfrm>
            <a:off x="654120" y="4284000"/>
            <a:ext cx="227880" cy="227880"/>
          </a:xfrm>
          <a:prstGeom prst="rect">
            <a:avLst/>
          </a:prstGeom>
          <a:noFill/>
          <a:ln w="0">
            <a:noFill/>
          </a:ln>
        </p:spPr>
      </p:pic>
      <p:sp>
        <p:nvSpPr>
          <p:cNvPr id="70" name="Real data instead of simulation title"/>
          <p:cNvSpPr/>
          <p:nvPr/>
        </p:nvSpPr>
        <p:spPr>
          <a:xfrm>
            <a:off x="1143000" y="4142160"/>
            <a:ext cx="448020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Arial"/>
                <a:ea typeface="Arial"/>
              </a:rPr>
              <a:t>Real data instead of simulation</a:t>
            </a:r>
            <a:endParaRPr lang="en-US" sz="1300" b="0" u="none" strike="noStrike">
              <a:solidFill>
                <a:srgbClr val="000000"/>
              </a:solidFill>
              <a:effectLst/>
              <a:uFillTx/>
              <a:latin typeface="Arial"/>
            </a:endParaRPr>
          </a:p>
        </p:txBody>
      </p:sp>
      <p:sp>
        <p:nvSpPr>
          <p:cNvPr id="71" name="Real data instead of simulation line"/>
          <p:cNvSpPr/>
          <p:nvPr/>
        </p:nvSpPr>
        <p:spPr>
          <a:xfrm>
            <a:off x="1143000" y="4407480"/>
            <a:ext cx="448020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2"/>
                </a:solidFill>
                <a:effectLst/>
                <a:uFillTx/>
                <a:latin typeface="Calibri"/>
              </a:rPr>
              <a:t>Aarhus Kommune shares TomTom's live speeds for 13 roads</a:t>
            </a:r>
            <a:endParaRPr lang="en-US" sz="1250" b="0" u="none" strike="noStrike">
              <a:solidFill>
                <a:srgbClr val="000000"/>
              </a:solidFill>
              <a:effectLst/>
              <a:uFillTx/>
              <a:latin typeface="Arial"/>
            </a:endParaRPr>
          </a:p>
        </p:txBody>
      </p:sp>
      <p:sp>
        <p:nvSpPr>
          <p:cNvPr id="72" name="Nothing real to control circle"/>
          <p:cNvSpPr/>
          <p:nvPr/>
        </p:nvSpPr>
        <p:spPr>
          <a:xfrm>
            <a:off x="548640" y="4837320"/>
            <a:ext cx="438480" cy="438480"/>
          </a:xfrm>
          <a:prstGeom prst="ellipse">
            <a:avLst/>
          </a:prstGeom>
          <a:solidFill>
            <a:schemeClr val="accent1">
              <a:alpha val="20000"/>
            </a:schemeClr>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73" name="Nothing real to control icon" descr="Nothing real to control"/>
          <p:cNvPicPr/>
          <p:nvPr/>
        </p:nvPicPr>
        <p:blipFill>
          <a:blip r:embed="rId2"/>
          <a:stretch/>
        </p:blipFill>
        <p:spPr>
          <a:xfrm>
            <a:off x="654120" y="4942440"/>
            <a:ext cx="227880" cy="227880"/>
          </a:xfrm>
          <a:prstGeom prst="rect">
            <a:avLst/>
          </a:prstGeom>
          <a:noFill/>
          <a:ln w="0">
            <a:noFill/>
          </a:ln>
        </p:spPr>
      </p:pic>
      <p:sp>
        <p:nvSpPr>
          <p:cNvPr id="74" name="Nothing real to control title"/>
          <p:cNvSpPr/>
          <p:nvPr/>
        </p:nvSpPr>
        <p:spPr>
          <a:xfrm>
            <a:off x="1143000" y="4800600"/>
            <a:ext cx="448020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Arial"/>
                <a:ea typeface="Arial"/>
              </a:rPr>
              <a:t>Nothing real to control</a:t>
            </a:r>
            <a:endParaRPr lang="en-US" sz="1300" b="0" u="none" strike="noStrike">
              <a:solidFill>
                <a:srgbClr val="000000"/>
              </a:solidFill>
              <a:effectLst/>
              <a:uFillTx/>
              <a:latin typeface="Arial"/>
            </a:endParaRPr>
          </a:p>
        </p:txBody>
      </p:sp>
      <p:sp>
        <p:nvSpPr>
          <p:cNvPr id="75" name="Nothing real to control line"/>
          <p:cNvSpPr/>
          <p:nvPr/>
        </p:nvSpPr>
        <p:spPr>
          <a:xfrm>
            <a:off x="1143000" y="5065920"/>
            <a:ext cx="448020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2"/>
                </a:solidFill>
                <a:effectLst/>
                <a:uFillTx/>
                <a:latin typeface="Calibri"/>
              </a:rPr>
              <a:t>We can't steer real lights, so we show the state instead</a:t>
            </a:r>
            <a:endParaRPr lang="en-US" sz="1250" b="0" u="none" strike="noStrike">
              <a:solidFill>
                <a:srgbClr val="000000"/>
              </a:solidFill>
              <a:effectLst/>
              <a:uFillTx/>
              <a:latin typeface="Arial"/>
            </a:endParaRPr>
          </a:p>
        </p:txBody>
      </p:sp>
      <p:sp>
        <p:nvSpPr>
          <p:cNvPr id="76" name="History to learn from circle"/>
          <p:cNvSpPr/>
          <p:nvPr/>
        </p:nvSpPr>
        <p:spPr>
          <a:xfrm>
            <a:off x="548640" y="5495400"/>
            <a:ext cx="438480" cy="438480"/>
          </a:xfrm>
          <a:prstGeom prst="ellipse">
            <a:avLst/>
          </a:prstGeom>
          <a:solidFill>
            <a:schemeClr val="accent1">
              <a:alpha val="20000"/>
            </a:schemeClr>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77" name="History to learn from icon" descr="History to learn from"/>
          <p:cNvPicPr/>
          <p:nvPr/>
        </p:nvPicPr>
        <p:blipFill>
          <a:blip r:embed="rId3"/>
          <a:stretch/>
        </p:blipFill>
        <p:spPr>
          <a:xfrm>
            <a:off x="654120" y="5600880"/>
            <a:ext cx="227880" cy="227880"/>
          </a:xfrm>
          <a:prstGeom prst="rect">
            <a:avLst/>
          </a:prstGeom>
          <a:noFill/>
          <a:ln w="0">
            <a:noFill/>
          </a:ln>
        </p:spPr>
      </p:pic>
      <p:sp>
        <p:nvSpPr>
          <p:cNvPr id="78" name="History to learn from title"/>
          <p:cNvSpPr/>
          <p:nvPr/>
        </p:nvSpPr>
        <p:spPr>
          <a:xfrm>
            <a:off x="1143000" y="5459040"/>
            <a:ext cx="448020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Arial"/>
                <a:ea typeface="Arial"/>
              </a:rPr>
              <a:t>History to learn from</a:t>
            </a:r>
            <a:endParaRPr lang="en-US" sz="1300" b="0" u="none" strike="noStrike">
              <a:solidFill>
                <a:srgbClr val="000000"/>
              </a:solidFill>
              <a:effectLst/>
              <a:uFillTx/>
              <a:latin typeface="Arial"/>
            </a:endParaRPr>
          </a:p>
        </p:txBody>
      </p:sp>
      <p:sp>
        <p:nvSpPr>
          <p:cNvPr id="79" name="History to learn from line"/>
          <p:cNvSpPr/>
          <p:nvPr/>
        </p:nvSpPr>
        <p:spPr>
          <a:xfrm>
            <a:off x="1143000" y="5724000"/>
            <a:ext cx="448020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2"/>
                </a:solidFill>
                <a:effectLst/>
                <a:uFillTx/>
                <a:latin typeface="Calibri"/>
              </a:rPr>
              <a:t>A year of typical-weekday data makes prediction possible</a:t>
            </a:r>
            <a:endParaRPr lang="en-US" sz="1250" b="0" u="none" strike="noStrike">
              <a:solidFill>
                <a:srgbClr val="000000"/>
              </a:solidFill>
              <a:effectLst/>
              <a:uFillTx/>
              <a:latin typeface="Arial"/>
            </a:endParaRPr>
          </a:p>
        </p:txBody>
      </p:sp>
      <p:sp>
        <p:nvSpPr>
          <p:cNvPr id="80" name="Architecture label"/>
          <p:cNvSpPr/>
          <p:nvPr/>
        </p:nvSpPr>
        <p:spPr>
          <a:xfrm>
            <a:off x="6336720" y="3794760"/>
            <a:ext cx="53060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51" strike="noStrike">
                <a:solidFill>
                  <a:schemeClr val="accent6"/>
                </a:solidFill>
                <a:effectLst/>
                <a:uFillTx/>
                <a:latin typeface="Arial"/>
                <a:ea typeface="Arial"/>
              </a:rPr>
              <a:t>WHAT IT CHANGED IN THE ARCHITECTURE</a:t>
            </a:r>
            <a:endParaRPr lang="en-US" sz="1100" b="0" u="none" strike="noStrike">
              <a:solidFill>
                <a:srgbClr val="000000"/>
              </a:solidFill>
              <a:effectLst/>
              <a:uFillTx/>
              <a:latin typeface="Arial"/>
            </a:endParaRPr>
          </a:p>
        </p:txBody>
      </p:sp>
      <p:sp>
        <p:nvSpPr>
          <p:cNvPr id="81" name="Architecture card"/>
          <p:cNvSpPr/>
          <p:nvPr/>
        </p:nvSpPr>
        <p:spPr>
          <a:xfrm>
            <a:off x="6336720" y="4142160"/>
            <a:ext cx="5306040" cy="1919880"/>
          </a:xfrm>
          <a:prstGeom prst="roundRect">
            <a:avLst>
              <a:gd name="adj" fmla="val 3810"/>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2" name="Change 1 from"/>
          <p:cNvSpPr/>
          <p:nvPr/>
        </p:nvSpPr>
        <p:spPr>
          <a:xfrm>
            <a:off x="6565320" y="4251960"/>
            <a:ext cx="23313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accent4"/>
                </a:solidFill>
                <a:effectLst/>
                <a:uFillTx/>
                <a:latin typeface="Calibri"/>
              </a:rPr>
              <a:t>Edge controller per intersection</a:t>
            </a:r>
            <a:endParaRPr lang="en-US" sz="1250" b="0" u="none" strike="noStrike">
              <a:solidFill>
                <a:srgbClr val="000000"/>
              </a:solidFill>
              <a:effectLst/>
              <a:uFillTx/>
              <a:latin typeface="Arial"/>
            </a:endParaRPr>
          </a:p>
        </p:txBody>
      </p:sp>
      <p:sp>
        <p:nvSpPr>
          <p:cNvPr id="83" name="Change 1 arrow"/>
          <p:cNvSpPr/>
          <p:nvPr/>
        </p:nvSpPr>
        <p:spPr>
          <a:xfrm>
            <a:off x="8942760" y="4407120"/>
            <a:ext cx="320040" cy="360"/>
          </a:xfrm>
          <a:prstGeom prst="line">
            <a:avLst/>
          </a:prstGeom>
          <a:ln w="22225">
            <a:solidFill>
              <a:srgbClr val="F2A03D"/>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84" name="Change 1 to"/>
          <p:cNvSpPr/>
          <p:nvPr/>
        </p:nvSpPr>
        <p:spPr>
          <a:xfrm>
            <a:off x="9354240" y="4251960"/>
            <a:ext cx="21056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Calibri"/>
              </a:rPr>
              <a:t>Adapter per city</a:t>
            </a:r>
            <a:endParaRPr lang="en-US" sz="1300" b="0" u="none" strike="noStrike">
              <a:solidFill>
                <a:srgbClr val="000000"/>
              </a:solidFill>
              <a:effectLst/>
              <a:uFillTx/>
              <a:latin typeface="Arial"/>
            </a:endParaRPr>
          </a:p>
        </p:txBody>
      </p:sp>
      <p:sp>
        <p:nvSpPr>
          <p:cNvPr id="85" name="Change 2 from"/>
          <p:cNvSpPr/>
          <p:nvPr/>
        </p:nvSpPr>
        <p:spPr>
          <a:xfrm>
            <a:off x="6565320" y="4590360"/>
            <a:ext cx="23313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accent4"/>
                </a:solidFill>
                <a:effectLst/>
                <a:uFillTx/>
                <a:latin typeface="Calibri"/>
              </a:rPr>
              <a:t>CoAP + MQTT</a:t>
            </a:r>
            <a:endParaRPr lang="en-US" sz="1250" b="0" u="none" strike="noStrike">
              <a:solidFill>
                <a:srgbClr val="000000"/>
              </a:solidFill>
              <a:effectLst/>
              <a:uFillTx/>
              <a:latin typeface="Arial"/>
            </a:endParaRPr>
          </a:p>
        </p:txBody>
      </p:sp>
      <p:sp>
        <p:nvSpPr>
          <p:cNvPr id="86" name="Change 2 arrow"/>
          <p:cNvSpPr/>
          <p:nvPr/>
        </p:nvSpPr>
        <p:spPr>
          <a:xfrm>
            <a:off x="8942760" y="4745520"/>
            <a:ext cx="320040" cy="360"/>
          </a:xfrm>
          <a:prstGeom prst="line">
            <a:avLst/>
          </a:prstGeom>
          <a:ln w="22225">
            <a:solidFill>
              <a:srgbClr val="F2A03D"/>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87" name="Change 2 to"/>
          <p:cNvSpPr/>
          <p:nvPr/>
        </p:nvSpPr>
        <p:spPr>
          <a:xfrm>
            <a:off x="9354240" y="4590360"/>
            <a:ext cx="21056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Calibri"/>
              </a:rPr>
              <a:t>MQTT only</a:t>
            </a:r>
            <a:endParaRPr lang="en-US" sz="1300" b="0" u="none" strike="noStrike">
              <a:solidFill>
                <a:srgbClr val="000000"/>
              </a:solidFill>
              <a:effectLst/>
              <a:uFillTx/>
              <a:latin typeface="Arial"/>
            </a:endParaRPr>
          </a:p>
        </p:txBody>
      </p:sp>
      <p:sp>
        <p:nvSpPr>
          <p:cNvPr id="88" name="Change 3 from"/>
          <p:cNvSpPr/>
          <p:nvPr/>
        </p:nvSpPr>
        <p:spPr>
          <a:xfrm>
            <a:off x="6565320" y="4928760"/>
            <a:ext cx="23313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accent4"/>
                </a:solidFill>
                <a:effectLst/>
                <a:uFillTx/>
                <a:latin typeface="Calibri"/>
              </a:rPr>
              <a:t>Signal plans</a:t>
            </a:r>
            <a:endParaRPr lang="en-US" sz="1250" b="0" u="none" strike="noStrike">
              <a:solidFill>
                <a:srgbClr val="000000"/>
              </a:solidFill>
              <a:effectLst/>
              <a:uFillTx/>
              <a:latin typeface="Arial"/>
            </a:endParaRPr>
          </a:p>
        </p:txBody>
      </p:sp>
      <p:sp>
        <p:nvSpPr>
          <p:cNvPr id="89" name="Change 3 arrow"/>
          <p:cNvSpPr/>
          <p:nvPr/>
        </p:nvSpPr>
        <p:spPr>
          <a:xfrm>
            <a:off x="8942760" y="5083920"/>
            <a:ext cx="320040" cy="360"/>
          </a:xfrm>
          <a:prstGeom prst="line">
            <a:avLst/>
          </a:prstGeom>
          <a:ln w="22225">
            <a:solidFill>
              <a:srgbClr val="F2A03D"/>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90" name="Change 3 to"/>
          <p:cNvSpPr/>
          <p:nvPr/>
        </p:nvSpPr>
        <p:spPr>
          <a:xfrm>
            <a:off x="9354240" y="4928760"/>
            <a:ext cx="21056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Calibri"/>
              </a:rPr>
              <a:t>Congestion state + forecasts</a:t>
            </a:r>
            <a:endParaRPr lang="en-US" sz="1300" b="0" u="none" strike="noStrike">
              <a:solidFill>
                <a:srgbClr val="000000"/>
              </a:solidFill>
              <a:effectLst/>
              <a:uFillTx/>
              <a:latin typeface="Arial"/>
            </a:endParaRPr>
          </a:p>
        </p:txBody>
      </p:sp>
      <p:sp>
        <p:nvSpPr>
          <p:cNvPr id="91" name="Change 4 from"/>
          <p:cNvSpPr/>
          <p:nvPr/>
        </p:nvSpPr>
        <p:spPr>
          <a:xfrm>
            <a:off x="6565320" y="5266800"/>
            <a:ext cx="23313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accent4"/>
                </a:solidFill>
                <a:effectLst/>
                <a:uFillTx/>
                <a:latin typeface="Calibri"/>
              </a:rPr>
              <a:t>Node.js or ASP.NET?</a:t>
            </a:r>
            <a:endParaRPr lang="en-US" sz="1250" b="0" u="none" strike="noStrike">
              <a:solidFill>
                <a:srgbClr val="000000"/>
              </a:solidFill>
              <a:effectLst/>
              <a:uFillTx/>
              <a:latin typeface="Arial"/>
            </a:endParaRPr>
          </a:p>
        </p:txBody>
      </p:sp>
      <p:sp>
        <p:nvSpPr>
          <p:cNvPr id="92" name="Change 4 arrow"/>
          <p:cNvSpPr/>
          <p:nvPr/>
        </p:nvSpPr>
        <p:spPr>
          <a:xfrm>
            <a:off x="8942760" y="5422320"/>
            <a:ext cx="320040" cy="360"/>
          </a:xfrm>
          <a:prstGeom prst="line">
            <a:avLst/>
          </a:prstGeom>
          <a:ln w="22225">
            <a:solidFill>
              <a:srgbClr val="F2A03D"/>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93" name="Change 4 to"/>
          <p:cNvSpPr/>
          <p:nvPr/>
        </p:nvSpPr>
        <p:spPr>
          <a:xfrm>
            <a:off x="9354240" y="5266800"/>
            <a:ext cx="21056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Calibri"/>
              </a:rPr>
              <a:t>Node.js + TypeScript</a:t>
            </a:r>
            <a:endParaRPr lang="en-US" sz="1300" b="0" u="none" strike="noStrike">
              <a:solidFill>
                <a:srgbClr val="000000"/>
              </a:solidFill>
              <a:effectLst/>
              <a:uFillTx/>
              <a:latin typeface="Arial"/>
            </a:endParaRPr>
          </a:p>
        </p:txBody>
      </p:sp>
      <p:sp>
        <p:nvSpPr>
          <p:cNvPr id="94" name="Change 5 from"/>
          <p:cNvSpPr/>
          <p:nvPr/>
        </p:nvSpPr>
        <p:spPr>
          <a:xfrm>
            <a:off x="6565320" y="5605200"/>
            <a:ext cx="23313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accent4"/>
                </a:solidFill>
                <a:effectLst/>
                <a:uFillTx/>
                <a:latin typeface="Calibri"/>
              </a:rPr>
              <a:t>Time-series DB?</a:t>
            </a:r>
            <a:endParaRPr lang="en-US" sz="1250" b="0" u="none" strike="noStrike">
              <a:solidFill>
                <a:srgbClr val="000000"/>
              </a:solidFill>
              <a:effectLst/>
              <a:uFillTx/>
              <a:latin typeface="Arial"/>
            </a:endParaRPr>
          </a:p>
        </p:txBody>
      </p:sp>
      <p:sp>
        <p:nvSpPr>
          <p:cNvPr id="95" name="Change 5 arrow"/>
          <p:cNvSpPr/>
          <p:nvPr/>
        </p:nvSpPr>
        <p:spPr>
          <a:xfrm>
            <a:off x="8942760" y="5760720"/>
            <a:ext cx="320040" cy="360"/>
          </a:xfrm>
          <a:prstGeom prst="line">
            <a:avLst/>
          </a:prstGeom>
          <a:ln w="22225">
            <a:solidFill>
              <a:srgbClr val="F2A03D"/>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96" name="Change 5 to"/>
          <p:cNvSpPr/>
          <p:nvPr/>
        </p:nvSpPr>
        <p:spPr>
          <a:xfrm>
            <a:off x="9354240" y="5605200"/>
            <a:ext cx="21056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Calibri"/>
              </a:rPr>
              <a:t>PostgreSQL</a:t>
            </a:r>
            <a:endParaRPr lang="en-US" sz="1300" b="0" u="none" strike="noStrike">
              <a:solidFill>
                <a:srgbClr val="000000"/>
              </a:solidFill>
              <a:effectLst/>
              <a:uFillTx/>
              <a:latin typeface="Arial"/>
            </a:endParaRPr>
          </a:p>
        </p:txBody>
      </p:sp>
      <p:sp>
        <p:nvSpPr>
          <p:cNvPr id="97" name="PlaceHolder 3"/>
          <p:cNvSpPr>
            <a:spLocks noGrp="1"/>
          </p:cNvSpPr>
          <p:nvPr>
            <p:ph type="sldNum" idx="6"/>
          </p:nvPr>
        </p:nvSpPr>
        <p:spPr>
          <a:xfrm>
            <a:off x="11185920" y="6382440"/>
            <a:ext cx="456840" cy="25560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4"/>
                </a:solidFill>
                <a:effectLst/>
                <a:uFillTx/>
                <a:latin typeface="Calibri"/>
              </a:defRPr>
            </a:lvl1pPr>
          </a:lstStyle>
          <a:p>
            <a:pPr indent="0" algn="r" defTabSz="914400">
              <a:lnSpc>
                <a:spcPct val="100000"/>
              </a:lnSpc>
              <a:buNone/>
            </a:pPr>
            <a:fld id="{0B8925DF-747E-423C-BC57-D1638CAA6660}" type="slidenum">
              <a:rPr lang="en-US" sz="1000" b="0" u="none" strike="noStrike">
                <a:solidFill>
                  <a:schemeClr val="accent4"/>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hasCustomPrompt="1"/>
          </p:nvPr>
        </p:nvSpPr>
        <p:spPr>
          <a:xfrm>
            <a:off x="548640" y="640080"/>
            <a:ext cx="8686440" cy="310680"/>
          </a:xfrm>
          <a:prstGeom prst="rect">
            <a:avLst/>
          </a:prstGeom>
          <a:noFill/>
          <a:ln w="0">
            <a:noFill/>
          </a:ln>
        </p:spPr>
        <p:txBody>
          <a:bodyPr lIns="0" tIns="0" rIns="0" bIns="0" anchor="ctr">
            <a:noAutofit/>
          </a:bodyPr>
          <a:p>
            <a:pPr indent="0" algn="l" defTabSz="914400">
              <a:lnSpc>
                <a:spcPct val="100000"/>
              </a:lnSpc>
              <a:spcBef>
                <a:spcPts val="241"/>
              </a:spcBef>
              <a:buNone/>
              <a:tabLst>
                <a:tab pos="0" algn="l"/>
              </a:tabLst>
            </a:pPr>
            <a:r>
              <a:rPr lang="en-US" sz="1200" b="1" u="none" spc="51" strike="noStrike">
                <a:solidFill>
                  <a:schemeClr val="accent6"/>
                </a:solidFill>
                <a:effectLst/>
                <a:uFillTx/>
                <a:latin typeface="Arial"/>
                <a:ea typeface="Arial"/>
              </a:rPr>
              <a:t>02  ·  STATUS</a:t>
            </a:r>
            <a:endParaRPr lang="en-US" sz="1200" b="0" u="none" strike="noStrike">
              <a:solidFill>
                <a:schemeClr val="dk1"/>
              </a:solidFill>
              <a:effectLst/>
              <a:uFillTx/>
              <a:latin typeface="Calibri"/>
            </a:endParaRPr>
          </a:p>
        </p:txBody>
      </p:sp>
      <p:sp>
        <p:nvSpPr>
          <p:cNvPr id="99" name="PlaceHolder 2"/>
          <p:cNvSpPr>
            <a:spLocks noGrp="1"/>
          </p:cNvSpPr>
          <p:nvPr>
            <p:ph type="title" hasCustomPrompt="1"/>
          </p:nvPr>
        </p:nvSpPr>
        <p:spPr>
          <a:xfrm>
            <a:off x="548640" y="951120"/>
            <a:ext cx="10606680" cy="65808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Where each block stands</a:t>
            </a:r>
            <a:endParaRPr lang="en-US" sz="3200" b="0" u="none" strike="noStrike">
              <a:solidFill>
                <a:schemeClr val="dk1"/>
              </a:solidFill>
              <a:effectLst/>
              <a:uFillTx/>
              <a:latin typeface="Calibri"/>
            </a:endParaRPr>
          </a:p>
        </p:txBody>
      </p:sp>
      <p:sp>
        <p:nvSpPr>
          <p:cNvPr id="100" name="Adapter card"/>
          <p:cNvSpPr/>
          <p:nvPr/>
        </p:nvSpPr>
        <p:spPr>
          <a:xfrm>
            <a:off x="548640" y="1783080"/>
            <a:ext cx="1737000" cy="2212560"/>
          </a:xfrm>
          <a:prstGeom prst="roundRect">
            <a:avLst>
              <a:gd name="adj" fmla="val 4211"/>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01" name="Adapter circle"/>
          <p:cNvSpPr/>
          <p:nvPr/>
        </p:nvSpPr>
        <p:spPr>
          <a:xfrm>
            <a:off x="694800" y="1938600"/>
            <a:ext cx="456840" cy="456840"/>
          </a:xfrm>
          <a:prstGeom prst="ellipse">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02" name="Adapter icon" descr="Adapter"/>
          <p:cNvPicPr/>
          <p:nvPr/>
        </p:nvPicPr>
        <p:blipFill>
          <a:blip r:embed="rId1"/>
          <a:stretch/>
        </p:blipFill>
        <p:spPr>
          <a:xfrm>
            <a:off x="804600" y="2048400"/>
            <a:ext cx="237240" cy="237240"/>
          </a:xfrm>
          <a:prstGeom prst="rect">
            <a:avLst/>
          </a:prstGeom>
          <a:noFill/>
          <a:ln w="0">
            <a:noFill/>
          </a:ln>
        </p:spPr>
      </p:pic>
      <p:sp>
        <p:nvSpPr>
          <p:cNvPr id="103" name="Adapter name"/>
          <p:cNvSpPr/>
          <p:nvPr/>
        </p:nvSpPr>
        <p:spPr>
          <a:xfrm>
            <a:off x="694800" y="2514600"/>
            <a:ext cx="144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Arial"/>
                <a:ea typeface="Arial"/>
              </a:rPr>
              <a:t>Adapter</a:t>
            </a:r>
            <a:endParaRPr lang="en-US" sz="1400" b="0" u="none" strike="noStrike">
              <a:solidFill>
                <a:srgbClr val="000000"/>
              </a:solidFill>
              <a:effectLst/>
              <a:uFillTx/>
              <a:latin typeface="Arial"/>
            </a:endParaRPr>
          </a:p>
        </p:txBody>
      </p:sp>
      <p:sp>
        <p:nvSpPr>
          <p:cNvPr id="104" name="Adapter role"/>
          <p:cNvSpPr/>
          <p:nvPr/>
        </p:nvSpPr>
        <p:spPr>
          <a:xfrm>
            <a:off x="694800" y="2834640"/>
            <a:ext cx="1444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dk2"/>
                </a:solidFill>
                <a:effectLst/>
                <a:uFillTx/>
                <a:latin typeface="Calibri"/>
              </a:rPr>
              <a:t>fetches TomTom data and publishes it</a:t>
            </a:r>
            <a:endParaRPr lang="en-US" sz="1250" b="0" u="none" strike="noStrike">
              <a:solidFill>
                <a:srgbClr val="000000"/>
              </a:solidFill>
              <a:effectLst/>
              <a:uFillTx/>
              <a:latin typeface="Arial"/>
            </a:endParaRPr>
          </a:p>
        </p:txBody>
      </p:sp>
      <p:sp>
        <p:nvSpPr>
          <p:cNvPr id="105" name="Adapter status"/>
          <p:cNvSpPr/>
          <p:nvPr/>
        </p:nvSpPr>
        <p:spPr>
          <a:xfrm>
            <a:off x="658440" y="3566160"/>
            <a:ext cx="1517400" cy="301320"/>
          </a:xfrm>
          <a:prstGeom prst="roundRect">
            <a:avLst>
              <a:gd name="adj" fmla="val 50000"/>
            </a:avLst>
          </a:prstGeom>
          <a:solidFill>
            <a:schemeClr val="accent4"/>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Arial"/>
                <a:ea typeface="Arial"/>
              </a:rPr>
              <a:t>Not implemented yet</a:t>
            </a:r>
            <a:endParaRPr lang="en-US" sz="1000" b="0" u="none" strike="noStrike">
              <a:solidFill>
                <a:srgbClr val="FFFFFF"/>
              </a:solidFill>
              <a:effectLst/>
              <a:uFillTx/>
              <a:latin typeface="Arial"/>
            </a:endParaRPr>
          </a:p>
        </p:txBody>
      </p:sp>
      <p:sp>
        <p:nvSpPr>
          <p:cNvPr id="106" name="MQTT broker card"/>
          <p:cNvSpPr/>
          <p:nvPr/>
        </p:nvSpPr>
        <p:spPr>
          <a:xfrm>
            <a:off x="2419920" y="1783080"/>
            <a:ext cx="1737000" cy="2212560"/>
          </a:xfrm>
          <a:prstGeom prst="roundRect">
            <a:avLst>
              <a:gd name="adj" fmla="val 4211"/>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07" name="MQTT broker circle"/>
          <p:cNvSpPr/>
          <p:nvPr/>
        </p:nvSpPr>
        <p:spPr>
          <a:xfrm>
            <a:off x="2566440" y="1938600"/>
            <a:ext cx="456840" cy="456840"/>
          </a:xfrm>
          <a:prstGeom prst="ellipse">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08" name="MQTT broker icon" descr="MQTT broker"/>
          <p:cNvPicPr/>
          <p:nvPr/>
        </p:nvPicPr>
        <p:blipFill>
          <a:blip r:embed="rId2"/>
          <a:stretch/>
        </p:blipFill>
        <p:spPr>
          <a:xfrm>
            <a:off x="2676240" y="2048400"/>
            <a:ext cx="237240" cy="237240"/>
          </a:xfrm>
          <a:prstGeom prst="rect">
            <a:avLst/>
          </a:prstGeom>
          <a:noFill/>
          <a:ln w="0">
            <a:noFill/>
          </a:ln>
        </p:spPr>
      </p:pic>
      <p:sp>
        <p:nvSpPr>
          <p:cNvPr id="109" name="MQTT broker name"/>
          <p:cNvSpPr/>
          <p:nvPr/>
        </p:nvSpPr>
        <p:spPr>
          <a:xfrm>
            <a:off x="2566440" y="2514600"/>
            <a:ext cx="144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Arial"/>
                <a:ea typeface="Arial"/>
              </a:rPr>
              <a:t>MQTT broker</a:t>
            </a:r>
            <a:endParaRPr lang="en-US" sz="1400" b="0" u="none" strike="noStrike">
              <a:solidFill>
                <a:srgbClr val="000000"/>
              </a:solidFill>
              <a:effectLst/>
              <a:uFillTx/>
              <a:latin typeface="Arial"/>
            </a:endParaRPr>
          </a:p>
        </p:txBody>
      </p:sp>
      <p:sp>
        <p:nvSpPr>
          <p:cNvPr id="110" name="MQTT broker role"/>
          <p:cNvSpPr/>
          <p:nvPr/>
        </p:nvSpPr>
        <p:spPr>
          <a:xfrm>
            <a:off x="2566440" y="2834640"/>
            <a:ext cx="1444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dk2"/>
                </a:solidFill>
                <a:effectLst/>
                <a:uFillTx/>
                <a:latin typeface="Calibri"/>
              </a:rPr>
              <a:t>passes messages between the parts</a:t>
            </a:r>
            <a:endParaRPr lang="en-US" sz="1250" b="0" u="none" strike="noStrike">
              <a:solidFill>
                <a:srgbClr val="000000"/>
              </a:solidFill>
              <a:effectLst/>
              <a:uFillTx/>
              <a:latin typeface="Arial"/>
            </a:endParaRPr>
          </a:p>
        </p:txBody>
      </p:sp>
      <p:sp>
        <p:nvSpPr>
          <p:cNvPr id="111" name="MQTT broker status"/>
          <p:cNvSpPr/>
          <p:nvPr/>
        </p:nvSpPr>
        <p:spPr>
          <a:xfrm>
            <a:off x="2529720" y="3566160"/>
            <a:ext cx="1517400" cy="301320"/>
          </a:xfrm>
          <a:prstGeom prst="roundRect">
            <a:avLst>
              <a:gd name="adj" fmla="val 50000"/>
            </a:avLst>
          </a:prstGeom>
          <a:solidFill>
            <a:schemeClr val="accent4"/>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Arial"/>
                <a:ea typeface="Arial"/>
              </a:rPr>
              <a:t>Not implemented yet</a:t>
            </a:r>
            <a:endParaRPr lang="en-US" sz="1000" b="0" u="none" strike="noStrike">
              <a:solidFill>
                <a:srgbClr val="FFFFFF"/>
              </a:solidFill>
              <a:effectLst/>
              <a:uFillTx/>
              <a:latin typeface="Arial"/>
            </a:endParaRPr>
          </a:p>
        </p:txBody>
      </p:sp>
      <p:sp>
        <p:nvSpPr>
          <p:cNvPr id="112" name="Backend card"/>
          <p:cNvSpPr/>
          <p:nvPr/>
        </p:nvSpPr>
        <p:spPr>
          <a:xfrm>
            <a:off x="4291560" y="1783080"/>
            <a:ext cx="1737000" cy="2212560"/>
          </a:xfrm>
          <a:prstGeom prst="roundRect">
            <a:avLst>
              <a:gd name="adj" fmla="val 4211"/>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13" name="Backend circle"/>
          <p:cNvSpPr/>
          <p:nvPr/>
        </p:nvSpPr>
        <p:spPr>
          <a:xfrm>
            <a:off x="4437720" y="1938600"/>
            <a:ext cx="456840" cy="456840"/>
          </a:xfrm>
          <a:prstGeom prst="ellipse">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14" name="Backend icon" descr="Backend"/>
          <p:cNvPicPr/>
          <p:nvPr/>
        </p:nvPicPr>
        <p:blipFill>
          <a:blip r:embed="rId3"/>
          <a:stretch/>
        </p:blipFill>
        <p:spPr>
          <a:xfrm>
            <a:off x="4547520" y="2048400"/>
            <a:ext cx="237240" cy="237240"/>
          </a:xfrm>
          <a:prstGeom prst="rect">
            <a:avLst/>
          </a:prstGeom>
          <a:noFill/>
          <a:ln w="0">
            <a:noFill/>
          </a:ln>
        </p:spPr>
      </p:pic>
      <p:sp>
        <p:nvSpPr>
          <p:cNvPr id="115" name="Backend name"/>
          <p:cNvSpPr/>
          <p:nvPr/>
        </p:nvSpPr>
        <p:spPr>
          <a:xfrm>
            <a:off x="4437720" y="2514600"/>
            <a:ext cx="144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Arial"/>
                <a:ea typeface="Arial"/>
              </a:rPr>
              <a:t>Backend</a:t>
            </a:r>
            <a:endParaRPr lang="en-US" sz="1400" b="0" u="none" strike="noStrike">
              <a:solidFill>
                <a:srgbClr val="000000"/>
              </a:solidFill>
              <a:effectLst/>
              <a:uFillTx/>
              <a:latin typeface="Arial"/>
            </a:endParaRPr>
          </a:p>
        </p:txBody>
      </p:sp>
      <p:sp>
        <p:nvSpPr>
          <p:cNvPr id="116" name="Backend role"/>
          <p:cNvSpPr/>
          <p:nvPr/>
        </p:nvSpPr>
        <p:spPr>
          <a:xfrm>
            <a:off x="4437720" y="2834640"/>
            <a:ext cx="1444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dk2"/>
                </a:solidFill>
                <a:effectLst/>
                <a:uFillTx/>
                <a:latin typeface="Calibri"/>
              </a:rPr>
              <a:t>works out congestion, keeps state and history</a:t>
            </a:r>
            <a:endParaRPr lang="en-US" sz="1250" b="0" u="none" strike="noStrike">
              <a:solidFill>
                <a:srgbClr val="000000"/>
              </a:solidFill>
              <a:effectLst/>
              <a:uFillTx/>
              <a:latin typeface="Arial"/>
            </a:endParaRPr>
          </a:p>
        </p:txBody>
      </p:sp>
      <p:sp>
        <p:nvSpPr>
          <p:cNvPr id="117" name="Backend status"/>
          <p:cNvSpPr/>
          <p:nvPr/>
        </p:nvSpPr>
        <p:spPr>
          <a:xfrm>
            <a:off x="4426200" y="3566160"/>
            <a:ext cx="1517400" cy="301320"/>
          </a:xfrm>
          <a:prstGeom prst="roundRect">
            <a:avLst>
              <a:gd name="adj" fmla="val 50000"/>
            </a:avLst>
          </a:prstGeom>
          <a:solidFill>
            <a:srgbClr val="E8A20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Arial"/>
                <a:ea typeface="Arial"/>
              </a:rPr>
              <a:t>Partly implemented </a:t>
            </a:r>
            <a:endParaRPr lang="en-US" sz="1000" b="0" u="none" strike="noStrike">
              <a:solidFill>
                <a:srgbClr val="000000"/>
              </a:solidFill>
              <a:effectLst/>
              <a:uFillTx/>
              <a:latin typeface="Arial"/>
            </a:endParaRPr>
          </a:p>
        </p:txBody>
      </p:sp>
      <p:sp>
        <p:nvSpPr>
          <p:cNvPr id="118" name="Database card"/>
          <p:cNvSpPr/>
          <p:nvPr/>
        </p:nvSpPr>
        <p:spPr>
          <a:xfrm>
            <a:off x="6162840" y="1783080"/>
            <a:ext cx="1737000" cy="2212560"/>
          </a:xfrm>
          <a:prstGeom prst="roundRect">
            <a:avLst>
              <a:gd name="adj" fmla="val 4211"/>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19" name="Database circle"/>
          <p:cNvSpPr/>
          <p:nvPr/>
        </p:nvSpPr>
        <p:spPr>
          <a:xfrm>
            <a:off x="6309000" y="1938600"/>
            <a:ext cx="456840" cy="456840"/>
          </a:xfrm>
          <a:prstGeom prst="ellipse">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20" name="Database icon" descr="Database"/>
          <p:cNvPicPr/>
          <p:nvPr/>
        </p:nvPicPr>
        <p:blipFill>
          <a:blip r:embed="rId4"/>
          <a:stretch/>
        </p:blipFill>
        <p:spPr>
          <a:xfrm>
            <a:off x="6418800" y="2048400"/>
            <a:ext cx="237240" cy="237240"/>
          </a:xfrm>
          <a:prstGeom prst="rect">
            <a:avLst/>
          </a:prstGeom>
          <a:noFill/>
          <a:ln w="0">
            <a:noFill/>
          </a:ln>
        </p:spPr>
      </p:pic>
      <p:sp>
        <p:nvSpPr>
          <p:cNvPr id="121" name="Database name"/>
          <p:cNvSpPr/>
          <p:nvPr/>
        </p:nvSpPr>
        <p:spPr>
          <a:xfrm>
            <a:off x="6309000" y="2514600"/>
            <a:ext cx="144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Arial"/>
                <a:ea typeface="Arial"/>
              </a:rPr>
              <a:t>Database</a:t>
            </a:r>
            <a:endParaRPr lang="en-US" sz="1400" b="0" u="none" strike="noStrike">
              <a:solidFill>
                <a:srgbClr val="000000"/>
              </a:solidFill>
              <a:effectLst/>
              <a:uFillTx/>
              <a:latin typeface="Arial"/>
            </a:endParaRPr>
          </a:p>
        </p:txBody>
      </p:sp>
      <p:sp>
        <p:nvSpPr>
          <p:cNvPr id="122" name="Database role"/>
          <p:cNvSpPr/>
          <p:nvPr/>
        </p:nvSpPr>
        <p:spPr>
          <a:xfrm>
            <a:off x="6309000" y="2834640"/>
            <a:ext cx="1444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dk2"/>
                </a:solidFill>
                <a:effectLst/>
                <a:uFillTx/>
                <a:latin typeface="Calibri"/>
              </a:rPr>
              <a:t>routes, road segments, a year of history</a:t>
            </a:r>
            <a:endParaRPr lang="en-US" sz="1250" b="0" u="none" strike="noStrike">
              <a:solidFill>
                <a:srgbClr val="000000"/>
              </a:solidFill>
              <a:effectLst/>
              <a:uFillTx/>
              <a:latin typeface="Arial"/>
            </a:endParaRPr>
          </a:p>
        </p:txBody>
      </p:sp>
      <p:sp>
        <p:nvSpPr>
          <p:cNvPr id="123" name="Database status"/>
          <p:cNvSpPr/>
          <p:nvPr/>
        </p:nvSpPr>
        <p:spPr>
          <a:xfrm>
            <a:off x="6272640" y="3566160"/>
            <a:ext cx="1517400" cy="301320"/>
          </a:xfrm>
          <a:prstGeom prst="roundRect">
            <a:avLst>
              <a:gd name="adj" fmla="val 50000"/>
            </a:avLst>
          </a:prstGeom>
          <a:solidFill>
            <a:schemeClr val="accent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dk1"/>
                </a:solidFill>
                <a:effectLst/>
                <a:uFillTx/>
                <a:latin typeface="Arial"/>
                <a:ea typeface="Arial"/>
              </a:rPr>
              <a:t>Working</a:t>
            </a:r>
            <a:endParaRPr lang="en-US" sz="1000" b="0" u="none" strike="noStrike">
              <a:solidFill>
                <a:srgbClr val="000000"/>
              </a:solidFill>
              <a:effectLst/>
              <a:uFillTx/>
              <a:latin typeface="Arial"/>
            </a:endParaRPr>
          </a:p>
        </p:txBody>
      </p:sp>
      <p:sp>
        <p:nvSpPr>
          <p:cNvPr id="124" name="Frontend card"/>
          <p:cNvSpPr/>
          <p:nvPr/>
        </p:nvSpPr>
        <p:spPr>
          <a:xfrm>
            <a:off x="8034120" y="1783080"/>
            <a:ext cx="1737000" cy="2212560"/>
          </a:xfrm>
          <a:prstGeom prst="roundRect">
            <a:avLst>
              <a:gd name="adj" fmla="val 4211"/>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5" name="Frontend circle"/>
          <p:cNvSpPr/>
          <p:nvPr/>
        </p:nvSpPr>
        <p:spPr>
          <a:xfrm>
            <a:off x="8180640" y="1938600"/>
            <a:ext cx="456840" cy="456840"/>
          </a:xfrm>
          <a:prstGeom prst="ellipse">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26" name="Frontend icon" descr="Frontend"/>
          <p:cNvPicPr/>
          <p:nvPr/>
        </p:nvPicPr>
        <p:blipFill>
          <a:blip r:embed="rId5"/>
          <a:stretch/>
        </p:blipFill>
        <p:spPr>
          <a:xfrm>
            <a:off x="8290440" y="2048400"/>
            <a:ext cx="237240" cy="237240"/>
          </a:xfrm>
          <a:prstGeom prst="rect">
            <a:avLst/>
          </a:prstGeom>
          <a:noFill/>
          <a:ln w="0">
            <a:noFill/>
          </a:ln>
        </p:spPr>
      </p:pic>
      <p:sp>
        <p:nvSpPr>
          <p:cNvPr id="127" name="Frontend name"/>
          <p:cNvSpPr/>
          <p:nvPr/>
        </p:nvSpPr>
        <p:spPr>
          <a:xfrm>
            <a:off x="8180640" y="2514600"/>
            <a:ext cx="144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Arial"/>
                <a:ea typeface="Arial"/>
              </a:rPr>
              <a:t>Frontend</a:t>
            </a:r>
            <a:endParaRPr lang="en-US" sz="1400" b="0" u="none" strike="noStrike">
              <a:solidFill>
                <a:srgbClr val="000000"/>
              </a:solidFill>
              <a:effectLst/>
              <a:uFillTx/>
              <a:latin typeface="Arial"/>
            </a:endParaRPr>
          </a:p>
        </p:txBody>
      </p:sp>
      <p:sp>
        <p:nvSpPr>
          <p:cNvPr id="128" name="Frontend role"/>
          <p:cNvSpPr/>
          <p:nvPr/>
        </p:nvSpPr>
        <p:spPr>
          <a:xfrm>
            <a:off x="8180640" y="2834640"/>
            <a:ext cx="1444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dk2"/>
                </a:solidFill>
                <a:effectLst/>
                <a:uFillTx/>
                <a:latin typeface="Calibri"/>
              </a:rPr>
              <a:t>login, live map, history page</a:t>
            </a:r>
            <a:endParaRPr lang="en-US" sz="1250" b="0" u="none" strike="noStrike">
              <a:solidFill>
                <a:srgbClr val="000000"/>
              </a:solidFill>
              <a:effectLst/>
              <a:uFillTx/>
              <a:latin typeface="Arial"/>
            </a:endParaRPr>
          </a:p>
        </p:txBody>
      </p:sp>
      <p:sp>
        <p:nvSpPr>
          <p:cNvPr id="129" name="Frontend status"/>
          <p:cNvSpPr/>
          <p:nvPr/>
        </p:nvSpPr>
        <p:spPr>
          <a:xfrm>
            <a:off x="8143920" y="3566160"/>
            <a:ext cx="1517400" cy="301320"/>
          </a:xfrm>
          <a:prstGeom prst="roundRect">
            <a:avLst>
              <a:gd name="adj" fmla="val 50000"/>
            </a:avLst>
          </a:prstGeom>
          <a:solidFill>
            <a:schemeClr val="accent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dk1"/>
                </a:solidFill>
                <a:effectLst/>
                <a:uFillTx/>
                <a:latin typeface="Arial"/>
                <a:ea typeface="Arial"/>
              </a:rPr>
              <a:t>Working</a:t>
            </a:r>
            <a:endParaRPr lang="en-US" sz="1000" b="0" u="none" strike="noStrike">
              <a:solidFill>
                <a:srgbClr val="000000"/>
              </a:solidFill>
              <a:effectLst/>
              <a:uFillTx/>
              <a:latin typeface="Arial"/>
            </a:endParaRPr>
          </a:p>
        </p:txBody>
      </p:sp>
      <p:sp>
        <p:nvSpPr>
          <p:cNvPr id="130" name="Prediction card"/>
          <p:cNvSpPr/>
          <p:nvPr/>
        </p:nvSpPr>
        <p:spPr>
          <a:xfrm>
            <a:off x="9905760" y="1783080"/>
            <a:ext cx="1737000" cy="2212560"/>
          </a:xfrm>
          <a:prstGeom prst="roundRect">
            <a:avLst>
              <a:gd name="adj" fmla="val 4211"/>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1" name="Prediction circle"/>
          <p:cNvSpPr/>
          <p:nvPr/>
        </p:nvSpPr>
        <p:spPr>
          <a:xfrm>
            <a:off x="10051920" y="1938600"/>
            <a:ext cx="456840" cy="456840"/>
          </a:xfrm>
          <a:prstGeom prst="ellipse">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32" name="Prediction icon" descr="Prediction"/>
          <p:cNvPicPr/>
          <p:nvPr/>
        </p:nvPicPr>
        <p:blipFill>
          <a:blip r:embed="rId6"/>
          <a:stretch/>
        </p:blipFill>
        <p:spPr>
          <a:xfrm>
            <a:off x="10161720" y="2048400"/>
            <a:ext cx="237240" cy="237240"/>
          </a:xfrm>
          <a:prstGeom prst="rect">
            <a:avLst/>
          </a:prstGeom>
          <a:noFill/>
          <a:ln w="0">
            <a:noFill/>
          </a:ln>
        </p:spPr>
      </p:pic>
      <p:sp>
        <p:nvSpPr>
          <p:cNvPr id="133" name="Prediction name"/>
          <p:cNvSpPr/>
          <p:nvPr/>
        </p:nvSpPr>
        <p:spPr>
          <a:xfrm>
            <a:off x="10051920" y="2514600"/>
            <a:ext cx="14443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Arial"/>
                <a:ea typeface="Arial"/>
              </a:rPr>
              <a:t>Prediction</a:t>
            </a:r>
            <a:endParaRPr lang="en-US" sz="1400" b="0" u="none" strike="noStrike">
              <a:solidFill>
                <a:srgbClr val="000000"/>
              </a:solidFill>
              <a:effectLst/>
              <a:uFillTx/>
              <a:latin typeface="Arial"/>
            </a:endParaRPr>
          </a:p>
        </p:txBody>
      </p:sp>
      <p:sp>
        <p:nvSpPr>
          <p:cNvPr id="134" name="Prediction role"/>
          <p:cNvSpPr/>
          <p:nvPr/>
        </p:nvSpPr>
        <p:spPr>
          <a:xfrm>
            <a:off x="10051920" y="2834640"/>
            <a:ext cx="1444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dk2"/>
                </a:solidFill>
                <a:effectLst/>
                <a:uFillTx/>
                <a:latin typeface="Calibri"/>
              </a:rPr>
              <a:t>forecasts traffic from history</a:t>
            </a:r>
            <a:endParaRPr lang="en-US" sz="1250" b="0" u="none" strike="noStrike">
              <a:solidFill>
                <a:srgbClr val="000000"/>
              </a:solidFill>
              <a:effectLst/>
              <a:uFillTx/>
              <a:latin typeface="Arial"/>
            </a:endParaRPr>
          </a:p>
        </p:txBody>
      </p:sp>
      <p:sp>
        <p:nvSpPr>
          <p:cNvPr id="135" name="Prediction status"/>
          <p:cNvSpPr/>
          <p:nvPr/>
        </p:nvSpPr>
        <p:spPr>
          <a:xfrm>
            <a:off x="10015560" y="3566160"/>
            <a:ext cx="1517400" cy="301320"/>
          </a:xfrm>
          <a:prstGeom prst="roundRect">
            <a:avLst>
              <a:gd name="adj" fmla="val 50000"/>
            </a:avLst>
          </a:prstGeom>
          <a:solidFill>
            <a:schemeClr val="accent4"/>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lt1"/>
                </a:solidFill>
                <a:effectLst/>
                <a:uFillTx/>
                <a:latin typeface="Arial"/>
                <a:ea typeface="Arial"/>
              </a:rPr>
              <a:t>Not implemented yet</a:t>
            </a:r>
            <a:endParaRPr lang="en-US" sz="1000" b="0" u="none" strike="noStrike">
              <a:solidFill>
                <a:srgbClr val="FFFFFF"/>
              </a:solidFill>
              <a:effectLst/>
              <a:uFillTx/>
              <a:latin typeface="Arial"/>
            </a:endParaRPr>
          </a:p>
        </p:txBody>
      </p:sp>
      <p:sp>
        <p:nvSpPr>
          <p:cNvPr id="136" name="PoC panel"/>
          <p:cNvSpPr/>
          <p:nvPr/>
        </p:nvSpPr>
        <p:spPr>
          <a:xfrm>
            <a:off x="548640" y="4224600"/>
            <a:ext cx="11094120" cy="1810080"/>
          </a:xfrm>
          <a:prstGeom prst="roundRect">
            <a:avLst>
              <a:gd name="adj" fmla="val 4040"/>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37" name="PoC panel label"/>
          <p:cNvSpPr/>
          <p:nvPr/>
        </p:nvSpPr>
        <p:spPr>
          <a:xfrm>
            <a:off x="868680" y="4425840"/>
            <a:ext cx="54860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51" strike="noStrike">
                <a:solidFill>
                  <a:schemeClr val="accent1"/>
                </a:solidFill>
                <a:effectLst/>
                <a:uFillTx/>
                <a:latin typeface="Arial"/>
                <a:ea typeface="Arial"/>
              </a:rPr>
              <a:t>RUNNING TODAY: THE PROOF OF CONCEPT</a:t>
            </a:r>
            <a:endParaRPr lang="en-US" sz="1100" b="0" u="none" strike="noStrike">
              <a:solidFill>
                <a:srgbClr val="000000"/>
              </a:solidFill>
              <a:effectLst/>
              <a:uFillTx/>
              <a:latin typeface="Arial"/>
            </a:endParaRPr>
          </a:p>
        </p:txBody>
      </p:sp>
      <p:sp>
        <p:nvSpPr>
          <p:cNvPr id="138" name="Stat routes read live from TomTom number"/>
          <p:cNvSpPr/>
          <p:nvPr/>
        </p:nvSpPr>
        <p:spPr>
          <a:xfrm>
            <a:off x="868680" y="4727520"/>
            <a:ext cx="19198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chemeClr val="lt1"/>
                </a:solidFill>
                <a:effectLst/>
                <a:uFillTx/>
                <a:latin typeface="Arial"/>
                <a:ea typeface="Arial"/>
              </a:rPr>
              <a:t>13</a:t>
            </a:r>
            <a:endParaRPr lang="en-US" sz="3400" b="0" u="none" strike="noStrike">
              <a:solidFill>
                <a:srgbClr val="000000"/>
              </a:solidFill>
              <a:effectLst/>
              <a:uFillTx/>
              <a:latin typeface="Arial"/>
            </a:endParaRPr>
          </a:p>
        </p:txBody>
      </p:sp>
      <p:sp>
        <p:nvSpPr>
          <p:cNvPr id="139" name="Stat routes read live from TomTom"/>
          <p:cNvSpPr/>
          <p:nvPr/>
        </p:nvSpPr>
        <p:spPr>
          <a:xfrm>
            <a:off x="868680" y="5321880"/>
            <a:ext cx="18284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lt1">
                    <a:alpha val="75000"/>
                  </a:schemeClr>
                </a:solidFill>
                <a:effectLst/>
                <a:uFillTx/>
                <a:latin typeface="Calibri"/>
              </a:rPr>
              <a:t>routes read live from TomTom</a:t>
            </a:r>
            <a:endParaRPr lang="en-US" sz="1250" b="0" u="none" strike="noStrike">
              <a:solidFill>
                <a:srgbClr val="000000"/>
              </a:solidFill>
              <a:effectLst/>
              <a:uFillTx/>
              <a:latin typeface="Arial"/>
            </a:endParaRPr>
          </a:p>
        </p:txBody>
      </p:sp>
      <p:sp>
        <p:nvSpPr>
          <p:cNvPr id="140" name="Stat road segments on the map number"/>
          <p:cNvSpPr/>
          <p:nvPr/>
        </p:nvSpPr>
        <p:spPr>
          <a:xfrm>
            <a:off x="2971800" y="4727520"/>
            <a:ext cx="19198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chemeClr val="lt1"/>
                </a:solidFill>
                <a:effectLst/>
                <a:uFillTx/>
                <a:latin typeface="Arial"/>
                <a:ea typeface="Arial"/>
              </a:rPr>
              <a:t>1,079</a:t>
            </a:r>
            <a:endParaRPr lang="en-US" sz="3400" b="0" u="none" strike="noStrike">
              <a:solidFill>
                <a:srgbClr val="000000"/>
              </a:solidFill>
              <a:effectLst/>
              <a:uFillTx/>
              <a:latin typeface="Arial"/>
            </a:endParaRPr>
          </a:p>
        </p:txBody>
      </p:sp>
      <p:sp>
        <p:nvSpPr>
          <p:cNvPr id="141" name="Stat road segments on the map"/>
          <p:cNvSpPr/>
          <p:nvPr/>
        </p:nvSpPr>
        <p:spPr>
          <a:xfrm>
            <a:off x="2971800" y="5321880"/>
            <a:ext cx="18284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lt1">
                    <a:alpha val="75000"/>
                  </a:schemeClr>
                </a:solidFill>
                <a:effectLst/>
                <a:uFillTx/>
                <a:latin typeface="Calibri"/>
              </a:rPr>
              <a:t>road segments on the map</a:t>
            </a:r>
            <a:endParaRPr lang="en-US" sz="1250" b="0" u="none" strike="noStrike">
              <a:solidFill>
                <a:srgbClr val="000000"/>
              </a:solidFill>
              <a:effectLst/>
              <a:uFillTx/>
              <a:latin typeface="Arial"/>
            </a:endParaRPr>
          </a:p>
        </p:txBody>
      </p:sp>
      <p:sp>
        <p:nvSpPr>
          <p:cNvPr id="142" name="Stat weekdays averaged in the history page number"/>
          <p:cNvSpPr/>
          <p:nvPr/>
        </p:nvSpPr>
        <p:spPr>
          <a:xfrm>
            <a:off x="5074920" y="4727520"/>
            <a:ext cx="19198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chemeClr val="lt1"/>
                </a:solidFill>
                <a:effectLst/>
                <a:uFillTx/>
                <a:latin typeface="Arial"/>
                <a:ea typeface="Arial"/>
              </a:rPr>
              <a:t>199</a:t>
            </a:r>
            <a:endParaRPr lang="en-US" sz="3400" b="0" u="none" strike="noStrike">
              <a:solidFill>
                <a:srgbClr val="000000"/>
              </a:solidFill>
              <a:effectLst/>
              <a:uFillTx/>
              <a:latin typeface="Arial"/>
            </a:endParaRPr>
          </a:p>
        </p:txBody>
      </p:sp>
      <p:sp>
        <p:nvSpPr>
          <p:cNvPr id="143" name="Stat weekdays averaged in the history page"/>
          <p:cNvSpPr/>
          <p:nvPr/>
        </p:nvSpPr>
        <p:spPr>
          <a:xfrm>
            <a:off x="5074920" y="5321880"/>
            <a:ext cx="18284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lt1">
                    <a:alpha val="75000"/>
                  </a:schemeClr>
                </a:solidFill>
                <a:effectLst/>
                <a:uFillTx/>
                <a:latin typeface="Calibri"/>
              </a:rPr>
              <a:t>weekdays averaged in the history page</a:t>
            </a:r>
            <a:endParaRPr lang="en-US" sz="1250" b="0" u="none" strike="noStrike">
              <a:solidFill>
                <a:srgbClr val="000000"/>
              </a:solidFill>
              <a:effectLst/>
              <a:uFillTx/>
              <a:latin typeface="Arial"/>
            </a:endParaRPr>
          </a:p>
        </p:txBody>
      </p:sp>
      <p:sp>
        <p:nvSpPr>
          <p:cNvPr id="144" name="PoC description"/>
          <p:cNvSpPr/>
          <p:nvPr/>
        </p:nvSpPr>
        <p:spPr>
          <a:xfrm>
            <a:off x="7086600" y="4727520"/>
            <a:ext cx="4236120" cy="11426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lt1">
                    <a:alpha val="90000"/>
                  </a:schemeClr>
                </a:solidFill>
                <a:effectLst/>
                <a:uFillTx/>
                <a:latin typeface="Calibri"/>
              </a:rPr>
              <a:t>Today one Next.js app does it all: it reads TomTom directly, colours the map and shows the history page. It runs on Vercel. The new design splits it into the blocks above, with MQTT in between.</a:t>
            </a:r>
            <a:endParaRPr lang="en-US" sz="1300" b="0" u="none" strike="noStrike">
              <a:solidFill>
                <a:srgbClr val="000000"/>
              </a:solidFill>
              <a:effectLst/>
              <a:uFillTx/>
              <a:latin typeface="Arial"/>
            </a:endParaRPr>
          </a:p>
        </p:txBody>
      </p:sp>
      <p:sp>
        <p:nvSpPr>
          <p:cNvPr id="145" name="PlaceHolder 3"/>
          <p:cNvSpPr>
            <a:spLocks noGrp="1"/>
          </p:cNvSpPr>
          <p:nvPr>
            <p:ph type="sldNum" idx="7"/>
          </p:nvPr>
        </p:nvSpPr>
        <p:spPr>
          <a:xfrm>
            <a:off x="11185920" y="6382440"/>
            <a:ext cx="456840" cy="25560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4"/>
                </a:solidFill>
                <a:effectLst/>
                <a:uFillTx/>
                <a:latin typeface="Calibri"/>
              </a:defRPr>
            </a:lvl1pPr>
          </a:lstStyle>
          <a:p>
            <a:pPr indent="0" algn="r" defTabSz="914400">
              <a:lnSpc>
                <a:spcPct val="100000"/>
              </a:lnSpc>
              <a:buNone/>
            </a:pPr>
            <a:fld id="{C9413DE1-E69A-4100-B3F7-C52E758C4E53}" type="slidenum">
              <a:rPr lang="en-US" sz="1000" b="0" u="none" strike="noStrike">
                <a:solidFill>
                  <a:schemeClr val="accent4"/>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hasCustomPrompt="1"/>
          </p:nvPr>
        </p:nvSpPr>
        <p:spPr>
          <a:xfrm>
            <a:off x="548640" y="640080"/>
            <a:ext cx="8686440" cy="310680"/>
          </a:xfrm>
          <a:prstGeom prst="rect">
            <a:avLst/>
          </a:prstGeom>
          <a:noFill/>
          <a:ln w="0">
            <a:noFill/>
          </a:ln>
        </p:spPr>
        <p:txBody>
          <a:bodyPr lIns="0" tIns="0" rIns="0" bIns="0" anchor="ctr">
            <a:noAutofit/>
          </a:bodyPr>
          <a:p>
            <a:pPr indent="0" algn="l" defTabSz="914400">
              <a:lnSpc>
                <a:spcPct val="100000"/>
              </a:lnSpc>
              <a:spcBef>
                <a:spcPts val="241"/>
              </a:spcBef>
              <a:buNone/>
              <a:tabLst>
                <a:tab pos="0" algn="l"/>
              </a:tabLst>
            </a:pPr>
            <a:r>
              <a:rPr lang="en-US" sz="1200" b="1" u="none" spc="51" strike="noStrike">
                <a:solidFill>
                  <a:schemeClr val="accent6"/>
                </a:solidFill>
                <a:effectLst/>
                <a:uFillTx/>
                <a:latin typeface="Arial"/>
                <a:ea typeface="Arial"/>
              </a:rPr>
              <a:t>03  ·  SOFTWARE DESIGN  ·  C2</a:t>
            </a:r>
            <a:endParaRPr lang="en-US" sz="1200" b="0" u="none" strike="noStrike">
              <a:solidFill>
                <a:schemeClr val="dk1"/>
              </a:solidFill>
              <a:effectLst/>
              <a:uFillTx/>
              <a:latin typeface="Calibri"/>
            </a:endParaRPr>
          </a:p>
        </p:txBody>
      </p:sp>
      <p:sp>
        <p:nvSpPr>
          <p:cNvPr id="147" name="PlaceHolder 2"/>
          <p:cNvSpPr>
            <a:spLocks noGrp="1"/>
          </p:cNvSpPr>
          <p:nvPr>
            <p:ph type="title" hasCustomPrompt="1"/>
          </p:nvPr>
        </p:nvSpPr>
        <p:spPr>
          <a:xfrm>
            <a:off x="548640" y="951120"/>
            <a:ext cx="10606680" cy="65808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The new architecture at a glance</a:t>
            </a:r>
            <a:endParaRPr lang="en-US" sz="3200" b="0" u="none" strike="noStrike">
              <a:solidFill>
                <a:schemeClr val="dk1"/>
              </a:solidFill>
              <a:effectLst/>
              <a:uFillTx/>
              <a:latin typeface="Calibri"/>
            </a:endParaRPr>
          </a:p>
        </p:txBody>
      </p:sp>
      <p:sp>
        <p:nvSpPr>
          <p:cNvPr id="148" name="Docker Compose boundary"/>
          <p:cNvSpPr/>
          <p:nvPr/>
        </p:nvSpPr>
        <p:spPr>
          <a:xfrm>
            <a:off x="2880360" y="1691640"/>
            <a:ext cx="8762400" cy="4205880"/>
          </a:xfrm>
          <a:prstGeom prst="roundRect">
            <a:avLst>
              <a:gd name="adj" fmla="val 2609"/>
            </a:avLst>
          </a:prstGeom>
          <a:noFill/>
          <a:ln w="15875">
            <a:solidFill>
              <a:srgbClr val="5B7C99"/>
            </a:solidFill>
            <a:prstDash val="dash"/>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49" name="Compose label"/>
          <p:cNvSpPr/>
          <p:nvPr/>
        </p:nvSpPr>
        <p:spPr>
          <a:xfrm>
            <a:off x="3108960" y="1783080"/>
            <a:ext cx="3657240" cy="219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1" u="none" spc="51" strike="noStrike">
                <a:solidFill>
                  <a:schemeClr val="accent4"/>
                </a:solidFill>
                <a:effectLst/>
                <a:uFillTx/>
                <a:latin typeface="Arial"/>
                <a:ea typeface="Arial"/>
              </a:rPr>
              <a:t>DOCKER COMPOSE  ·  ONE MACHINE</a:t>
            </a:r>
            <a:endParaRPr lang="en-US" sz="1000" b="0" u="none" strike="noStrike">
              <a:solidFill>
                <a:srgbClr val="000000"/>
              </a:solidFill>
              <a:effectLst/>
              <a:uFillTx/>
              <a:latin typeface="Arial"/>
            </a:endParaRPr>
          </a:p>
        </p:txBody>
      </p:sp>
      <p:sp>
        <p:nvSpPr>
          <p:cNvPr id="150" name="TomTom API box"/>
          <p:cNvSpPr/>
          <p:nvPr/>
        </p:nvSpPr>
        <p:spPr>
          <a:xfrm>
            <a:off x="548640" y="2148840"/>
            <a:ext cx="1691280" cy="914040"/>
          </a:xfrm>
          <a:prstGeom prst="roundRect">
            <a:avLst>
              <a:gd name="adj" fmla="val 8000"/>
            </a:avLst>
          </a:prstGeom>
          <a:solidFill>
            <a:schemeClr val="bg1"/>
          </a:solidFill>
          <a:ln w="15875">
            <a:solidFill>
              <a:srgbClr val="5B7C99"/>
            </a:solidFill>
            <a:prstDash val="dash"/>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51" name="TomTom API name"/>
          <p:cNvSpPr/>
          <p:nvPr/>
        </p:nvSpPr>
        <p:spPr>
          <a:xfrm>
            <a:off x="685800" y="2267640"/>
            <a:ext cx="1416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chemeClr val="dk1"/>
                </a:solidFill>
                <a:effectLst/>
                <a:uFillTx/>
                <a:latin typeface="Arial"/>
                <a:ea typeface="Arial"/>
              </a:rPr>
              <a:t>TomTom API</a:t>
            </a:r>
            <a:endParaRPr lang="en-US" sz="1450" b="0" u="none" strike="noStrike">
              <a:solidFill>
                <a:srgbClr val="000000"/>
              </a:solidFill>
              <a:effectLst/>
              <a:uFillTx/>
              <a:latin typeface="Arial"/>
            </a:endParaRPr>
          </a:p>
        </p:txBody>
      </p:sp>
      <p:sp>
        <p:nvSpPr>
          <p:cNvPr id="152" name="TomTom API role"/>
          <p:cNvSpPr/>
          <p:nvPr/>
        </p:nvSpPr>
        <p:spPr>
          <a:xfrm>
            <a:off x="685800" y="2587680"/>
            <a:ext cx="141696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dk2"/>
                </a:solidFill>
                <a:effectLst/>
                <a:uFillTx/>
                <a:latin typeface="Calibri"/>
              </a:rPr>
              <a:t>live speeds, 13 roads</a:t>
            </a:r>
            <a:endParaRPr lang="en-US" sz="1200" b="0" u="none" strike="noStrike">
              <a:solidFill>
                <a:srgbClr val="000000"/>
              </a:solidFill>
              <a:effectLst/>
              <a:uFillTx/>
              <a:latin typeface="Arial"/>
            </a:endParaRPr>
          </a:p>
        </p:txBody>
      </p:sp>
      <p:sp>
        <p:nvSpPr>
          <p:cNvPr id="153" name="Adapter box"/>
          <p:cNvSpPr/>
          <p:nvPr/>
        </p:nvSpPr>
        <p:spPr>
          <a:xfrm>
            <a:off x="3108960" y="2148840"/>
            <a:ext cx="2011320" cy="914040"/>
          </a:xfrm>
          <a:prstGeom prst="roundRect">
            <a:avLst>
              <a:gd name="adj" fmla="val 8000"/>
            </a:avLst>
          </a:prstGeom>
          <a:solidFill>
            <a:schemeClr val="tx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54" name="Adapter name"/>
          <p:cNvSpPr/>
          <p:nvPr/>
        </p:nvSpPr>
        <p:spPr>
          <a:xfrm>
            <a:off x="3246120" y="2267640"/>
            <a:ext cx="1737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chemeClr val="lt1"/>
                </a:solidFill>
                <a:effectLst/>
                <a:uFillTx/>
                <a:latin typeface="Arial"/>
                <a:ea typeface="Arial"/>
              </a:rPr>
              <a:t>Adapter</a:t>
            </a:r>
            <a:endParaRPr lang="en-US" sz="1450" b="0" u="none" strike="noStrike">
              <a:solidFill>
                <a:srgbClr val="000000"/>
              </a:solidFill>
              <a:effectLst/>
              <a:uFillTx/>
              <a:latin typeface="Arial"/>
            </a:endParaRPr>
          </a:p>
        </p:txBody>
      </p:sp>
      <p:sp>
        <p:nvSpPr>
          <p:cNvPr id="155" name="Adapter role"/>
          <p:cNvSpPr/>
          <p:nvPr/>
        </p:nvSpPr>
        <p:spPr>
          <a:xfrm>
            <a:off x="3246120" y="2587680"/>
            <a:ext cx="17370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lt1">
                    <a:alpha val="75000"/>
                  </a:schemeClr>
                </a:solidFill>
                <a:effectLst/>
                <a:uFillTx/>
                <a:latin typeface="Calibri"/>
              </a:rPr>
              <a:t>one per city</a:t>
            </a:r>
            <a:endParaRPr lang="en-US" sz="1200" b="0" u="none" strike="noStrike">
              <a:solidFill>
                <a:srgbClr val="000000"/>
              </a:solidFill>
              <a:effectLst/>
              <a:uFillTx/>
              <a:latin typeface="Arial"/>
            </a:endParaRPr>
          </a:p>
        </p:txBody>
      </p:sp>
      <p:sp>
        <p:nvSpPr>
          <p:cNvPr id="156" name="MQTT broker box"/>
          <p:cNvSpPr/>
          <p:nvPr/>
        </p:nvSpPr>
        <p:spPr>
          <a:xfrm>
            <a:off x="5989320" y="2148840"/>
            <a:ext cx="2011320" cy="914040"/>
          </a:xfrm>
          <a:prstGeom prst="roundRect">
            <a:avLst>
              <a:gd name="adj" fmla="val 8000"/>
            </a:avLst>
          </a:prstGeom>
          <a:solidFill>
            <a:schemeClr val="bg1"/>
          </a:solidFill>
          <a:ln w="25400">
            <a:solidFill>
              <a:srgbClr val="F2A03D"/>
            </a:solidFill>
            <a:round/>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57" name="MQTT broker name"/>
          <p:cNvSpPr/>
          <p:nvPr/>
        </p:nvSpPr>
        <p:spPr>
          <a:xfrm>
            <a:off x="6126480" y="2267640"/>
            <a:ext cx="1737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chemeClr val="dk1"/>
                </a:solidFill>
                <a:effectLst/>
                <a:uFillTx/>
                <a:latin typeface="Arial"/>
                <a:ea typeface="Arial"/>
              </a:rPr>
              <a:t>MQTT broker</a:t>
            </a:r>
            <a:endParaRPr lang="en-US" sz="1450" b="0" u="none" strike="noStrike">
              <a:solidFill>
                <a:srgbClr val="000000"/>
              </a:solidFill>
              <a:effectLst/>
              <a:uFillTx/>
              <a:latin typeface="Arial"/>
            </a:endParaRPr>
          </a:p>
        </p:txBody>
      </p:sp>
      <p:sp>
        <p:nvSpPr>
          <p:cNvPr id="158" name="MQTT broker role"/>
          <p:cNvSpPr/>
          <p:nvPr/>
        </p:nvSpPr>
        <p:spPr>
          <a:xfrm>
            <a:off x="6126480" y="2587680"/>
            <a:ext cx="17370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dk2"/>
                </a:solidFill>
                <a:effectLst/>
                <a:uFillTx/>
                <a:latin typeface="Calibri"/>
              </a:rPr>
              <a:t>Mosquitto</a:t>
            </a:r>
            <a:endParaRPr lang="en-US" sz="1200" b="0" u="none" strike="noStrike">
              <a:solidFill>
                <a:srgbClr val="000000"/>
              </a:solidFill>
              <a:effectLst/>
              <a:uFillTx/>
              <a:latin typeface="Arial"/>
            </a:endParaRPr>
          </a:p>
        </p:txBody>
      </p:sp>
      <p:sp>
        <p:nvSpPr>
          <p:cNvPr id="159" name="Backend box"/>
          <p:cNvSpPr/>
          <p:nvPr/>
        </p:nvSpPr>
        <p:spPr>
          <a:xfrm>
            <a:off x="9372600" y="2148840"/>
            <a:ext cx="2011320" cy="914040"/>
          </a:xfrm>
          <a:prstGeom prst="roundRect">
            <a:avLst>
              <a:gd name="adj" fmla="val 8000"/>
            </a:avLst>
          </a:prstGeom>
          <a:solidFill>
            <a:schemeClr val="tx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60" name="Backend name"/>
          <p:cNvSpPr/>
          <p:nvPr/>
        </p:nvSpPr>
        <p:spPr>
          <a:xfrm>
            <a:off x="9509760" y="2267640"/>
            <a:ext cx="1737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chemeClr val="lt1"/>
                </a:solidFill>
                <a:effectLst/>
                <a:uFillTx/>
                <a:latin typeface="Arial"/>
                <a:ea typeface="Arial"/>
              </a:rPr>
              <a:t>Backend</a:t>
            </a:r>
            <a:endParaRPr lang="en-US" sz="1450" b="0" u="none" strike="noStrike">
              <a:solidFill>
                <a:srgbClr val="000000"/>
              </a:solidFill>
              <a:effectLst/>
              <a:uFillTx/>
              <a:latin typeface="Arial"/>
            </a:endParaRPr>
          </a:p>
        </p:txBody>
      </p:sp>
      <p:sp>
        <p:nvSpPr>
          <p:cNvPr id="161" name="Backend role"/>
          <p:cNvSpPr/>
          <p:nvPr/>
        </p:nvSpPr>
        <p:spPr>
          <a:xfrm>
            <a:off x="9509760" y="2587680"/>
            <a:ext cx="17370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lt1">
                    <a:alpha val="75000"/>
                  </a:schemeClr>
                </a:solidFill>
                <a:effectLst/>
                <a:uFillTx/>
                <a:latin typeface="Calibri"/>
              </a:rPr>
              <a:t>congestion, state, history</a:t>
            </a:r>
            <a:endParaRPr lang="en-US" sz="1200" b="0" u="none" strike="noStrike">
              <a:solidFill>
                <a:srgbClr val="000000"/>
              </a:solidFill>
              <a:effectLst/>
              <a:uFillTx/>
              <a:latin typeface="Arial"/>
            </a:endParaRPr>
          </a:p>
        </p:txBody>
      </p:sp>
      <p:sp>
        <p:nvSpPr>
          <p:cNvPr id="162" name="Browser box"/>
          <p:cNvSpPr/>
          <p:nvPr/>
        </p:nvSpPr>
        <p:spPr>
          <a:xfrm>
            <a:off x="548640" y="4526280"/>
            <a:ext cx="1691280" cy="914040"/>
          </a:xfrm>
          <a:prstGeom prst="roundRect">
            <a:avLst>
              <a:gd name="adj" fmla="val 8000"/>
            </a:avLst>
          </a:prstGeom>
          <a:solidFill>
            <a:schemeClr val="bg1"/>
          </a:solidFill>
          <a:ln w="15875">
            <a:solidFill>
              <a:srgbClr val="5B7C99"/>
            </a:solidFill>
            <a:prstDash val="dash"/>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3" name="Browser name"/>
          <p:cNvSpPr/>
          <p:nvPr/>
        </p:nvSpPr>
        <p:spPr>
          <a:xfrm>
            <a:off x="685800" y="4645080"/>
            <a:ext cx="1416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chemeClr val="dk1"/>
                </a:solidFill>
                <a:effectLst/>
                <a:uFillTx/>
                <a:latin typeface="Arial"/>
                <a:ea typeface="Arial"/>
              </a:rPr>
              <a:t>Browser</a:t>
            </a:r>
            <a:endParaRPr lang="en-US" sz="1450" b="0" u="none" strike="noStrike">
              <a:solidFill>
                <a:srgbClr val="000000"/>
              </a:solidFill>
              <a:effectLst/>
              <a:uFillTx/>
              <a:latin typeface="Arial"/>
            </a:endParaRPr>
          </a:p>
        </p:txBody>
      </p:sp>
      <p:sp>
        <p:nvSpPr>
          <p:cNvPr id="164" name="Browser role"/>
          <p:cNvSpPr/>
          <p:nvPr/>
        </p:nvSpPr>
        <p:spPr>
          <a:xfrm>
            <a:off x="685800" y="4965120"/>
            <a:ext cx="141696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dk2"/>
                </a:solidFill>
                <a:effectLst/>
                <a:uFillTx/>
                <a:latin typeface="Calibri"/>
              </a:rPr>
              <a:t>the live map</a:t>
            </a:r>
            <a:endParaRPr lang="en-US" sz="1200" b="0" u="none" strike="noStrike">
              <a:solidFill>
                <a:srgbClr val="000000"/>
              </a:solidFill>
              <a:effectLst/>
              <a:uFillTx/>
              <a:latin typeface="Arial"/>
            </a:endParaRPr>
          </a:p>
        </p:txBody>
      </p:sp>
      <p:sp>
        <p:nvSpPr>
          <p:cNvPr id="165" name="Frontend box"/>
          <p:cNvSpPr/>
          <p:nvPr/>
        </p:nvSpPr>
        <p:spPr>
          <a:xfrm>
            <a:off x="3108960" y="4526280"/>
            <a:ext cx="2011320" cy="914040"/>
          </a:xfrm>
          <a:prstGeom prst="roundRect">
            <a:avLst>
              <a:gd name="adj" fmla="val 8000"/>
            </a:avLst>
          </a:prstGeom>
          <a:solidFill>
            <a:schemeClr val="tx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66" name="Frontend name"/>
          <p:cNvSpPr/>
          <p:nvPr/>
        </p:nvSpPr>
        <p:spPr>
          <a:xfrm>
            <a:off x="3246120" y="4645080"/>
            <a:ext cx="1737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chemeClr val="lt1"/>
                </a:solidFill>
                <a:effectLst/>
                <a:uFillTx/>
                <a:latin typeface="Arial"/>
                <a:ea typeface="Arial"/>
              </a:rPr>
              <a:t>Frontend</a:t>
            </a:r>
            <a:endParaRPr lang="en-US" sz="1450" b="0" u="none" strike="noStrike">
              <a:solidFill>
                <a:srgbClr val="000000"/>
              </a:solidFill>
              <a:effectLst/>
              <a:uFillTx/>
              <a:latin typeface="Arial"/>
            </a:endParaRPr>
          </a:p>
        </p:txBody>
      </p:sp>
      <p:sp>
        <p:nvSpPr>
          <p:cNvPr id="167" name="Frontend role"/>
          <p:cNvSpPr/>
          <p:nvPr/>
        </p:nvSpPr>
        <p:spPr>
          <a:xfrm>
            <a:off x="3246120" y="4965120"/>
            <a:ext cx="17370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lt1">
                    <a:alpha val="75000"/>
                  </a:schemeClr>
                </a:solidFill>
                <a:effectLst/>
                <a:uFillTx/>
                <a:latin typeface="Calibri"/>
              </a:rPr>
              <a:t>Next.js web app</a:t>
            </a:r>
            <a:endParaRPr lang="en-US" sz="1200" b="0" u="none" strike="noStrike">
              <a:solidFill>
                <a:srgbClr val="000000"/>
              </a:solidFill>
              <a:effectLst/>
              <a:uFillTx/>
              <a:latin typeface="Arial"/>
            </a:endParaRPr>
          </a:p>
        </p:txBody>
      </p:sp>
      <p:sp>
        <p:nvSpPr>
          <p:cNvPr id="168" name="Database box"/>
          <p:cNvSpPr/>
          <p:nvPr/>
        </p:nvSpPr>
        <p:spPr>
          <a:xfrm>
            <a:off x="5989320" y="4526280"/>
            <a:ext cx="2011320" cy="914040"/>
          </a:xfrm>
          <a:prstGeom prst="roundRect">
            <a:avLst>
              <a:gd name="adj" fmla="val 8000"/>
            </a:avLst>
          </a:prstGeom>
          <a:solidFill>
            <a:schemeClr val="bg1"/>
          </a:solidFill>
          <a:ln w="25400">
            <a:solidFill>
              <a:srgbClr val="F2A03D"/>
            </a:solidFill>
            <a:round/>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9" name="Database name"/>
          <p:cNvSpPr/>
          <p:nvPr/>
        </p:nvSpPr>
        <p:spPr>
          <a:xfrm>
            <a:off x="6126480" y="4645080"/>
            <a:ext cx="1737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chemeClr val="dk1"/>
                </a:solidFill>
                <a:effectLst/>
                <a:uFillTx/>
                <a:latin typeface="Arial"/>
                <a:ea typeface="Arial"/>
              </a:rPr>
              <a:t>Database</a:t>
            </a:r>
            <a:endParaRPr lang="en-US" sz="1450" b="0" u="none" strike="noStrike">
              <a:solidFill>
                <a:srgbClr val="000000"/>
              </a:solidFill>
              <a:effectLst/>
              <a:uFillTx/>
              <a:latin typeface="Arial"/>
            </a:endParaRPr>
          </a:p>
        </p:txBody>
      </p:sp>
      <p:sp>
        <p:nvSpPr>
          <p:cNvPr id="170" name="Database role"/>
          <p:cNvSpPr/>
          <p:nvPr/>
        </p:nvSpPr>
        <p:spPr>
          <a:xfrm>
            <a:off x="6126480" y="4965120"/>
            <a:ext cx="17370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dk2"/>
                </a:solidFill>
                <a:effectLst/>
                <a:uFillTx/>
                <a:latin typeface="Calibri"/>
              </a:rPr>
              <a:t>PostgreSQL</a:t>
            </a:r>
            <a:endParaRPr lang="en-US" sz="1200" b="0" u="none" strike="noStrike">
              <a:solidFill>
                <a:srgbClr val="000000"/>
              </a:solidFill>
              <a:effectLst/>
              <a:uFillTx/>
              <a:latin typeface="Arial"/>
            </a:endParaRPr>
          </a:p>
        </p:txBody>
      </p:sp>
      <p:sp>
        <p:nvSpPr>
          <p:cNvPr id="171" name="Prediction box"/>
          <p:cNvSpPr/>
          <p:nvPr/>
        </p:nvSpPr>
        <p:spPr>
          <a:xfrm>
            <a:off x="9372600" y="4526280"/>
            <a:ext cx="2011320" cy="914040"/>
          </a:xfrm>
          <a:prstGeom prst="roundRect">
            <a:avLst>
              <a:gd name="adj" fmla="val 8000"/>
            </a:avLst>
          </a:prstGeom>
          <a:solidFill>
            <a:schemeClr val="bg1"/>
          </a:solidFill>
          <a:ln w="22225">
            <a:solidFill>
              <a:srgbClr val="0E1A26"/>
            </a:solidFill>
            <a:prstDash val="dash"/>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72" name="Prediction name"/>
          <p:cNvSpPr/>
          <p:nvPr/>
        </p:nvSpPr>
        <p:spPr>
          <a:xfrm>
            <a:off x="9509760" y="4645080"/>
            <a:ext cx="1737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chemeClr val="dk1"/>
                </a:solidFill>
                <a:effectLst/>
                <a:uFillTx/>
                <a:latin typeface="Arial"/>
                <a:ea typeface="Arial"/>
              </a:rPr>
              <a:t>Prediction</a:t>
            </a:r>
            <a:endParaRPr lang="en-US" sz="1450" b="0" u="none" strike="noStrike">
              <a:solidFill>
                <a:srgbClr val="000000"/>
              </a:solidFill>
              <a:effectLst/>
              <a:uFillTx/>
              <a:latin typeface="Arial"/>
            </a:endParaRPr>
          </a:p>
        </p:txBody>
      </p:sp>
      <p:sp>
        <p:nvSpPr>
          <p:cNvPr id="173" name="Prediction role"/>
          <p:cNvSpPr/>
          <p:nvPr/>
        </p:nvSpPr>
        <p:spPr>
          <a:xfrm>
            <a:off x="9509760" y="4965120"/>
            <a:ext cx="17370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dk2"/>
                </a:solidFill>
                <a:effectLst/>
                <a:uFillTx/>
                <a:latin typeface="Calibri"/>
              </a:rPr>
              <a:t>later: forecasts from history</a:t>
            </a:r>
            <a:endParaRPr lang="en-US" sz="1200" b="0" u="none" strike="noStrike">
              <a:solidFill>
                <a:srgbClr val="000000"/>
              </a:solidFill>
              <a:effectLst/>
              <a:uFillTx/>
              <a:latin typeface="Arial"/>
            </a:endParaRPr>
          </a:p>
        </p:txBody>
      </p:sp>
      <p:sp>
        <p:nvSpPr>
          <p:cNvPr id="174" name="TomTom to adapter"/>
          <p:cNvSpPr/>
          <p:nvPr/>
        </p:nvSpPr>
        <p:spPr>
          <a:xfrm>
            <a:off x="2276640" y="2606040"/>
            <a:ext cx="795600" cy="360"/>
          </a:xfrm>
          <a:prstGeom prst="line">
            <a:avLst/>
          </a:prstGeom>
          <a:ln w="19050">
            <a:solidFill>
              <a:srgbClr val="0E1A26"/>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75" name="TomTom to adapter protocol"/>
          <p:cNvSpPr/>
          <p:nvPr/>
        </p:nvSpPr>
        <p:spPr>
          <a:xfrm>
            <a:off x="2277000" y="2277000"/>
            <a:ext cx="566640" cy="22824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dk1"/>
                </a:solidFill>
                <a:effectLst/>
                <a:uFillTx/>
                <a:latin typeface="Arial"/>
                <a:ea typeface="Arial"/>
              </a:rPr>
              <a:t>HTTPS</a:t>
            </a:r>
            <a:endParaRPr lang="en-US" sz="950" b="0" u="none" strike="noStrike">
              <a:solidFill>
                <a:srgbClr val="000000"/>
              </a:solidFill>
              <a:effectLst/>
              <a:uFillTx/>
              <a:latin typeface="Arial"/>
            </a:endParaRPr>
          </a:p>
        </p:txBody>
      </p:sp>
      <p:sp>
        <p:nvSpPr>
          <p:cNvPr id="176" name="TomTom to adapter label"/>
          <p:cNvSpPr/>
          <p:nvPr/>
        </p:nvSpPr>
        <p:spPr>
          <a:xfrm>
            <a:off x="2240280" y="2679120"/>
            <a:ext cx="63972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chemeClr val="dk2"/>
                </a:solidFill>
                <a:effectLst/>
                <a:uFillTx/>
                <a:latin typeface="Calibri"/>
              </a:rPr>
              <a:t>every minute</a:t>
            </a:r>
            <a:endParaRPr lang="en-US" sz="1050" b="0" u="none" strike="noStrike">
              <a:solidFill>
                <a:srgbClr val="000000"/>
              </a:solidFill>
              <a:effectLst/>
              <a:uFillTx/>
              <a:latin typeface="Arial"/>
            </a:endParaRPr>
          </a:p>
        </p:txBody>
      </p:sp>
      <p:sp>
        <p:nvSpPr>
          <p:cNvPr id="177" name="Adapter to broker"/>
          <p:cNvSpPr/>
          <p:nvPr/>
        </p:nvSpPr>
        <p:spPr>
          <a:xfrm>
            <a:off x="5157000" y="2606040"/>
            <a:ext cx="795600" cy="360"/>
          </a:xfrm>
          <a:prstGeom prst="line">
            <a:avLst/>
          </a:prstGeom>
          <a:ln w="19050">
            <a:solidFill>
              <a:srgbClr val="0E1A26"/>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78" name="Adapter to broker protocol"/>
          <p:cNvSpPr/>
          <p:nvPr/>
        </p:nvSpPr>
        <p:spPr>
          <a:xfrm>
            <a:off x="5253120" y="2277000"/>
            <a:ext cx="603000" cy="22824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dk1"/>
                </a:solidFill>
                <a:effectLst/>
                <a:uFillTx/>
                <a:latin typeface="Arial"/>
                <a:ea typeface="Arial"/>
              </a:rPr>
              <a:t>MQTT</a:t>
            </a:r>
            <a:endParaRPr lang="en-US" sz="950" b="0" u="none" strike="noStrike">
              <a:solidFill>
                <a:srgbClr val="000000"/>
              </a:solidFill>
              <a:effectLst/>
              <a:uFillTx/>
              <a:latin typeface="Arial"/>
            </a:endParaRPr>
          </a:p>
        </p:txBody>
      </p:sp>
      <p:sp>
        <p:nvSpPr>
          <p:cNvPr id="179" name="Adapter to broker label"/>
          <p:cNvSpPr/>
          <p:nvPr/>
        </p:nvSpPr>
        <p:spPr>
          <a:xfrm>
            <a:off x="5120640" y="2679120"/>
            <a:ext cx="86832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chemeClr val="dk2"/>
                </a:solidFill>
                <a:effectLst/>
                <a:uFillTx/>
                <a:latin typeface="Calibri"/>
              </a:rPr>
              <a:t>readings</a:t>
            </a:r>
            <a:endParaRPr lang="en-US" sz="1050" b="0" u="none" strike="noStrike">
              <a:solidFill>
                <a:srgbClr val="000000"/>
              </a:solidFill>
              <a:effectLst/>
              <a:uFillTx/>
              <a:latin typeface="Arial"/>
            </a:endParaRPr>
          </a:p>
        </p:txBody>
      </p:sp>
      <p:sp>
        <p:nvSpPr>
          <p:cNvPr id="180" name="Broker and backend"/>
          <p:cNvSpPr/>
          <p:nvPr/>
        </p:nvSpPr>
        <p:spPr>
          <a:xfrm>
            <a:off x="8037360" y="2606040"/>
            <a:ext cx="1298520" cy="360"/>
          </a:xfrm>
          <a:prstGeom prst="line">
            <a:avLst/>
          </a:prstGeom>
          <a:ln w="19050">
            <a:solidFill>
              <a:srgbClr val="0E1A26"/>
            </a:solidFill>
            <a:round/>
            <a:headEnd len="med" type="triangle" w="me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81" name="Broker and backend protocol"/>
          <p:cNvSpPr/>
          <p:nvPr/>
        </p:nvSpPr>
        <p:spPr>
          <a:xfrm>
            <a:off x="8385120" y="2277000"/>
            <a:ext cx="603000" cy="22824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dk1"/>
                </a:solidFill>
                <a:effectLst/>
                <a:uFillTx/>
                <a:latin typeface="Arial"/>
                <a:ea typeface="Arial"/>
              </a:rPr>
              <a:t>MQTT</a:t>
            </a:r>
            <a:endParaRPr lang="en-US" sz="950" b="0" u="none" strike="noStrike">
              <a:solidFill>
                <a:srgbClr val="000000"/>
              </a:solidFill>
              <a:effectLst/>
              <a:uFillTx/>
              <a:latin typeface="Arial"/>
            </a:endParaRPr>
          </a:p>
        </p:txBody>
      </p:sp>
      <p:sp>
        <p:nvSpPr>
          <p:cNvPr id="182" name="Broker and backend label"/>
          <p:cNvSpPr/>
          <p:nvPr/>
        </p:nvSpPr>
        <p:spPr>
          <a:xfrm>
            <a:off x="8046720" y="2679120"/>
            <a:ext cx="127980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chemeClr val="dk2"/>
                </a:solidFill>
                <a:effectLst/>
                <a:uFillTx/>
                <a:latin typeface="Calibri"/>
              </a:rPr>
              <a:t>readings in, state out</a:t>
            </a:r>
            <a:endParaRPr lang="en-US" sz="1050" b="0" u="none" strike="noStrike">
              <a:solidFill>
                <a:srgbClr val="000000"/>
              </a:solidFill>
              <a:effectLst/>
              <a:uFillTx/>
              <a:latin typeface="Arial"/>
            </a:endParaRPr>
          </a:p>
        </p:txBody>
      </p:sp>
      <p:sp>
        <p:nvSpPr>
          <p:cNvPr id="183" name="Backend to database"/>
          <p:cNvSpPr/>
          <p:nvPr/>
        </p:nvSpPr>
        <p:spPr>
          <a:xfrm flipH="1">
            <a:off x="7772400" y="3099600"/>
            <a:ext cx="2057400" cy="1389960"/>
          </a:xfrm>
          <a:prstGeom prst="line">
            <a:avLst/>
          </a:prstGeom>
          <a:ln w="19050">
            <a:solidFill>
              <a:srgbClr val="0E1A26"/>
            </a:solidFill>
            <a:round/>
            <a:tailEnd len="med" type="triangle" w="me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84" name="Backend to database protocol"/>
          <p:cNvSpPr/>
          <p:nvPr/>
        </p:nvSpPr>
        <p:spPr>
          <a:xfrm>
            <a:off x="9253800" y="3566160"/>
            <a:ext cx="456840" cy="22824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dk1"/>
                </a:solidFill>
                <a:effectLst/>
                <a:uFillTx/>
                <a:latin typeface="Arial"/>
                <a:ea typeface="Arial"/>
              </a:rPr>
              <a:t>SQL</a:t>
            </a:r>
            <a:endParaRPr lang="en-US" sz="950" b="0" u="none" strike="noStrike">
              <a:solidFill>
                <a:srgbClr val="000000"/>
              </a:solidFill>
              <a:effectLst/>
              <a:uFillTx/>
              <a:latin typeface="Arial"/>
            </a:endParaRPr>
          </a:p>
        </p:txBody>
      </p:sp>
      <p:sp>
        <p:nvSpPr>
          <p:cNvPr id="185" name="Backend to database label"/>
          <p:cNvSpPr/>
          <p:nvPr/>
        </p:nvSpPr>
        <p:spPr>
          <a:xfrm>
            <a:off x="9802440" y="3557160"/>
            <a:ext cx="173700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chemeClr val="dk2"/>
                </a:solidFill>
                <a:effectLst/>
                <a:uFillTx/>
                <a:latin typeface="Calibri"/>
              </a:rPr>
              <a:t>saves state and history</a:t>
            </a:r>
            <a:endParaRPr lang="en-US" sz="1050" b="0" u="none" strike="noStrike">
              <a:solidFill>
                <a:srgbClr val="000000"/>
              </a:solidFill>
              <a:effectLst/>
              <a:uFillTx/>
              <a:latin typeface="Arial"/>
            </a:endParaRPr>
          </a:p>
        </p:txBody>
      </p:sp>
      <p:sp>
        <p:nvSpPr>
          <p:cNvPr id="186" name="Database to frontend"/>
          <p:cNvSpPr/>
          <p:nvPr/>
        </p:nvSpPr>
        <p:spPr>
          <a:xfrm flipH="1">
            <a:off x="5157000" y="4983480"/>
            <a:ext cx="795600" cy="360"/>
          </a:xfrm>
          <a:prstGeom prst="line">
            <a:avLst/>
          </a:prstGeom>
          <a:ln w="19050">
            <a:solidFill>
              <a:srgbClr val="0E1A26"/>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87" name="Database to frontend protocol"/>
          <p:cNvSpPr/>
          <p:nvPr/>
        </p:nvSpPr>
        <p:spPr>
          <a:xfrm>
            <a:off x="5326560" y="4654440"/>
            <a:ext cx="456840" cy="22824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dk1"/>
                </a:solidFill>
                <a:effectLst/>
                <a:uFillTx/>
                <a:latin typeface="Arial"/>
                <a:ea typeface="Arial"/>
              </a:rPr>
              <a:t>SQL</a:t>
            </a:r>
            <a:endParaRPr lang="en-US" sz="950" b="0" u="none" strike="noStrike">
              <a:solidFill>
                <a:srgbClr val="000000"/>
              </a:solidFill>
              <a:effectLst/>
              <a:uFillTx/>
              <a:latin typeface="Arial"/>
            </a:endParaRPr>
          </a:p>
        </p:txBody>
      </p:sp>
      <p:sp>
        <p:nvSpPr>
          <p:cNvPr id="188" name="Database to frontend label"/>
          <p:cNvSpPr/>
          <p:nvPr/>
        </p:nvSpPr>
        <p:spPr>
          <a:xfrm>
            <a:off x="5120640" y="5056560"/>
            <a:ext cx="86832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chemeClr val="dk2"/>
                </a:solidFill>
                <a:effectLst/>
                <a:uFillTx/>
                <a:latin typeface="Calibri"/>
              </a:rPr>
              <a:t>first paint</a:t>
            </a:r>
            <a:endParaRPr lang="en-US" sz="1050" b="0" u="none" strike="noStrike">
              <a:solidFill>
                <a:srgbClr val="000000"/>
              </a:solidFill>
              <a:effectLst/>
              <a:uFillTx/>
              <a:latin typeface="Arial"/>
            </a:endParaRPr>
          </a:p>
        </p:txBody>
      </p:sp>
      <p:sp>
        <p:nvSpPr>
          <p:cNvPr id="189" name="Frontend to browser"/>
          <p:cNvSpPr/>
          <p:nvPr/>
        </p:nvSpPr>
        <p:spPr>
          <a:xfrm flipH="1">
            <a:off x="2276640" y="4983480"/>
            <a:ext cx="795600" cy="360"/>
          </a:xfrm>
          <a:prstGeom prst="line">
            <a:avLst/>
          </a:prstGeom>
          <a:ln w="19050">
            <a:solidFill>
              <a:srgbClr val="0E1A26"/>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90" name="Frontend to browser protocol"/>
          <p:cNvSpPr/>
          <p:nvPr/>
        </p:nvSpPr>
        <p:spPr>
          <a:xfrm>
            <a:off x="2277000" y="4654440"/>
            <a:ext cx="566640" cy="22824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dk1"/>
                </a:solidFill>
                <a:effectLst/>
                <a:uFillTx/>
                <a:latin typeface="Arial"/>
                <a:ea typeface="Arial"/>
              </a:rPr>
              <a:t>HTTPS</a:t>
            </a:r>
            <a:endParaRPr lang="en-US" sz="950" b="0" u="none" strike="noStrike">
              <a:solidFill>
                <a:srgbClr val="000000"/>
              </a:solidFill>
              <a:effectLst/>
              <a:uFillTx/>
              <a:latin typeface="Arial"/>
            </a:endParaRPr>
          </a:p>
        </p:txBody>
      </p:sp>
      <p:sp>
        <p:nvSpPr>
          <p:cNvPr id="191" name="Frontend to browser label"/>
          <p:cNvSpPr/>
          <p:nvPr/>
        </p:nvSpPr>
        <p:spPr>
          <a:xfrm>
            <a:off x="2240280" y="5056560"/>
            <a:ext cx="63972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chemeClr val="dk2"/>
                </a:solidFill>
                <a:effectLst/>
                <a:uFillTx/>
                <a:latin typeface="Calibri"/>
              </a:rPr>
              <a:t>pages</a:t>
            </a:r>
            <a:endParaRPr lang="en-US" sz="1050" b="0" u="none" strike="noStrike">
              <a:solidFill>
                <a:srgbClr val="000000"/>
              </a:solidFill>
              <a:effectLst/>
              <a:uFillTx/>
              <a:latin typeface="Arial"/>
            </a:endParaRPr>
          </a:p>
        </p:txBody>
      </p:sp>
      <p:sp>
        <p:nvSpPr>
          <p:cNvPr id="192" name="Broker to browser"/>
          <p:cNvSpPr/>
          <p:nvPr/>
        </p:nvSpPr>
        <p:spPr>
          <a:xfrm flipH="1">
            <a:off x="2194560" y="3099600"/>
            <a:ext cx="3886200" cy="1408320"/>
          </a:xfrm>
          <a:prstGeom prst="line">
            <a:avLst/>
          </a:prstGeom>
          <a:ln w="25400">
            <a:solidFill>
              <a:srgbClr val="B4720F"/>
            </a:solidFill>
            <a:round/>
            <a:tailEnd len="med" type="triangle" w="me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93" name="Broker to browser protocol"/>
          <p:cNvSpPr/>
          <p:nvPr/>
        </p:nvSpPr>
        <p:spPr>
          <a:xfrm>
            <a:off x="3401640" y="3675960"/>
            <a:ext cx="1481040" cy="23724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chemeClr val="dk1"/>
                </a:solidFill>
                <a:effectLst/>
                <a:uFillTx/>
                <a:latin typeface="Arial"/>
                <a:ea typeface="Arial"/>
              </a:rPr>
              <a:t>MQTT over WebSocket</a:t>
            </a:r>
            <a:endParaRPr lang="en-US" sz="950" b="0" u="none" strike="noStrike">
              <a:solidFill>
                <a:srgbClr val="000000"/>
              </a:solidFill>
              <a:effectLst/>
              <a:uFillTx/>
              <a:latin typeface="Arial"/>
            </a:endParaRPr>
          </a:p>
        </p:txBody>
      </p:sp>
      <p:sp>
        <p:nvSpPr>
          <p:cNvPr id="194" name="Broker to browser label"/>
          <p:cNvSpPr/>
          <p:nvPr/>
        </p:nvSpPr>
        <p:spPr>
          <a:xfrm>
            <a:off x="4983480" y="3684960"/>
            <a:ext cx="13712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chemeClr val="dk2"/>
                </a:solidFill>
                <a:effectLst/>
                <a:uFillTx/>
                <a:latin typeface="Calibri"/>
              </a:rPr>
              <a:t>live updates</a:t>
            </a:r>
            <a:endParaRPr lang="en-US" sz="1050" b="0" u="none" strike="noStrike">
              <a:solidFill>
                <a:srgbClr val="000000"/>
              </a:solidFill>
              <a:effectLst/>
              <a:uFillTx/>
              <a:latin typeface="Arial"/>
            </a:endParaRPr>
          </a:p>
        </p:txBody>
      </p:sp>
      <p:sp>
        <p:nvSpPr>
          <p:cNvPr id="195" name="Prediction and database"/>
          <p:cNvSpPr/>
          <p:nvPr/>
        </p:nvSpPr>
        <p:spPr>
          <a:xfrm flipH="1">
            <a:off x="8037360" y="4983480"/>
            <a:ext cx="1298520" cy="360"/>
          </a:xfrm>
          <a:prstGeom prst="line">
            <a:avLst/>
          </a:prstGeom>
          <a:ln w="19050">
            <a:solidFill>
              <a:srgbClr val="0E1A26"/>
            </a:solidFill>
            <a:prstDash val="dash"/>
            <a:round/>
            <a:headEnd len="med" type="triangle" w="me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96" name="Prediction label"/>
          <p:cNvSpPr/>
          <p:nvPr/>
        </p:nvSpPr>
        <p:spPr>
          <a:xfrm>
            <a:off x="8055720" y="5056560"/>
            <a:ext cx="126144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50" b="0" u="none" strike="noStrike">
                <a:solidFill>
                  <a:schemeClr val="dk2"/>
                </a:solidFill>
                <a:effectLst/>
                <a:uFillTx/>
                <a:latin typeface="Calibri"/>
              </a:rPr>
              <a:t>history in, forecasts out</a:t>
            </a:r>
            <a:endParaRPr lang="en-US" sz="1050" b="0" u="none" strike="noStrike">
              <a:solidFill>
                <a:srgbClr val="000000"/>
              </a:solidFill>
              <a:effectLst/>
              <a:uFillTx/>
              <a:latin typeface="Arial"/>
            </a:endParaRPr>
          </a:p>
        </p:txBody>
      </p:sp>
      <p:sp>
        <p:nvSpPr>
          <p:cNvPr id="197" name="Legend our code swatch"/>
          <p:cNvSpPr/>
          <p:nvPr/>
        </p:nvSpPr>
        <p:spPr>
          <a:xfrm>
            <a:off x="548640" y="6016680"/>
            <a:ext cx="182520" cy="182520"/>
          </a:xfrm>
          <a:prstGeom prst="roundRect">
            <a:avLst>
              <a:gd name="adj" fmla="val 15000"/>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98" name="Legend our code"/>
          <p:cNvSpPr/>
          <p:nvPr/>
        </p:nvSpPr>
        <p:spPr>
          <a:xfrm>
            <a:off x="804600" y="5989320"/>
            <a:ext cx="118836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chemeClr val="dk2"/>
                </a:solidFill>
                <a:effectLst/>
                <a:uFillTx/>
                <a:latin typeface="Calibri"/>
              </a:rPr>
              <a:t>our code</a:t>
            </a:r>
            <a:endParaRPr lang="en-US" sz="1050" b="0" u="none" strike="noStrike">
              <a:solidFill>
                <a:srgbClr val="000000"/>
              </a:solidFill>
              <a:effectLst/>
              <a:uFillTx/>
              <a:latin typeface="Arial"/>
            </a:endParaRPr>
          </a:p>
        </p:txBody>
      </p:sp>
      <p:sp>
        <p:nvSpPr>
          <p:cNvPr id="199" name="Legend infrastructure swatch"/>
          <p:cNvSpPr/>
          <p:nvPr/>
        </p:nvSpPr>
        <p:spPr>
          <a:xfrm>
            <a:off x="2011680" y="6016680"/>
            <a:ext cx="182520" cy="182520"/>
          </a:xfrm>
          <a:prstGeom prst="roundRect">
            <a:avLst>
              <a:gd name="adj" fmla="val 15000"/>
            </a:avLst>
          </a:prstGeom>
          <a:solidFill>
            <a:schemeClr val="bg1"/>
          </a:solidFill>
          <a:ln w="19050">
            <a:solidFill>
              <a:srgbClr val="F2A03D"/>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0" name="Legend infrastructure"/>
          <p:cNvSpPr/>
          <p:nvPr/>
        </p:nvSpPr>
        <p:spPr>
          <a:xfrm>
            <a:off x="2267640" y="5989320"/>
            <a:ext cx="118836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chemeClr val="dk2"/>
                </a:solidFill>
                <a:effectLst/>
                <a:uFillTx/>
                <a:latin typeface="Calibri"/>
              </a:rPr>
              <a:t>infrastructure</a:t>
            </a:r>
            <a:endParaRPr lang="en-US" sz="1050" b="0" u="none" strike="noStrike">
              <a:solidFill>
                <a:srgbClr val="000000"/>
              </a:solidFill>
              <a:effectLst/>
              <a:uFillTx/>
              <a:latin typeface="Arial"/>
            </a:endParaRPr>
          </a:p>
        </p:txBody>
      </p:sp>
      <p:sp>
        <p:nvSpPr>
          <p:cNvPr id="201" name="Legend external swatch"/>
          <p:cNvSpPr/>
          <p:nvPr/>
        </p:nvSpPr>
        <p:spPr>
          <a:xfrm>
            <a:off x="3474720" y="6016680"/>
            <a:ext cx="182520" cy="182520"/>
          </a:xfrm>
          <a:prstGeom prst="roundRect">
            <a:avLst>
              <a:gd name="adj" fmla="val 15000"/>
            </a:avLst>
          </a:prstGeom>
          <a:solidFill>
            <a:schemeClr val="bg1"/>
          </a:solidFill>
          <a:ln w="15875">
            <a:solidFill>
              <a:srgbClr val="5B7C99"/>
            </a:solidFill>
            <a:prstDash val="dash"/>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2" name="Legend external"/>
          <p:cNvSpPr/>
          <p:nvPr/>
        </p:nvSpPr>
        <p:spPr>
          <a:xfrm>
            <a:off x="3730680" y="5989320"/>
            <a:ext cx="118836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chemeClr val="dk2"/>
                </a:solidFill>
                <a:effectLst/>
                <a:uFillTx/>
                <a:latin typeface="Calibri"/>
              </a:rPr>
              <a:t>external</a:t>
            </a:r>
            <a:endParaRPr lang="en-US" sz="1050" b="0" u="none" strike="noStrike">
              <a:solidFill>
                <a:srgbClr val="000000"/>
              </a:solidFill>
              <a:effectLst/>
              <a:uFillTx/>
              <a:latin typeface="Arial"/>
            </a:endParaRPr>
          </a:p>
        </p:txBody>
      </p:sp>
      <p:sp>
        <p:nvSpPr>
          <p:cNvPr id="203" name="Legend later swatch"/>
          <p:cNvSpPr/>
          <p:nvPr/>
        </p:nvSpPr>
        <p:spPr>
          <a:xfrm>
            <a:off x="4937760" y="6016680"/>
            <a:ext cx="182520" cy="182520"/>
          </a:xfrm>
          <a:prstGeom prst="roundRect">
            <a:avLst>
              <a:gd name="adj" fmla="val 15000"/>
            </a:avLst>
          </a:prstGeom>
          <a:solidFill>
            <a:schemeClr val="bg1"/>
          </a:solidFill>
          <a:ln w="15875">
            <a:solidFill>
              <a:srgbClr val="0E1A26"/>
            </a:solidFill>
            <a:prstDash val="dash"/>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4" name="Legend later"/>
          <p:cNvSpPr/>
          <p:nvPr/>
        </p:nvSpPr>
        <p:spPr>
          <a:xfrm>
            <a:off x="5193720" y="5989320"/>
            <a:ext cx="118836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chemeClr val="dk2"/>
                </a:solidFill>
                <a:effectLst/>
                <a:uFillTx/>
                <a:latin typeface="Calibri"/>
              </a:rPr>
              <a:t>later</a:t>
            </a:r>
            <a:endParaRPr lang="en-US" sz="1050" b="0" u="none" strike="noStrike">
              <a:solidFill>
                <a:srgbClr val="000000"/>
              </a:solidFill>
              <a:effectLst/>
              <a:uFillTx/>
              <a:latin typeface="Arial"/>
            </a:endParaRPr>
          </a:p>
        </p:txBody>
      </p:sp>
      <p:sp>
        <p:nvSpPr>
          <p:cNvPr id="205" name="PlaceHolder 3"/>
          <p:cNvSpPr>
            <a:spLocks noGrp="1"/>
          </p:cNvSpPr>
          <p:nvPr>
            <p:ph type="sldNum" idx="8"/>
          </p:nvPr>
        </p:nvSpPr>
        <p:spPr>
          <a:xfrm>
            <a:off x="11185920" y="6382440"/>
            <a:ext cx="456840" cy="25560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4"/>
                </a:solidFill>
                <a:effectLst/>
                <a:uFillTx/>
                <a:latin typeface="Calibri"/>
              </a:defRPr>
            </a:lvl1pPr>
          </a:lstStyle>
          <a:p>
            <a:pPr indent="0" algn="r" defTabSz="914400">
              <a:lnSpc>
                <a:spcPct val="100000"/>
              </a:lnSpc>
              <a:buNone/>
            </a:pPr>
            <a:fld id="{044AB294-78BA-4F60-9859-E12E639DABC6}" type="slidenum">
              <a:rPr lang="en-US" sz="1000" b="0" u="none" strike="noStrike">
                <a:solidFill>
                  <a:schemeClr val="accent4"/>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hasCustomPrompt="1"/>
          </p:nvPr>
        </p:nvSpPr>
        <p:spPr>
          <a:xfrm>
            <a:off x="548640" y="640080"/>
            <a:ext cx="8686440" cy="310680"/>
          </a:xfrm>
          <a:prstGeom prst="rect">
            <a:avLst/>
          </a:prstGeom>
          <a:noFill/>
          <a:ln w="0">
            <a:noFill/>
          </a:ln>
        </p:spPr>
        <p:txBody>
          <a:bodyPr lIns="0" tIns="0" rIns="0" bIns="0" anchor="ctr">
            <a:noAutofit/>
          </a:bodyPr>
          <a:p>
            <a:pPr indent="0" algn="l" defTabSz="914400">
              <a:lnSpc>
                <a:spcPct val="100000"/>
              </a:lnSpc>
              <a:spcBef>
                <a:spcPts val="241"/>
              </a:spcBef>
              <a:buNone/>
              <a:tabLst>
                <a:tab pos="0" algn="l"/>
              </a:tabLst>
            </a:pPr>
            <a:r>
              <a:rPr lang="en-US" sz="1200" b="1" u="none" spc="51" strike="noStrike">
                <a:solidFill>
                  <a:schemeClr val="accent6"/>
                </a:solidFill>
                <a:effectLst/>
                <a:uFillTx/>
                <a:latin typeface="Arial"/>
                <a:ea typeface="Arial"/>
              </a:rPr>
              <a:t>04  ·  SOFTWARE DESIGN  ·  C3</a:t>
            </a:r>
            <a:endParaRPr lang="en-US" sz="1200" b="0" u="none" strike="noStrike">
              <a:solidFill>
                <a:schemeClr val="dk1"/>
              </a:solidFill>
              <a:effectLst/>
              <a:uFillTx/>
              <a:latin typeface="Calibri"/>
            </a:endParaRPr>
          </a:p>
        </p:txBody>
      </p:sp>
      <p:sp>
        <p:nvSpPr>
          <p:cNvPr id="207" name="PlaceHolder 2"/>
          <p:cNvSpPr>
            <a:spLocks noGrp="1"/>
          </p:cNvSpPr>
          <p:nvPr>
            <p:ph type="title" hasCustomPrompt="1"/>
          </p:nvPr>
        </p:nvSpPr>
        <p:spPr>
          <a:xfrm>
            <a:off x="548640" y="951120"/>
            <a:ext cx="10606680" cy="65808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Inside the main blocks</a:t>
            </a:r>
            <a:endParaRPr lang="en-US" sz="3200" b="0" u="none" strike="noStrike">
              <a:solidFill>
                <a:schemeClr val="dk1"/>
              </a:solidFill>
              <a:effectLst/>
              <a:uFillTx/>
              <a:latin typeface="Calibri"/>
            </a:endParaRPr>
          </a:p>
        </p:txBody>
      </p:sp>
      <p:sp>
        <p:nvSpPr>
          <p:cNvPr id="208" name="Adapter card"/>
          <p:cNvSpPr/>
          <p:nvPr/>
        </p:nvSpPr>
        <p:spPr>
          <a:xfrm>
            <a:off x="548640" y="1783080"/>
            <a:ext cx="2635920" cy="4269960"/>
          </a:xfrm>
          <a:prstGeom prst="roundRect">
            <a:avLst>
              <a:gd name="adj" fmla="val 2775"/>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9" name="Adapter circle"/>
          <p:cNvSpPr/>
          <p:nvPr/>
        </p:nvSpPr>
        <p:spPr>
          <a:xfrm>
            <a:off x="749880" y="1984320"/>
            <a:ext cx="502560" cy="502560"/>
          </a:xfrm>
          <a:prstGeom prst="ellipse">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10" name="Adapter icon" descr="Adapter"/>
          <p:cNvPicPr/>
          <p:nvPr/>
        </p:nvPicPr>
        <p:blipFill>
          <a:blip r:embed="rId1"/>
          <a:stretch/>
        </p:blipFill>
        <p:spPr>
          <a:xfrm>
            <a:off x="870480" y="2104920"/>
            <a:ext cx="261000" cy="261000"/>
          </a:xfrm>
          <a:prstGeom prst="rect">
            <a:avLst/>
          </a:prstGeom>
          <a:noFill/>
          <a:ln w="0">
            <a:noFill/>
          </a:ln>
        </p:spPr>
      </p:pic>
      <p:sp>
        <p:nvSpPr>
          <p:cNvPr id="211" name="Adapter name"/>
          <p:cNvSpPr/>
          <p:nvPr/>
        </p:nvSpPr>
        <p:spPr>
          <a:xfrm>
            <a:off x="1371600" y="1965960"/>
            <a:ext cx="167580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1"/>
                </a:solidFill>
                <a:effectLst/>
                <a:uFillTx/>
                <a:latin typeface="Arial"/>
                <a:ea typeface="Arial"/>
              </a:rPr>
              <a:t>Adapter</a:t>
            </a:r>
            <a:endParaRPr lang="en-US" sz="1600" b="0" u="none" strike="noStrike">
              <a:solidFill>
                <a:srgbClr val="000000"/>
              </a:solidFill>
              <a:effectLst/>
              <a:uFillTx/>
              <a:latin typeface="Arial"/>
            </a:endParaRPr>
          </a:p>
        </p:txBody>
      </p:sp>
      <p:sp>
        <p:nvSpPr>
          <p:cNvPr id="212" name="Adapter role"/>
          <p:cNvSpPr/>
          <p:nvPr/>
        </p:nvSpPr>
        <p:spPr>
          <a:xfrm>
            <a:off x="1371600" y="2258640"/>
            <a:ext cx="167580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chemeClr val="accent4"/>
                </a:solidFill>
                <a:effectLst/>
                <a:uFillTx/>
                <a:latin typeface="Calibri"/>
              </a:rPr>
              <a:t>one per city</a:t>
            </a:r>
            <a:endParaRPr lang="en-US" sz="1200" b="0" u="none" strike="noStrike">
              <a:solidFill>
                <a:srgbClr val="000000"/>
              </a:solidFill>
              <a:effectLst/>
              <a:uFillTx/>
              <a:latin typeface="Arial"/>
            </a:endParaRPr>
          </a:p>
        </p:txBody>
      </p:sp>
      <p:sp>
        <p:nvSpPr>
          <p:cNvPr id="213" name="Adapter step 1 number"/>
          <p:cNvSpPr/>
          <p:nvPr/>
        </p:nvSpPr>
        <p:spPr>
          <a:xfrm>
            <a:off x="749880" y="2779920"/>
            <a:ext cx="273960" cy="27396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chemeClr val="dk1"/>
                </a:solidFill>
                <a:effectLst/>
                <a:uFillTx/>
                <a:latin typeface="Arial"/>
                <a:ea typeface="Arial"/>
              </a:rPr>
              <a:t>1</a:t>
            </a:r>
            <a:endParaRPr lang="en-US" sz="1050" b="0" u="none" strike="noStrike">
              <a:solidFill>
                <a:srgbClr val="000000"/>
              </a:solidFill>
              <a:effectLst/>
              <a:uFillTx/>
              <a:latin typeface="Arial"/>
            </a:endParaRPr>
          </a:p>
        </p:txBody>
      </p:sp>
      <p:sp>
        <p:nvSpPr>
          <p:cNvPr id="214" name="Adapter step 1"/>
          <p:cNvSpPr/>
          <p:nvPr/>
        </p:nvSpPr>
        <p:spPr>
          <a:xfrm>
            <a:off x="1143000" y="2743200"/>
            <a:ext cx="1858680" cy="511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Fetch every route, every minute</a:t>
            </a:r>
            <a:endParaRPr lang="en-US" sz="1300" b="0" u="none" strike="noStrike">
              <a:solidFill>
                <a:srgbClr val="000000"/>
              </a:solidFill>
              <a:effectLst/>
              <a:uFillTx/>
              <a:latin typeface="Arial"/>
            </a:endParaRPr>
          </a:p>
        </p:txBody>
      </p:sp>
      <p:sp>
        <p:nvSpPr>
          <p:cNvPr id="215" name="Adapter step 2 number"/>
          <p:cNvSpPr/>
          <p:nvPr/>
        </p:nvSpPr>
        <p:spPr>
          <a:xfrm>
            <a:off x="749880" y="3346560"/>
            <a:ext cx="273960" cy="27396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chemeClr val="dk1"/>
                </a:solidFill>
                <a:effectLst/>
                <a:uFillTx/>
                <a:latin typeface="Arial"/>
                <a:ea typeface="Arial"/>
              </a:rPr>
              <a:t>2</a:t>
            </a:r>
            <a:endParaRPr lang="en-US" sz="1050" b="0" u="none" strike="noStrike">
              <a:solidFill>
                <a:srgbClr val="000000"/>
              </a:solidFill>
              <a:effectLst/>
              <a:uFillTx/>
              <a:latin typeface="Arial"/>
            </a:endParaRPr>
          </a:p>
        </p:txBody>
      </p:sp>
      <p:sp>
        <p:nvSpPr>
          <p:cNvPr id="216" name="Adapter step 2"/>
          <p:cNvSpPr/>
          <p:nvPr/>
        </p:nvSpPr>
        <p:spPr>
          <a:xfrm>
            <a:off x="1143000" y="3310200"/>
            <a:ext cx="1858680" cy="511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Check the data is valid</a:t>
            </a:r>
            <a:endParaRPr lang="en-US" sz="1300" b="0" u="none" strike="noStrike">
              <a:solidFill>
                <a:srgbClr val="000000"/>
              </a:solidFill>
              <a:effectLst/>
              <a:uFillTx/>
              <a:latin typeface="Arial"/>
            </a:endParaRPr>
          </a:p>
        </p:txBody>
      </p:sp>
      <p:sp>
        <p:nvSpPr>
          <p:cNvPr id="217" name="Adapter step 3 number"/>
          <p:cNvSpPr/>
          <p:nvPr/>
        </p:nvSpPr>
        <p:spPr>
          <a:xfrm>
            <a:off x="749880" y="3913560"/>
            <a:ext cx="273960" cy="27396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chemeClr val="dk1"/>
                </a:solidFill>
                <a:effectLst/>
                <a:uFillTx/>
                <a:latin typeface="Arial"/>
                <a:ea typeface="Arial"/>
              </a:rPr>
              <a:t>3</a:t>
            </a:r>
            <a:endParaRPr lang="en-US" sz="1050" b="0" u="none" strike="noStrike">
              <a:solidFill>
                <a:srgbClr val="000000"/>
              </a:solidFill>
              <a:effectLst/>
              <a:uFillTx/>
              <a:latin typeface="Arial"/>
            </a:endParaRPr>
          </a:p>
        </p:txBody>
      </p:sp>
      <p:sp>
        <p:nvSpPr>
          <p:cNvPr id="218" name="Adapter step 3"/>
          <p:cNvSpPr/>
          <p:nvPr/>
        </p:nvSpPr>
        <p:spPr>
          <a:xfrm>
            <a:off x="1143000" y="3877200"/>
            <a:ext cx="1858680" cy="511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Convert it to our message format</a:t>
            </a:r>
            <a:endParaRPr lang="en-US" sz="1300" b="0" u="none" strike="noStrike">
              <a:solidFill>
                <a:srgbClr val="000000"/>
              </a:solidFill>
              <a:effectLst/>
              <a:uFillTx/>
              <a:latin typeface="Arial"/>
            </a:endParaRPr>
          </a:p>
        </p:txBody>
      </p:sp>
      <p:sp>
        <p:nvSpPr>
          <p:cNvPr id="219" name="Adapter step 4 number"/>
          <p:cNvSpPr/>
          <p:nvPr/>
        </p:nvSpPr>
        <p:spPr>
          <a:xfrm>
            <a:off x="749880" y="4480560"/>
            <a:ext cx="273960" cy="27396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chemeClr val="dk1"/>
                </a:solidFill>
                <a:effectLst/>
                <a:uFillTx/>
                <a:latin typeface="Arial"/>
                <a:ea typeface="Arial"/>
              </a:rPr>
              <a:t>4</a:t>
            </a:r>
            <a:endParaRPr lang="en-US" sz="1050" b="0" u="none" strike="noStrike">
              <a:solidFill>
                <a:srgbClr val="000000"/>
              </a:solidFill>
              <a:effectLst/>
              <a:uFillTx/>
              <a:latin typeface="Arial"/>
            </a:endParaRPr>
          </a:p>
        </p:txBody>
      </p:sp>
      <p:sp>
        <p:nvSpPr>
          <p:cNvPr id="220" name="Adapter step 4"/>
          <p:cNvSpPr/>
          <p:nvPr/>
        </p:nvSpPr>
        <p:spPr>
          <a:xfrm>
            <a:off x="1143000" y="4443840"/>
            <a:ext cx="1858680" cy="511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Publish it over MQTT</a:t>
            </a:r>
            <a:endParaRPr lang="en-US" sz="1300" b="0" u="none" strike="noStrike">
              <a:solidFill>
                <a:srgbClr val="000000"/>
              </a:solidFill>
              <a:effectLst/>
              <a:uFillTx/>
              <a:latin typeface="Arial"/>
            </a:endParaRPr>
          </a:p>
        </p:txBody>
      </p:sp>
      <p:sp>
        <p:nvSpPr>
          <p:cNvPr id="221" name="Adapter footer"/>
          <p:cNvSpPr/>
          <p:nvPr/>
        </p:nvSpPr>
        <p:spPr>
          <a:xfrm>
            <a:off x="749880" y="5431680"/>
            <a:ext cx="2233800" cy="456840"/>
          </a:xfrm>
          <a:prstGeom prst="rect">
            <a:avLst/>
          </a:prstGeom>
          <a:noFill/>
          <a:ln w="0">
            <a:noFill/>
          </a:ln>
        </p:spPr>
        <p:style>
          <a:lnRef idx="0"/>
          <a:fillRef idx="0"/>
          <a:effectRef idx="0"/>
          <a:fontRef idx="minor"/>
        </p:style>
        <p:txBody>
          <a:bodyPr lIns="0" tIns="0" rIns="0" bIns="0" anchor="b">
            <a:noAutofit/>
          </a:bodyPr>
          <a:p>
            <a:pPr defTabSz="914400">
              <a:lnSpc>
                <a:spcPct val="100000"/>
              </a:lnSpc>
              <a:tabLst>
                <a:tab pos="0" algn="l"/>
              </a:tabLst>
            </a:pPr>
            <a:r>
              <a:rPr lang="en-US" sz="1150" b="0" i="1" u="none" strike="noStrike">
                <a:solidFill>
                  <a:schemeClr val="accent4"/>
                </a:solidFill>
                <a:effectLst/>
                <a:uFillTx/>
                <a:latin typeface="Calibri"/>
              </a:rPr>
              <a:t>Node.js + TypeScript. Most of the code exists in our PoC.</a:t>
            </a:r>
            <a:endParaRPr lang="en-US" sz="1150" b="0" u="none" strike="noStrike">
              <a:solidFill>
                <a:srgbClr val="000000"/>
              </a:solidFill>
              <a:effectLst/>
              <a:uFillTx/>
              <a:latin typeface="Arial"/>
            </a:endParaRPr>
          </a:p>
        </p:txBody>
      </p:sp>
      <p:sp>
        <p:nvSpPr>
          <p:cNvPr id="222" name="Backend card"/>
          <p:cNvSpPr/>
          <p:nvPr/>
        </p:nvSpPr>
        <p:spPr>
          <a:xfrm>
            <a:off x="3367800" y="1783080"/>
            <a:ext cx="2635920" cy="4269960"/>
          </a:xfrm>
          <a:prstGeom prst="roundRect">
            <a:avLst>
              <a:gd name="adj" fmla="val 2775"/>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3" name="Backend circle"/>
          <p:cNvSpPr/>
          <p:nvPr/>
        </p:nvSpPr>
        <p:spPr>
          <a:xfrm>
            <a:off x="3569040" y="1984320"/>
            <a:ext cx="502560" cy="502560"/>
          </a:xfrm>
          <a:prstGeom prst="ellipse">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24" name="Backend icon" descr="Backend"/>
          <p:cNvPicPr/>
          <p:nvPr/>
        </p:nvPicPr>
        <p:blipFill>
          <a:blip r:embed="rId2"/>
          <a:stretch/>
        </p:blipFill>
        <p:spPr>
          <a:xfrm>
            <a:off x="3690000" y="2104920"/>
            <a:ext cx="261000" cy="261000"/>
          </a:xfrm>
          <a:prstGeom prst="rect">
            <a:avLst/>
          </a:prstGeom>
          <a:noFill/>
          <a:ln w="0">
            <a:noFill/>
          </a:ln>
        </p:spPr>
      </p:pic>
      <p:sp>
        <p:nvSpPr>
          <p:cNvPr id="225" name="Backend name"/>
          <p:cNvSpPr/>
          <p:nvPr/>
        </p:nvSpPr>
        <p:spPr>
          <a:xfrm>
            <a:off x="4190760" y="1965960"/>
            <a:ext cx="167580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1"/>
                </a:solidFill>
                <a:effectLst/>
                <a:uFillTx/>
                <a:latin typeface="Arial"/>
                <a:ea typeface="Arial"/>
              </a:rPr>
              <a:t>Backend</a:t>
            </a:r>
            <a:endParaRPr lang="en-US" sz="1600" b="0" u="none" strike="noStrike">
              <a:solidFill>
                <a:srgbClr val="000000"/>
              </a:solidFill>
              <a:effectLst/>
              <a:uFillTx/>
              <a:latin typeface="Arial"/>
            </a:endParaRPr>
          </a:p>
        </p:txBody>
      </p:sp>
      <p:sp>
        <p:nvSpPr>
          <p:cNvPr id="226" name="Backend role"/>
          <p:cNvSpPr/>
          <p:nvPr/>
        </p:nvSpPr>
        <p:spPr>
          <a:xfrm>
            <a:off x="4190760" y="2258640"/>
            <a:ext cx="167580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chemeClr val="accent4"/>
                </a:solidFill>
                <a:effectLst/>
                <a:uFillTx/>
                <a:latin typeface="Calibri"/>
              </a:rPr>
              <a:t>one or more copies</a:t>
            </a:r>
            <a:endParaRPr lang="en-US" sz="1200" b="0" u="none" strike="noStrike">
              <a:solidFill>
                <a:srgbClr val="000000"/>
              </a:solidFill>
              <a:effectLst/>
              <a:uFillTx/>
              <a:latin typeface="Arial"/>
            </a:endParaRPr>
          </a:p>
        </p:txBody>
      </p:sp>
      <p:sp>
        <p:nvSpPr>
          <p:cNvPr id="227" name="Backend step 1 number"/>
          <p:cNvSpPr/>
          <p:nvPr/>
        </p:nvSpPr>
        <p:spPr>
          <a:xfrm>
            <a:off x="3569040" y="2779920"/>
            <a:ext cx="273960" cy="27396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chemeClr val="dk1"/>
                </a:solidFill>
                <a:effectLst/>
                <a:uFillTx/>
                <a:latin typeface="Arial"/>
                <a:ea typeface="Arial"/>
              </a:rPr>
              <a:t>1</a:t>
            </a:r>
            <a:endParaRPr lang="en-US" sz="1050" b="0" u="none" strike="noStrike">
              <a:solidFill>
                <a:srgbClr val="000000"/>
              </a:solidFill>
              <a:effectLst/>
              <a:uFillTx/>
              <a:latin typeface="Arial"/>
            </a:endParaRPr>
          </a:p>
        </p:txBody>
      </p:sp>
      <p:sp>
        <p:nvSpPr>
          <p:cNvPr id="228" name="Backend step 1"/>
          <p:cNvSpPr/>
          <p:nvPr/>
        </p:nvSpPr>
        <p:spPr>
          <a:xfrm>
            <a:off x="3962160" y="2743200"/>
            <a:ext cx="1858680" cy="511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Receive readings from the broker</a:t>
            </a:r>
            <a:endParaRPr lang="en-US" sz="1300" b="0" u="none" strike="noStrike">
              <a:solidFill>
                <a:srgbClr val="000000"/>
              </a:solidFill>
              <a:effectLst/>
              <a:uFillTx/>
              <a:latin typeface="Arial"/>
            </a:endParaRPr>
          </a:p>
        </p:txBody>
      </p:sp>
      <p:sp>
        <p:nvSpPr>
          <p:cNvPr id="229" name="Backend step 2 number"/>
          <p:cNvSpPr/>
          <p:nvPr/>
        </p:nvSpPr>
        <p:spPr>
          <a:xfrm>
            <a:off x="3569040" y="3346560"/>
            <a:ext cx="273960" cy="27396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chemeClr val="dk1"/>
                </a:solidFill>
                <a:effectLst/>
                <a:uFillTx/>
                <a:latin typeface="Arial"/>
                <a:ea typeface="Arial"/>
              </a:rPr>
              <a:t>2</a:t>
            </a:r>
            <a:endParaRPr lang="en-US" sz="1050" b="0" u="none" strike="noStrike">
              <a:solidFill>
                <a:srgbClr val="000000"/>
              </a:solidFill>
              <a:effectLst/>
              <a:uFillTx/>
              <a:latin typeface="Arial"/>
            </a:endParaRPr>
          </a:p>
        </p:txBody>
      </p:sp>
      <p:sp>
        <p:nvSpPr>
          <p:cNvPr id="230" name="Backend step 2"/>
          <p:cNvSpPr/>
          <p:nvPr/>
        </p:nvSpPr>
        <p:spPr>
          <a:xfrm>
            <a:off x="3962160" y="3310200"/>
            <a:ext cx="1858680" cy="511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Drop duplicates and old readings</a:t>
            </a:r>
            <a:endParaRPr lang="en-US" sz="1300" b="0" u="none" strike="noStrike">
              <a:solidFill>
                <a:srgbClr val="000000"/>
              </a:solidFill>
              <a:effectLst/>
              <a:uFillTx/>
              <a:latin typeface="Arial"/>
            </a:endParaRPr>
          </a:p>
        </p:txBody>
      </p:sp>
      <p:sp>
        <p:nvSpPr>
          <p:cNvPr id="231" name="Backend step 3 number"/>
          <p:cNvSpPr/>
          <p:nvPr/>
        </p:nvSpPr>
        <p:spPr>
          <a:xfrm>
            <a:off x="3569040" y="3913560"/>
            <a:ext cx="273960" cy="27396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chemeClr val="dk1"/>
                </a:solidFill>
                <a:effectLst/>
                <a:uFillTx/>
                <a:latin typeface="Arial"/>
                <a:ea typeface="Arial"/>
              </a:rPr>
              <a:t>3</a:t>
            </a:r>
            <a:endParaRPr lang="en-US" sz="1050" b="0" u="none" strike="noStrike">
              <a:solidFill>
                <a:srgbClr val="000000"/>
              </a:solidFill>
              <a:effectLst/>
              <a:uFillTx/>
              <a:latin typeface="Arial"/>
            </a:endParaRPr>
          </a:p>
        </p:txBody>
      </p:sp>
      <p:sp>
        <p:nvSpPr>
          <p:cNvPr id="232" name="Backend step 3"/>
          <p:cNvSpPr/>
          <p:nvPr/>
        </p:nvSpPr>
        <p:spPr>
          <a:xfrm>
            <a:off x="3962160" y="3877200"/>
            <a:ext cx="1858680" cy="511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Classify congestion per road segment</a:t>
            </a:r>
            <a:endParaRPr lang="en-US" sz="1300" b="0" u="none" strike="noStrike">
              <a:solidFill>
                <a:srgbClr val="000000"/>
              </a:solidFill>
              <a:effectLst/>
              <a:uFillTx/>
              <a:latin typeface="Arial"/>
            </a:endParaRPr>
          </a:p>
        </p:txBody>
      </p:sp>
      <p:sp>
        <p:nvSpPr>
          <p:cNvPr id="233" name="Backend step 4 number"/>
          <p:cNvSpPr/>
          <p:nvPr/>
        </p:nvSpPr>
        <p:spPr>
          <a:xfrm>
            <a:off x="3569040" y="4480560"/>
            <a:ext cx="273960" cy="27396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chemeClr val="dk1"/>
                </a:solidFill>
                <a:effectLst/>
                <a:uFillTx/>
                <a:latin typeface="Arial"/>
                <a:ea typeface="Arial"/>
              </a:rPr>
              <a:t>4</a:t>
            </a:r>
            <a:endParaRPr lang="en-US" sz="1050" b="0" u="none" strike="noStrike">
              <a:solidFill>
                <a:srgbClr val="000000"/>
              </a:solidFill>
              <a:effectLst/>
              <a:uFillTx/>
              <a:latin typeface="Arial"/>
            </a:endParaRPr>
          </a:p>
        </p:txBody>
      </p:sp>
      <p:sp>
        <p:nvSpPr>
          <p:cNvPr id="234" name="Backend step 4"/>
          <p:cNvSpPr/>
          <p:nvPr/>
        </p:nvSpPr>
        <p:spPr>
          <a:xfrm>
            <a:off x="3962160" y="4443840"/>
            <a:ext cx="1858680" cy="511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Store state and history</a:t>
            </a:r>
            <a:endParaRPr lang="en-US" sz="1300" b="0" u="none" strike="noStrike">
              <a:solidFill>
                <a:srgbClr val="000000"/>
              </a:solidFill>
              <a:effectLst/>
              <a:uFillTx/>
              <a:latin typeface="Arial"/>
            </a:endParaRPr>
          </a:p>
        </p:txBody>
      </p:sp>
      <p:sp>
        <p:nvSpPr>
          <p:cNvPr id="235" name="Backend step 5 number"/>
          <p:cNvSpPr/>
          <p:nvPr/>
        </p:nvSpPr>
        <p:spPr>
          <a:xfrm>
            <a:off x="3569040" y="5047560"/>
            <a:ext cx="273960" cy="27396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chemeClr val="dk1"/>
                </a:solidFill>
                <a:effectLst/>
                <a:uFillTx/>
                <a:latin typeface="Arial"/>
                <a:ea typeface="Arial"/>
              </a:rPr>
              <a:t>5</a:t>
            </a:r>
            <a:endParaRPr lang="en-US" sz="1050" b="0" u="none" strike="noStrike">
              <a:solidFill>
                <a:srgbClr val="000000"/>
              </a:solidFill>
              <a:effectLst/>
              <a:uFillTx/>
              <a:latin typeface="Arial"/>
            </a:endParaRPr>
          </a:p>
        </p:txBody>
      </p:sp>
      <p:sp>
        <p:nvSpPr>
          <p:cNvPr id="236" name="Backend step 5"/>
          <p:cNvSpPr/>
          <p:nvPr/>
        </p:nvSpPr>
        <p:spPr>
          <a:xfrm>
            <a:off x="3962160" y="5010840"/>
            <a:ext cx="1858680" cy="511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Publish the new state</a:t>
            </a:r>
            <a:endParaRPr lang="en-US" sz="1300" b="0" u="none" strike="noStrike">
              <a:solidFill>
                <a:srgbClr val="000000"/>
              </a:solidFill>
              <a:effectLst/>
              <a:uFillTx/>
              <a:latin typeface="Arial"/>
            </a:endParaRPr>
          </a:p>
        </p:txBody>
      </p:sp>
      <p:sp>
        <p:nvSpPr>
          <p:cNvPr id="237" name="Backend footer"/>
          <p:cNvSpPr/>
          <p:nvPr/>
        </p:nvSpPr>
        <p:spPr>
          <a:xfrm>
            <a:off x="3569040" y="5431680"/>
            <a:ext cx="2233800" cy="456840"/>
          </a:xfrm>
          <a:prstGeom prst="rect">
            <a:avLst/>
          </a:prstGeom>
          <a:noFill/>
          <a:ln w="0">
            <a:noFill/>
          </a:ln>
        </p:spPr>
        <p:style>
          <a:lnRef idx="0"/>
          <a:fillRef idx="0"/>
          <a:effectRef idx="0"/>
          <a:fontRef idx="minor"/>
        </p:style>
        <p:txBody>
          <a:bodyPr lIns="0" tIns="0" rIns="0" bIns="0" anchor="b">
            <a:noAutofit/>
          </a:bodyPr>
          <a:p>
            <a:pPr defTabSz="914400">
              <a:lnSpc>
                <a:spcPct val="100000"/>
              </a:lnSpc>
              <a:tabLst>
                <a:tab pos="0" algn="l"/>
              </a:tabLst>
            </a:pPr>
            <a:r>
              <a:rPr lang="en-US" sz="1150" b="0" i="1" u="none" strike="noStrike">
                <a:solidFill>
                  <a:schemeClr val="accent4"/>
                </a:solidFill>
                <a:effectLst/>
                <a:uFillTx/>
                <a:latin typeface="Calibri"/>
              </a:rPr>
              <a:t>Node.js + TypeScript, Prisma for the database.</a:t>
            </a:r>
            <a:endParaRPr lang="en-US" sz="1150" b="0" u="none" strike="noStrike">
              <a:solidFill>
                <a:srgbClr val="000000"/>
              </a:solidFill>
              <a:effectLst/>
              <a:uFillTx/>
              <a:latin typeface="Arial"/>
            </a:endParaRPr>
          </a:p>
        </p:txBody>
      </p:sp>
      <p:sp>
        <p:nvSpPr>
          <p:cNvPr id="238" name="Frontend card"/>
          <p:cNvSpPr/>
          <p:nvPr/>
        </p:nvSpPr>
        <p:spPr>
          <a:xfrm>
            <a:off x="6187320" y="1783080"/>
            <a:ext cx="2635920" cy="4269960"/>
          </a:xfrm>
          <a:prstGeom prst="roundRect">
            <a:avLst>
              <a:gd name="adj" fmla="val 2775"/>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39" name="Frontend circle"/>
          <p:cNvSpPr/>
          <p:nvPr/>
        </p:nvSpPr>
        <p:spPr>
          <a:xfrm>
            <a:off x="6388560" y="1984320"/>
            <a:ext cx="502560" cy="502560"/>
          </a:xfrm>
          <a:prstGeom prst="ellipse">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40" name="Frontend icon" descr="Frontend"/>
          <p:cNvPicPr/>
          <p:nvPr/>
        </p:nvPicPr>
        <p:blipFill>
          <a:blip r:embed="rId3"/>
          <a:stretch/>
        </p:blipFill>
        <p:spPr>
          <a:xfrm>
            <a:off x="6509160" y="2104920"/>
            <a:ext cx="261000" cy="261000"/>
          </a:xfrm>
          <a:prstGeom prst="rect">
            <a:avLst/>
          </a:prstGeom>
          <a:noFill/>
          <a:ln w="0">
            <a:noFill/>
          </a:ln>
        </p:spPr>
      </p:pic>
      <p:sp>
        <p:nvSpPr>
          <p:cNvPr id="241" name="Frontend name"/>
          <p:cNvSpPr/>
          <p:nvPr/>
        </p:nvSpPr>
        <p:spPr>
          <a:xfrm>
            <a:off x="7010280" y="1965960"/>
            <a:ext cx="167580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1"/>
                </a:solidFill>
                <a:effectLst/>
                <a:uFillTx/>
                <a:latin typeface="Arial"/>
                <a:ea typeface="Arial"/>
              </a:rPr>
              <a:t>Frontend</a:t>
            </a:r>
            <a:endParaRPr lang="en-US" sz="1600" b="0" u="none" strike="noStrike">
              <a:solidFill>
                <a:srgbClr val="000000"/>
              </a:solidFill>
              <a:effectLst/>
              <a:uFillTx/>
              <a:latin typeface="Arial"/>
            </a:endParaRPr>
          </a:p>
        </p:txBody>
      </p:sp>
      <p:sp>
        <p:nvSpPr>
          <p:cNvPr id="242" name="Frontend role"/>
          <p:cNvSpPr/>
          <p:nvPr/>
        </p:nvSpPr>
        <p:spPr>
          <a:xfrm>
            <a:off x="7010280" y="2258640"/>
            <a:ext cx="167580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chemeClr val="accent4"/>
                </a:solidFill>
                <a:effectLst/>
                <a:uFillTx/>
                <a:latin typeface="Calibri"/>
              </a:rPr>
              <a:t>our existing Next.js app</a:t>
            </a:r>
            <a:endParaRPr lang="en-US" sz="1200" b="0" u="none" strike="noStrike">
              <a:solidFill>
                <a:srgbClr val="000000"/>
              </a:solidFill>
              <a:effectLst/>
              <a:uFillTx/>
              <a:latin typeface="Arial"/>
            </a:endParaRPr>
          </a:p>
        </p:txBody>
      </p:sp>
      <p:sp>
        <p:nvSpPr>
          <p:cNvPr id="243" name="Frontend step 1 number"/>
          <p:cNvSpPr/>
          <p:nvPr/>
        </p:nvSpPr>
        <p:spPr>
          <a:xfrm>
            <a:off x="6388560" y="2779920"/>
            <a:ext cx="273960" cy="27396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chemeClr val="dk1"/>
                </a:solidFill>
                <a:effectLst/>
                <a:uFillTx/>
                <a:latin typeface="Arial"/>
                <a:ea typeface="Arial"/>
              </a:rPr>
              <a:t>1</a:t>
            </a:r>
            <a:endParaRPr lang="en-US" sz="1050" b="0" u="none" strike="noStrike">
              <a:solidFill>
                <a:srgbClr val="000000"/>
              </a:solidFill>
              <a:effectLst/>
              <a:uFillTx/>
              <a:latin typeface="Arial"/>
            </a:endParaRPr>
          </a:p>
        </p:txBody>
      </p:sp>
      <p:sp>
        <p:nvSpPr>
          <p:cNvPr id="244" name="Frontend step 1"/>
          <p:cNvSpPr/>
          <p:nvPr/>
        </p:nvSpPr>
        <p:spPr>
          <a:xfrm>
            <a:off x="6781680" y="2743200"/>
            <a:ext cx="1858680" cy="511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Draw the map from the database</a:t>
            </a:r>
            <a:endParaRPr lang="en-US" sz="1300" b="0" u="none" strike="noStrike">
              <a:solidFill>
                <a:srgbClr val="000000"/>
              </a:solidFill>
              <a:effectLst/>
              <a:uFillTx/>
              <a:latin typeface="Arial"/>
            </a:endParaRPr>
          </a:p>
        </p:txBody>
      </p:sp>
      <p:sp>
        <p:nvSpPr>
          <p:cNvPr id="245" name="Frontend step 2 number"/>
          <p:cNvSpPr/>
          <p:nvPr/>
        </p:nvSpPr>
        <p:spPr>
          <a:xfrm>
            <a:off x="6388560" y="3346560"/>
            <a:ext cx="273960" cy="27396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chemeClr val="dk1"/>
                </a:solidFill>
                <a:effectLst/>
                <a:uFillTx/>
                <a:latin typeface="Arial"/>
                <a:ea typeface="Arial"/>
              </a:rPr>
              <a:t>2</a:t>
            </a:r>
            <a:endParaRPr lang="en-US" sz="1050" b="0" u="none" strike="noStrike">
              <a:solidFill>
                <a:srgbClr val="000000"/>
              </a:solidFill>
              <a:effectLst/>
              <a:uFillTx/>
              <a:latin typeface="Arial"/>
            </a:endParaRPr>
          </a:p>
        </p:txBody>
      </p:sp>
      <p:sp>
        <p:nvSpPr>
          <p:cNvPr id="246" name="Frontend step 2"/>
          <p:cNvSpPr/>
          <p:nvPr/>
        </p:nvSpPr>
        <p:spPr>
          <a:xfrm>
            <a:off x="6781680" y="3310200"/>
            <a:ext cx="1858680" cy="511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Subscribe to live updates</a:t>
            </a:r>
            <a:endParaRPr lang="en-US" sz="1300" b="0" u="none" strike="noStrike">
              <a:solidFill>
                <a:srgbClr val="000000"/>
              </a:solidFill>
              <a:effectLst/>
              <a:uFillTx/>
              <a:latin typeface="Arial"/>
            </a:endParaRPr>
          </a:p>
        </p:txBody>
      </p:sp>
      <p:sp>
        <p:nvSpPr>
          <p:cNvPr id="247" name="Frontend step 3 number"/>
          <p:cNvSpPr/>
          <p:nvPr/>
        </p:nvSpPr>
        <p:spPr>
          <a:xfrm>
            <a:off x="6388560" y="3913560"/>
            <a:ext cx="273960" cy="27396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chemeClr val="dk1"/>
                </a:solidFill>
                <a:effectLst/>
                <a:uFillTx/>
                <a:latin typeface="Arial"/>
                <a:ea typeface="Arial"/>
              </a:rPr>
              <a:t>3</a:t>
            </a:r>
            <a:endParaRPr lang="en-US" sz="1050" b="0" u="none" strike="noStrike">
              <a:solidFill>
                <a:srgbClr val="000000"/>
              </a:solidFill>
              <a:effectLst/>
              <a:uFillTx/>
              <a:latin typeface="Arial"/>
            </a:endParaRPr>
          </a:p>
        </p:txBody>
      </p:sp>
      <p:sp>
        <p:nvSpPr>
          <p:cNvPr id="248" name="Frontend step 3"/>
          <p:cNvSpPr/>
          <p:nvPr/>
        </p:nvSpPr>
        <p:spPr>
          <a:xfrm>
            <a:off x="6781680" y="3877200"/>
            <a:ext cx="1858680" cy="511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Apply only what's newer</a:t>
            </a:r>
            <a:endParaRPr lang="en-US" sz="1300" b="0" u="none" strike="noStrike">
              <a:solidFill>
                <a:srgbClr val="000000"/>
              </a:solidFill>
              <a:effectLst/>
              <a:uFillTx/>
              <a:latin typeface="Arial"/>
            </a:endParaRPr>
          </a:p>
        </p:txBody>
      </p:sp>
      <p:sp>
        <p:nvSpPr>
          <p:cNvPr id="249" name="Frontend step 4 number"/>
          <p:cNvSpPr/>
          <p:nvPr/>
        </p:nvSpPr>
        <p:spPr>
          <a:xfrm>
            <a:off x="6388560" y="4480560"/>
            <a:ext cx="273960" cy="27396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chemeClr val="dk1"/>
                </a:solidFill>
                <a:effectLst/>
                <a:uFillTx/>
                <a:latin typeface="Arial"/>
                <a:ea typeface="Arial"/>
              </a:rPr>
              <a:t>4</a:t>
            </a:r>
            <a:endParaRPr lang="en-US" sz="1050" b="0" u="none" strike="noStrike">
              <a:solidFill>
                <a:srgbClr val="000000"/>
              </a:solidFill>
              <a:effectLst/>
              <a:uFillTx/>
              <a:latin typeface="Arial"/>
            </a:endParaRPr>
          </a:p>
        </p:txBody>
      </p:sp>
      <p:sp>
        <p:nvSpPr>
          <p:cNvPr id="250" name="Frontend step 4"/>
          <p:cNvSpPr/>
          <p:nvPr/>
        </p:nvSpPr>
        <p:spPr>
          <a:xfrm>
            <a:off x="6781680" y="4443840"/>
            <a:ext cx="1858680" cy="511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Show history and forecasts</a:t>
            </a:r>
            <a:endParaRPr lang="en-US" sz="1300" b="0" u="none" strike="noStrike">
              <a:solidFill>
                <a:srgbClr val="000000"/>
              </a:solidFill>
              <a:effectLst/>
              <a:uFillTx/>
              <a:latin typeface="Arial"/>
            </a:endParaRPr>
          </a:p>
        </p:txBody>
      </p:sp>
      <p:sp>
        <p:nvSpPr>
          <p:cNvPr id="251" name="Frontend footer"/>
          <p:cNvSpPr/>
          <p:nvPr/>
        </p:nvSpPr>
        <p:spPr>
          <a:xfrm>
            <a:off x="6388560" y="5431680"/>
            <a:ext cx="2233800" cy="456840"/>
          </a:xfrm>
          <a:prstGeom prst="rect">
            <a:avLst/>
          </a:prstGeom>
          <a:noFill/>
          <a:ln w="0">
            <a:noFill/>
          </a:ln>
        </p:spPr>
        <p:style>
          <a:lnRef idx="0"/>
          <a:fillRef idx="0"/>
          <a:effectRef idx="0"/>
          <a:fontRef idx="minor"/>
        </p:style>
        <p:txBody>
          <a:bodyPr lIns="0" tIns="0" rIns="0" bIns="0" anchor="b">
            <a:noAutofit/>
          </a:bodyPr>
          <a:p>
            <a:pPr defTabSz="914400">
              <a:lnSpc>
                <a:spcPct val="100000"/>
              </a:lnSpc>
              <a:tabLst>
                <a:tab pos="0" algn="l"/>
              </a:tabLst>
            </a:pPr>
            <a:r>
              <a:rPr lang="en-US" sz="1150" b="0" i="1" u="none" strike="noStrike">
                <a:solidFill>
                  <a:schemeClr val="accent4"/>
                </a:solidFill>
                <a:effectLst/>
                <a:uFillTx/>
                <a:latin typeface="Calibri"/>
              </a:rPr>
              <a:t>Next.js + Mapbox GL. Running today.</a:t>
            </a:r>
            <a:endParaRPr lang="en-US" sz="1150" b="0" u="none" strike="noStrike">
              <a:solidFill>
                <a:srgbClr val="000000"/>
              </a:solidFill>
              <a:effectLst/>
              <a:uFillTx/>
              <a:latin typeface="Arial"/>
            </a:endParaRPr>
          </a:p>
        </p:txBody>
      </p:sp>
      <p:sp>
        <p:nvSpPr>
          <p:cNvPr id="252" name="Prediction card"/>
          <p:cNvSpPr/>
          <p:nvPr/>
        </p:nvSpPr>
        <p:spPr>
          <a:xfrm>
            <a:off x="9006480" y="1783080"/>
            <a:ext cx="2635920" cy="4269960"/>
          </a:xfrm>
          <a:prstGeom prst="roundRect">
            <a:avLst>
              <a:gd name="adj" fmla="val 2775"/>
            </a:avLst>
          </a:prstGeom>
          <a:solidFill>
            <a:schemeClr val="bg1"/>
          </a:solidFill>
          <a:ln w="19050">
            <a:solidFill>
              <a:srgbClr val="0E1A26"/>
            </a:solidFill>
            <a:prstDash val="dash"/>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53" name="Prediction circle"/>
          <p:cNvSpPr/>
          <p:nvPr/>
        </p:nvSpPr>
        <p:spPr>
          <a:xfrm>
            <a:off x="9207720" y="1984320"/>
            <a:ext cx="502560" cy="502560"/>
          </a:xfrm>
          <a:prstGeom prst="ellipse">
            <a:avLst/>
          </a:prstGeom>
          <a:solidFill>
            <a:schemeClr val="accent1">
              <a:alpha val="20000"/>
            </a:schemeClr>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54" name="Prediction icon" descr="Prediction"/>
          <p:cNvPicPr/>
          <p:nvPr/>
        </p:nvPicPr>
        <p:blipFill>
          <a:blip r:embed="rId4"/>
          <a:stretch/>
        </p:blipFill>
        <p:spPr>
          <a:xfrm>
            <a:off x="9328320" y="2104920"/>
            <a:ext cx="261000" cy="261000"/>
          </a:xfrm>
          <a:prstGeom prst="rect">
            <a:avLst/>
          </a:prstGeom>
          <a:noFill/>
          <a:ln w="0">
            <a:noFill/>
          </a:ln>
        </p:spPr>
      </p:pic>
      <p:sp>
        <p:nvSpPr>
          <p:cNvPr id="255" name="Prediction name"/>
          <p:cNvSpPr/>
          <p:nvPr/>
        </p:nvSpPr>
        <p:spPr>
          <a:xfrm>
            <a:off x="9829440" y="1965960"/>
            <a:ext cx="167580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1"/>
                </a:solidFill>
                <a:effectLst/>
                <a:uFillTx/>
                <a:latin typeface="Arial"/>
                <a:ea typeface="Arial"/>
              </a:rPr>
              <a:t>Prediction</a:t>
            </a:r>
            <a:endParaRPr lang="en-US" sz="1600" b="0" u="none" strike="noStrike">
              <a:solidFill>
                <a:srgbClr val="000000"/>
              </a:solidFill>
              <a:effectLst/>
              <a:uFillTx/>
              <a:latin typeface="Arial"/>
            </a:endParaRPr>
          </a:p>
        </p:txBody>
      </p:sp>
      <p:sp>
        <p:nvSpPr>
          <p:cNvPr id="256" name="Prediction role"/>
          <p:cNvSpPr/>
          <p:nvPr/>
        </p:nvSpPr>
        <p:spPr>
          <a:xfrm>
            <a:off x="9829440" y="2258640"/>
            <a:ext cx="167580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chemeClr val="accent4"/>
                </a:solidFill>
                <a:effectLst/>
                <a:uFillTx/>
                <a:latin typeface="Calibri"/>
              </a:rPr>
              <a:t>planned</a:t>
            </a:r>
            <a:endParaRPr lang="en-US" sz="1200" b="0" u="none" strike="noStrike">
              <a:solidFill>
                <a:srgbClr val="000000"/>
              </a:solidFill>
              <a:effectLst/>
              <a:uFillTx/>
              <a:latin typeface="Arial"/>
            </a:endParaRPr>
          </a:p>
        </p:txBody>
      </p:sp>
      <p:sp>
        <p:nvSpPr>
          <p:cNvPr id="257" name="Prediction step 1 number"/>
          <p:cNvSpPr/>
          <p:nvPr/>
        </p:nvSpPr>
        <p:spPr>
          <a:xfrm>
            <a:off x="9207720" y="2779920"/>
            <a:ext cx="273960" cy="273960"/>
          </a:xfrm>
          <a:prstGeom prst="roundRect">
            <a:avLst>
              <a:gd name="adj" fmla="val 50000"/>
            </a:avLst>
          </a:prstGeom>
          <a:solidFill>
            <a:schemeClr val="bg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chemeClr val="dk1"/>
                </a:solidFill>
                <a:effectLst/>
                <a:uFillTx/>
                <a:latin typeface="Arial"/>
                <a:ea typeface="Arial"/>
              </a:rPr>
              <a:t>1</a:t>
            </a:r>
            <a:endParaRPr lang="en-US" sz="1050" b="0" u="none" strike="noStrike">
              <a:solidFill>
                <a:srgbClr val="000000"/>
              </a:solidFill>
              <a:effectLst/>
              <a:uFillTx/>
              <a:latin typeface="Arial"/>
            </a:endParaRPr>
          </a:p>
        </p:txBody>
      </p:sp>
      <p:sp>
        <p:nvSpPr>
          <p:cNvPr id="258" name="Prediction step 1"/>
          <p:cNvSpPr/>
          <p:nvPr/>
        </p:nvSpPr>
        <p:spPr>
          <a:xfrm>
            <a:off x="9600840" y="2743200"/>
            <a:ext cx="1858680" cy="511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Learn from the history we have</a:t>
            </a:r>
            <a:endParaRPr lang="en-US" sz="1300" b="0" u="none" strike="noStrike">
              <a:solidFill>
                <a:srgbClr val="000000"/>
              </a:solidFill>
              <a:effectLst/>
              <a:uFillTx/>
              <a:latin typeface="Arial"/>
            </a:endParaRPr>
          </a:p>
        </p:txBody>
      </p:sp>
      <p:sp>
        <p:nvSpPr>
          <p:cNvPr id="259" name="Prediction step 2 number"/>
          <p:cNvSpPr/>
          <p:nvPr/>
        </p:nvSpPr>
        <p:spPr>
          <a:xfrm>
            <a:off x="9207720" y="3346560"/>
            <a:ext cx="273960" cy="273960"/>
          </a:xfrm>
          <a:prstGeom prst="roundRect">
            <a:avLst>
              <a:gd name="adj" fmla="val 50000"/>
            </a:avLst>
          </a:prstGeom>
          <a:solidFill>
            <a:schemeClr val="bg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chemeClr val="dk1"/>
                </a:solidFill>
                <a:effectLst/>
                <a:uFillTx/>
                <a:latin typeface="Arial"/>
                <a:ea typeface="Arial"/>
              </a:rPr>
              <a:t>2</a:t>
            </a:r>
            <a:endParaRPr lang="en-US" sz="1050" b="0" u="none" strike="noStrike">
              <a:solidFill>
                <a:srgbClr val="000000"/>
              </a:solidFill>
              <a:effectLst/>
              <a:uFillTx/>
              <a:latin typeface="Arial"/>
            </a:endParaRPr>
          </a:p>
        </p:txBody>
      </p:sp>
      <p:sp>
        <p:nvSpPr>
          <p:cNvPr id="260" name="Prediction step 2"/>
          <p:cNvSpPr/>
          <p:nvPr/>
        </p:nvSpPr>
        <p:spPr>
          <a:xfrm>
            <a:off x="9600840" y="3310200"/>
            <a:ext cx="1858680" cy="511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Forecast each route's traffic</a:t>
            </a:r>
            <a:endParaRPr lang="en-US" sz="1300" b="0" u="none" strike="noStrike">
              <a:solidFill>
                <a:srgbClr val="000000"/>
              </a:solidFill>
              <a:effectLst/>
              <a:uFillTx/>
              <a:latin typeface="Arial"/>
            </a:endParaRPr>
          </a:p>
        </p:txBody>
      </p:sp>
      <p:sp>
        <p:nvSpPr>
          <p:cNvPr id="261" name="Prediction step 3 number"/>
          <p:cNvSpPr/>
          <p:nvPr/>
        </p:nvSpPr>
        <p:spPr>
          <a:xfrm>
            <a:off x="9207720" y="3913560"/>
            <a:ext cx="273960" cy="273960"/>
          </a:xfrm>
          <a:prstGeom prst="roundRect">
            <a:avLst>
              <a:gd name="adj" fmla="val 50000"/>
            </a:avLst>
          </a:prstGeom>
          <a:solidFill>
            <a:schemeClr val="bg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chemeClr val="dk1"/>
                </a:solidFill>
                <a:effectLst/>
                <a:uFillTx/>
                <a:latin typeface="Arial"/>
                <a:ea typeface="Arial"/>
              </a:rPr>
              <a:t>3</a:t>
            </a:r>
            <a:endParaRPr lang="en-US" sz="1050" b="0" u="none" strike="noStrike">
              <a:solidFill>
                <a:srgbClr val="000000"/>
              </a:solidFill>
              <a:effectLst/>
              <a:uFillTx/>
              <a:latin typeface="Arial"/>
            </a:endParaRPr>
          </a:p>
        </p:txBody>
      </p:sp>
      <p:sp>
        <p:nvSpPr>
          <p:cNvPr id="262" name="Prediction step 3"/>
          <p:cNvSpPr/>
          <p:nvPr/>
        </p:nvSpPr>
        <p:spPr>
          <a:xfrm>
            <a:off x="9600840" y="3877200"/>
            <a:ext cx="1858680" cy="511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dk1"/>
                </a:solidFill>
                <a:effectLst/>
                <a:uFillTx/>
                <a:latin typeface="Calibri"/>
              </a:rPr>
              <a:t>Save forecasts for the map</a:t>
            </a:r>
            <a:endParaRPr lang="en-US" sz="1300" b="0" u="none" strike="noStrike">
              <a:solidFill>
                <a:srgbClr val="000000"/>
              </a:solidFill>
              <a:effectLst/>
              <a:uFillTx/>
              <a:latin typeface="Arial"/>
            </a:endParaRPr>
          </a:p>
        </p:txBody>
      </p:sp>
      <p:sp>
        <p:nvSpPr>
          <p:cNvPr id="263" name="Prediction footer"/>
          <p:cNvSpPr/>
          <p:nvPr/>
        </p:nvSpPr>
        <p:spPr>
          <a:xfrm>
            <a:off x="9207720" y="5431680"/>
            <a:ext cx="2233800" cy="456840"/>
          </a:xfrm>
          <a:prstGeom prst="rect">
            <a:avLst/>
          </a:prstGeom>
          <a:noFill/>
          <a:ln w="0">
            <a:noFill/>
          </a:ln>
        </p:spPr>
        <p:style>
          <a:lnRef idx="0"/>
          <a:fillRef idx="0"/>
          <a:effectRef idx="0"/>
          <a:fontRef idx="minor"/>
        </p:style>
        <p:txBody>
          <a:bodyPr lIns="0" tIns="0" rIns="0" bIns="0" anchor="b">
            <a:noAutofit/>
          </a:bodyPr>
          <a:p>
            <a:pPr defTabSz="914400">
              <a:lnSpc>
                <a:spcPct val="100000"/>
              </a:lnSpc>
              <a:tabLst>
                <a:tab pos="0" algn="l"/>
              </a:tabLst>
            </a:pPr>
            <a:endParaRPr lang="en-US" sz="1800" b="0" u="none" strike="noStrike">
              <a:solidFill>
                <a:srgbClr val="000000"/>
              </a:solidFill>
              <a:effectLst/>
              <a:uFillTx/>
              <a:latin typeface="Arial"/>
            </a:endParaRPr>
          </a:p>
        </p:txBody>
      </p:sp>
      <p:sp>
        <p:nvSpPr>
          <p:cNvPr id="264" name="PlaceHolder 3"/>
          <p:cNvSpPr>
            <a:spLocks noGrp="1"/>
          </p:cNvSpPr>
          <p:nvPr>
            <p:ph type="sldNum" idx="9"/>
          </p:nvPr>
        </p:nvSpPr>
        <p:spPr>
          <a:xfrm>
            <a:off x="11185920" y="6382440"/>
            <a:ext cx="456840" cy="25560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4"/>
                </a:solidFill>
                <a:effectLst/>
                <a:uFillTx/>
                <a:latin typeface="Calibri"/>
              </a:defRPr>
            </a:lvl1pPr>
          </a:lstStyle>
          <a:p>
            <a:pPr indent="0" algn="r" defTabSz="914400">
              <a:lnSpc>
                <a:spcPct val="100000"/>
              </a:lnSpc>
              <a:buNone/>
            </a:pPr>
            <a:fld id="{7AC0B5C9-FA55-40D2-BBA5-684E74B0AC4D}" type="slidenum">
              <a:rPr lang="en-US" sz="1000" b="0" u="none" strike="noStrike">
                <a:solidFill>
                  <a:schemeClr val="accent4"/>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hasCustomPrompt="1"/>
          </p:nvPr>
        </p:nvSpPr>
        <p:spPr>
          <a:xfrm>
            <a:off x="548640" y="640080"/>
            <a:ext cx="8686440" cy="310680"/>
          </a:xfrm>
          <a:prstGeom prst="rect">
            <a:avLst/>
          </a:prstGeom>
          <a:noFill/>
          <a:ln w="0">
            <a:noFill/>
          </a:ln>
        </p:spPr>
        <p:txBody>
          <a:bodyPr lIns="0" tIns="0" rIns="0" bIns="0" anchor="ctr">
            <a:noAutofit/>
          </a:bodyPr>
          <a:p>
            <a:pPr indent="0" algn="l" defTabSz="914400">
              <a:lnSpc>
                <a:spcPct val="100000"/>
              </a:lnSpc>
              <a:spcBef>
                <a:spcPts val="241"/>
              </a:spcBef>
              <a:buNone/>
              <a:tabLst>
                <a:tab pos="0" algn="l"/>
              </a:tabLst>
            </a:pPr>
            <a:r>
              <a:rPr lang="en-US" sz="1200" b="1" u="none" spc="51" strike="noStrike">
                <a:solidFill>
                  <a:schemeClr val="accent6"/>
                </a:solidFill>
                <a:effectLst/>
                <a:uFillTx/>
                <a:latin typeface="Arial"/>
                <a:ea typeface="Arial"/>
              </a:rPr>
              <a:t>05  ·  COMPONENTS</a:t>
            </a:r>
            <a:endParaRPr lang="en-US" sz="1200" b="0" u="none" strike="noStrike">
              <a:solidFill>
                <a:schemeClr val="dk1"/>
              </a:solidFill>
              <a:effectLst/>
              <a:uFillTx/>
              <a:latin typeface="Calibri"/>
            </a:endParaRPr>
          </a:p>
        </p:txBody>
      </p:sp>
      <p:sp>
        <p:nvSpPr>
          <p:cNvPr id="266" name="PlaceHolder 2"/>
          <p:cNvSpPr>
            <a:spLocks noGrp="1"/>
          </p:cNvSpPr>
          <p:nvPr>
            <p:ph type="title" hasCustomPrompt="1"/>
          </p:nvPr>
        </p:nvSpPr>
        <p:spPr>
          <a:xfrm>
            <a:off x="548640" y="951120"/>
            <a:ext cx="10606680" cy="65808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Components, and how they connect</a:t>
            </a:r>
            <a:endParaRPr lang="en-US" sz="3200" b="0" u="none" strike="noStrike">
              <a:solidFill>
                <a:schemeClr val="dk1"/>
              </a:solidFill>
              <a:effectLst/>
              <a:uFillTx/>
              <a:latin typeface="Calibri"/>
            </a:endParaRPr>
          </a:p>
        </p:txBody>
      </p:sp>
      <p:sp>
        <p:nvSpPr>
          <p:cNvPr id="267" name="Components label"/>
          <p:cNvSpPr/>
          <p:nvPr/>
        </p:nvSpPr>
        <p:spPr>
          <a:xfrm>
            <a:off x="548640" y="1737360"/>
            <a:ext cx="539460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51" strike="noStrike">
                <a:solidFill>
                  <a:schemeClr val="accent6"/>
                </a:solidFill>
                <a:effectLst/>
                <a:uFillTx/>
                <a:latin typeface="Arial"/>
                <a:ea typeface="Arial"/>
              </a:rPr>
              <a:t>COMPONENTS</a:t>
            </a:r>
            <a:endParaRPr lang="en-US" sz="1100" b="0" u="none" strike="noStrike">
              <a:solidFill>
                <a:srgbClr val="000000"/>
              </a:solidFill>
              <a:effectLst/>
              <a:uFillTx/>
              <a:latin typeface="Arial"/>
            </a:endParaRPr>
          </a:p>
        </p:txBody>
      </p:sp>
      <p:sp>
        <p:nvSpPr>
          <p:cNvPr id="268" name="Things &amp; data row"/>
          <p:cNvSpPr/>
          <p:nvPr/>
        </p:nvSpPr>
        <p:spPr>
          <a:xfrm>
            <a:off x="548640" y="2057400"/>
            <a:ext cx="5394600" cy="502560"/>
          </a:xfrm>
          <a:prstGeom prst="roundRect">
            <a:avLst>
              <a:gd name="adj" fmla="val 10909"/>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9" name="Things &amp; data circle"/>
          <p:cNvSpPr/>
          <p:nvPr/>
        </p:nvSpPr>
        <p:spPr>
          <a:xfrm>
            <a:off x="658440" y="2121480"/>
            <a:ext cx="374400" cy="374400"/>
          </a:xfrm>
          <a:prstGeom prst="ellipse">
            <a:avLst/>
          </a:prstGeom>
          <a:solidFill>
            <a:schemeClr val="accent1">
              <a:alpha val="20000"/>
            </a:schemeClr>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70" name="Things &amp; data icon" descr="Things &amp; data"/>
          <p:cNvPicPr/>
          <p:nvPr/>
        </p:nvPicPr>
        <p:blipFill>
          <a:blip r:embed="rId1"/>
          <a:stretch/>
        </p:blipFill>
        <p:spPr>
          <a:xfrm>
            <a:off x="740880" y="2203920"/>
            <a:ext cx="209520" cy="209520"/>
          </a:xfrm>
          <a:prstGeom prst="rect">
            <a:avLst/>
          </a:prstGeom>
          <a:noFill/>
          <a:ln w="0">
            <a:noFill/>
          </a:ln>
        </p:spPr>
      </p:pic>
      <p:sp>
        <p:nvSpPr>
          <p:cNvPr id="271" name="Things &amp;amp; data name"/>
          <p:cNvSpPr/>
          <p:nvPr/>
        </p:nvSpPr>
        <p:spPr>
          <a:xfrm>
            <a:off x="1170360" y="2057400"/>
            <a:ext cx="15084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chemeClr val="dk1"/>
                </a:solidFill>
                <a:effectLst/>
                <a:uFillTx/>
                <a:latin typeface="Arial"/>
                <a:ea typeface="Arial"/>
              </a:rPr>
              <a:t>Things &amp; data</a:t>
            </a:r>
            <a:endParaRPr lang="en-US" sz="1250" b="0" u="none" strike="noStrike">
              <a:solidFill>
                <a:srgbClr val="000000"/>
              </a:solidFill>
              <a:effectLst/>
              <a:uFillTx/>
              <a:latin typeface="Arial"/>
            </a:endParaRPr>
          </a:p>
        </p:txBody>
      </p:sp>
      <p:sp>
        <p:nvSpPr>
          <p:cNvPr id="272" name="Things &amp;amp; data tech"/>
          <p:cNvSpPr/>
          <p:nvPr/>
        </p:nvSpPr>
        <p:spPr>
          <a:xfrm>
            <a:off x="2697480" y="2057400"/>
            <a:ext cx="31086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2"/>
                </a:solidFill>
                <a:effectLst/>
                <a:uFillTx/>
                <a:latin typeface="Calibri"/>
              </a:rPr>
              <a:t>No hardware of our own: TomTom's vehicle data, shared by Aarhus Kommune</a:t>
            </a:r>
            <a:endParaRPr lang="en-US" sz="1250" b="0" u="none" strike="noStrike">
              <a:solidFill>
                <a:srgbClr val="000000"/>
              </a:solidFill>
              <a:effectLst/>
              <a:uFillTx/>
              <a:latin typeface="Arial"/>
            </a:endParaRPr>
          </a:p>
        </p:txBody>
      </p:sp>
      <p:sp>
        <p:nvSpPr>
          <p:cNvPr id="273" name="Broker row"/>
          <p:cNvSpPr/>
          <p:nvPr/>
        </p:nvSpPr>
        <p:spPr>
          <a:xfrm>
            <a:off x="548640" y="2624400"/>
            <a:ext cx="5394600" cy="502560"/>
          </a:xfrm>
          <a:prstGeom prst="roundRect">
            <a:avLst>
              <a:gd name="adj" fmla="val 10909"/>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74" name="Broker circle"/>
          <p:cNvSpPr/>
          <p:nvPr/>
        </p:nvSpPr>
        <p:spPr>
          <a:xfrm>
            <a:off x="658440" y="2688480"/>
            <a:ext cx="374400" cy="374400"/>
          </a:xfrm>
          <a:prstGeom prst="ellipse">
            <a:avLst/>
          </a:prstGeom>
          <a:solidFill>
            <a:schemeClr val="accent1">
              <a:alpha val="20000"/>
            </a:schemeClr>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75" name="Broker icon" descr="Broker"/>
          <p:cNvPicPr/>
          <p:nvPr/>
        </p:nvPicPr>
        <p:blipFill>
          <a:blip r:embed="rId2"/>
          <a:stretch/>
        </p:blipFill>
        <p:spPr>
          <a:xfrm>
            <a:off x="740880" y="2770920"/>
            <a:ext cx="209520" cy="209520"/>
          </a:xfrm>
          <a:prstGeom prst="rect">
            <a:avLst/>
          </a:prstGeom>
          <a:noFill/>
          <a:ln w="0">
            <a:noFill/>
          </a:ln>
        </p:spPr>
      </p:pic>
      <p:sp>
        <p:nvSpPr>
          <p:cNvPr id="276" name="Broker name"/>
          <p:cNvSpPr/>
          <p:nvPr/>
        </p:nvSpPr>
        <p:spPr>
          <a:xfrm>
            <a:off x="1170360" y="2624400"/>
            <a:ext cx="15084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chemeClr val="dk1"/>
                </a:solidFill>
                <a:effectLst/>
                <a:uFillTx/>
                <a:latin typeface="Arial"/>
                <a:ea typeface="Arial"/>
              </a:rPr>
              <a:t>Broker</a:t>
            </a:r>
            <a:endParaRPr lang="en-US" sz="1250" b="0" u="none" strike="noStrike">
              <a:solidFill>
                <a:srgbClr val="000000"/>
              </a:solidFill>
              <a:effectLst/>
              <a:uFillTx/>
              <a:latin typeface="Arial"/>
            </a:endParaRPr>
          </a:p>
        </p:txBody>
      </p:sp>
      <p:sp>
        <p:nvSpPr>
          <p:cNvPr id="277" name="Broker tech"/>
          <p:cNvSpPr/>
          <p:nvPr/>
        </p:nvSpPr>
        <p:spPr>
          <a:xfrm>
            <a:off x="2697480" y="2624400"/>
            <a:ext cx="31086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2"/>
                </a:solidFill>
                <a:effectLst/>
                <a:uFillTx/>
                <a:latin typeface="Calibri"/>
              </a:rPr>
              <a:t>Mosquitto 2, MQTT 5</a:t>
            </a:r>
            <a:endParaRPr lang="en-US" sz="1250" b="0" u="none" strike="noStrike">
              <a:solidFill>
                <a:srgbClr val="000000"/>
              </a:solidFill>
              <a:effectLst/>
              <a:uFillTx/>
              <a:latin typeface="Arial"/>
            </a:endParaRPr>
          </a:p>
        </p:txBody>
      </p:sp>
      <p:sp>
        <p:nvSpPr>
          <p:cNvPr id="278" name="Adapter, backend row"/>
          <p:cNvSpPr/>
          <p:nvPr/>
        </p:nvSpPr>
        <p:spPr>
          <a:xfrm>
            <a:off x="548640" y="3191400"/>
            <a:ext cx="5394600" cy="502560"/>
          </a:xfrm>
          <a:prstGeom prst="roundRect">
            <a:avLst>
              <a:gd name="adj" fmla="val 10909"/>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79" name="Adapter, backend circle"/>
          <p:cNvSpPr/>
          <p:nvPr/>
        </p:nvSpPr>
        <p:spPr>
          <a:xfrm>
            <a:off x="658440" y="3255120"/>
            <a:ext cx="374400" cy="374400"/>
          </a:xfrm>
          <a:prstGeom prst="ellipse">
            <a:avLst/>
          </a:prstGeom>
          <a:solidFill>
            <a:schemeClr val="accent1">
              <a:alpha val="20000"/>
            </a:schemeClr>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80" name="Adapter, backend icon" descr="Adapter, backend"/>
          <p:cNvPicPr/>
          <p:nvPr/>
        </p:nvPicPr>
        <p:blipFill>
          <a:blip r:embed="rId3"/>
          <a:stretch/>
        </p:blipFill>
        <p:spPr>
          <a:xfrm>
            <a:off x="740880" y="3337920"/>
            <a:ext cx="209520" cy="209520"/>
          </a:xfrm>
          <a:prstGeom prst="rect">
            <a:avLst/>
          </a:prstGeom>
          <a:noFill/>
          <a:ln w="0">
            <a:noFill/>
          </a:ln>
        </p:spPr>
      </p:pic>
      <p:sp>
        <p:nvSpPr>
          <p:cNvPr id="281" name="Adapter, backend name"/>
          <p:cNvSpPr/>
          <p:nvPr/>
        </p:nvSpPr>
        <p:spPr>
          <a:xfrm>
            <a:off x="1170360" y="3191400"/>
            <a:ext cx="15084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chemeClr val="dk1"/>
                </a:solidFill>
                <a:effectLst/>
                <a:uFillTx/>
                <a:latin typeface="Arial"/>
                <a:ea typeface="Arial"/>
              </a:rPr>
              <a:t>Adapter, backend</a:t>
            </a:r>
            <a:endParaRPr lang="en-US" sz="1250" b="0" u="none" strike="noStrike">
              <a:solidFill>
                <a:srgbClr val="000000"/>
              </a:solidFill>
              <a:effectLst/>
              <a:uFillTx/>
              <a:latin typeface="Arial"/>
            </a:endParaRPr>
          </a:p>
        </p:txBody>
      </p:sp>
      <p:sp>
        <p:nvSpPr>
          <p:cNvPr id="282" name="Adapter, backend tech"/>
          <p:cNvSpPr/>
          <p:nvPr/>
        </p:nvSpPr>
        <p:spPr>
          <a:xfrm>
            <a:off x="2697480" y="3191400"/>
            <a:ext cx="31086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2"/>
                </a:solidFill>
                <a:effectLst/>
                <a:uFillTx/>
                <a:latin typeface="Calibri"/>
              </a:rPr>
              <a:t>Node.js + TypeScript, MQTT.js, Prisma</a:t>
            </a:r>
            <a:endParaRPr lang="en-US" sz="1250" b="0" u="none" strike="noStrike">
              <a:solidFill>
                <a:srgbClr val="000000"/>
              </a:solidFill>
              <a:effectLst/>
              <a:uFillTx/>
              <a:latin typeface="Arial"/>
            </a:endParaRPr>
          </a:p>
        </p:txBody>
      </p:sp>
      <p:sp>
        <p:nvSpPr>
          <p:cNvPr id="283" name="Database row"/>
          <p:cNvSpPr/>
          <p:nvPr/>
        </p:nvSpPr>
        <p:spPr>
          <a:xfrm>
            <a:off x="548640" y="3758040"/>
            <a:ext cx="5394600" cy="502560"/>
          </a:xfrm>
          <a:prstGeom prst="roundRect">
            <a:avLst>
              <a:gd name="adj" fmla="val 10909"/>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84" name="Database circle"/>
          <p:cNvSpPr/>
          <p:nvPr/>
        </p:nvSpPr>
        <p:spPr>
          <a:xfrm>
            <a:off x="658440" y="3822120"/>
            <a:ext cx="374400" cy="374400"/>
          </a:xfrm>
          <a:prstGeom prst="ellipse">
            <a:avLst/>
          </a:prstGeom>
          <a:solidFill>
            <a:schemeClr val="accent1">
              <a:alpha val="20000"/>
            </a:schemeClr>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85" name="Database icon" descr="Database"/>
          <p:cNvPicPr/>
          <p:nvPr/>
        </p:nvPicPr>
        <p:blipFill>
          <a:blip r:embed="rId4"/>
          <a:stretch/>
        </p:blipFill>
        <p:spPr>
          <a:xfrm>
            <a:off x="740880" y="3904560"/>
            <a:ext cx="209520" cy="209520"/>
          </a:xfrm>
          <a:prstGeom prst="rect">
            <a:avLst/>
          </a:prstGeom>
          <a:noFill/>
          <a:ln w="0">
            <a:noFill/>
          </a:ln>
        </p:spPr>
      </p:pic>
      <p:sp>
        <p:nvSpPr>
          <p:cNvPr id="286" name="Database name"/>
          <p:cNvSpPr/>
          <p:nvPr/>
        </p:nvSpPr>
        <p:spPr>
          <a:xfrm>
            <a:off x="1170360" y="3758040"/>
            <a:ext cx="15084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chemeClr val="dk1"/>
                </a:solidFill>
                <a:effectLst/>
                <a:uFillTx/>
                <a:latin typeface="Arial"/>
                <a:ea typeface="Arial"/>
              </a:rPr>
              <a:t>Database</a:t>
            </a:r>
            <a:endParaRPr lang="en-US" sz="1250" b="0" u="none" strike="noStrike">
              <a:solidFill>
                <a:srgbClr val="000000"/>
              </a:solidFill>
              <a:effectLst/>
              <a:uFillTx/>
              <a:latin typeface="Arial"/>
            </a:endParaRPr>
          </a:p>
        </p:txBody>
      </p:sp>
      <p:sp>
        <p:nvSpPr>
          <p:cNvPr id="287" name="Database tech"/>
          <p:cNvSpPr/>
          <p:nvPr/>
        </p:nvSpPr>
        <p:spPr>
          <a:xfrm>
            <a:off x="2697480" y="3758040"/>
            <a:ext cx="31086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2"/>
                </a:solidFill>
                <a:effectLst/>
                <a:uFillTx/>
                <a:latin typeface="Calibri"/>
              </a:rPr>
              <a:t>PostgreSQL 18</a:t>
            </a:r>
            <a:endParaRPr lang="en-US" sz="1250" b="0" u="none" strike="noStrike">
              <a:solidFill>
                <a:srgbClr val="000000"/>
              </a:solidFill>
              <a:effectLst/>
              <a:uFillTx/>
              <a:latin typeface="Arial"/>
            </a:endParaRPr>
          </a:p>
        </p:txBody>
      </p:sp>
      <p:sp>
        <p:nvSpPr>
          <p:cNvPr id="288" name="Frontend row"/>
          <p:cNvSpPr/>
          <p:nvPr/>
        </p:nvSpPr>
        <p:spPr>
          <a:xfrm>
            <a:off x="548640" y="4325040"/>
            <a:ext cx="5394600" cy="502560"/>
          </a:xfrm>
          <a:prstGeom prst="roundRect">
            <a:avLst>
              <a:gd name="adj" fmla="val 10909"/>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89" name="Frontend circle"/>
          <p:cNvSpPr/>
          <p:nvPr/>
        </p:nvSpPr>
        <p:spPr>
          <a:xfrm>
            <a:off x="658440" y="4389120"/>
            <a:ext cx="374400" cy="374400"/>
          </a:xfrm>
          <a:prstGeom prst="ellipse">
            <a:avLst/>
          </a:prstGeom>
          <a:solidFill>
            <a:schemeClr val="accent1">
              <a:alpha val="20000"/>
            </a:schemeClr>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90" name="Frontend icon" descr="Frontend"/>
          <p:cNvPicPr/>
          <p:nvPr/>
        </p:nvPicPr>
        <p:blipFill>
          <a:blip r:embed="rId5"/>
          <a:stretch/>
        </p:blipFill>
        <p:spPr>
          <a:xfrm>
            <a:off x="740880" y="4471560"/>
            <a:ext cx="209520" cy="209520"/>
          </a:xfrm>
          <a:prstGeom prst="rect">
            <a:avLst/>
          </a:prstGeom>
          <a:noFill/>
          <a:ln w="0">
            <a:noFill/>
          </a:ln>
        </p:spPr>
      </p:pic>
      <p:sp>
        <p:nvSpPr>
          <p:cNvPr id="291" name="Frontend name"/>
          <p:cNvSpPr/>
          <p:nvPr/>
        </p:nvSpPr>
        <p:spPr>
          <a:xfrm>
            <a:off x="1170360" y="4325040"/>
            <a:ext cx="15084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chemeClr val="dk1"/>
                </a:solidFill>
                <a:effectLst/>
                <a:uFillTx/>
                <a:latin typeface="Arial"/>
                <a:ea typeface="Arial"/>
              </a:rPr>
              <a:t>Frontend</a:t>
            </a:r>
            <a:endParaRPr lang="en-US" sz="1250" b="0" u="none" strike="noStrike">
              <a:solidFill>
                <a:srgbClr val="000000"/>
              </a:solidFill>
              <a:effectLst/>
              <a:uFillTx/>
              <a:latin typeface="Arial"/>
            </a:endParaRPr>
          </a:p>
        </p:txBody>
      </p:sp>
      <p:sp>
        <p:nvSpPr>
          <p:cNvPr id="292" name="Frontend tech"/>
          <p:cNvSpPr/>
          <p:nvPr/>
        </p:nvSpPr>
        <p:spPr>
          <a:xfrm>
            <a:off x="2697480" y="4325040"/>
            <a:ext cx="31086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2"/>
                </a:solidFill>
                <a:effectLst/>
                <a:uFillTx/>
                <a:latin typeface="Calibri"/>
              </a:rPr>
              <a:t>Next.js 16, Mapbox GL, Better Auth</a:t>
            </a:r>
            <a:endParaRPr lang="en-US" sz="1250" b="0" u="none" strike="noStrike">
              <a:solidFill>
                <a:srgbClr val="000000"/>
              </a:solidFill>
              <a:effectLst/>
              <a:uFillTx/>
              <a:latin typeface="Arial"/>
            </a:endParaRPr>
          </a:p>
        </p:txBody>
      </p:sp>
      <p:sp>
        <p:nvSpPr>
          <p:cNvPr id="293" name="Prediction row"/>
          <p:cNvSpPr/>
          <p:nvPr/>
        </p:nvSpPr>
        <p:spPr>
          <a:xfrm>
            <a:off x="548640" y="4892040"/>
            <a:ext cx="5394600" cy="502560"/>
          </a:xfrm>
          <a:prstGeom prst="roundRect">
            <a:avLst>
              <a:gd name="adj" fmla="val 10909"/>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94" name="Prediction circle"/>
          <p:cNvSpPr/>
          <p:nvPr/>
        </p:nvSpPr>
        <p:spPr>
          <a:xfrm>
            <a:off x="658440" y="4956120"/>
            <a:ext cx="374400" cy="374400"/>
          </a:xfrm>
          <a:prstGeom prst="ellipse">
            <a:avLst/>
          </a:prstGeom>
          <a:solidFill>
            <a:schemeClr val="accent1">
              <a:alpha val="20000"/>
            </a:schemeClr>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95" name="Prediction icon" descr="Prediction"/>
          <p:cNvPicPr/>
          <p:nvPr/>
        </p:nvPicPr>
        <p:blipFill>
          <a:blip r:embed="rId6"/>
          <a:stretch/>
        </p:blipFill>
        <p:spPr>
          <a:xfrm>
            <a:off x="740880" y="5038560"/>
            <a:ext cx="209520" cy="209520"/>
          </a:xfrm>
          <a:prstGeom prst="rect">
            <a:avLst/>
          </a:prstGeom>
          <a:noFill/>
          <a:ln w="0">
            <a:noFill/>
          </a:ln>
        </p:spPr>
      </p:pic>
      <p:sp>
        <p:nvSpPr>
          <p:cNvPr id="296" name="Prediction name"/>
          <p:cNvSpPr/>
          <p:nvPr/>
        </p:nvSpPr>
        <p:spPr>
          <a:xfrm>
            <a:off x="1170360" y="4892040"/>
            <a:ext cx="15084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chemeClr val="dk1"/>
                </a:solidFill>
                <a:effectLst/>
                <a:uFillTx/>
                <a:latin typeface="Arial"/>
                <a:ea typeface="Arial"/>
              </a:rPr>
              <a:t>Prediction</a:t>
            </a:r>
            <a:endParaRPr lang="en-US" sz="1250" b="0" u="none" strike="noStrike">
              <a:solidFill>
                <a:srgbClr val="000000"/>
              </a:solidFill>
              <a:effectLst/>
              <a:uFillTx/>
              <a:latin typeface="Arial"/>
            </a:endParaRPr>
          </a:p>
        </p:txBody>
      </p:sp>
      <p:sp>
        <p:nvSpPr>
          <p:cNvPr id="297" name="Prediction tech"/>
          <p:cNvSpPr/>
          <p:nvPr/>
        </p:nvSpPr>
        <p:spPr>
          <a:xfrm>
            <a:off x="2697480" y="4892040"/>
            <a:ext cx="31086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2"/>
                </a:solidFill>
                <a:effectLst/>
                <a:uFillTx/>
                <a:latin typeface="Calibri"/>
              </a:rPr>
              <a:t>A batch job; the method is still open</a:t>
            </a:r>
            <a:endParaRPr lang="en-US" sz="1250" b="0" u="none" strike="noStrike">
              <a:solidFill>
                <a:srgbClr val="000000"/>
              </a:solidFill>
              <a:effectLst/>
              <a:uFillTx/>
              <a:latin typeface="Arial"/>
            </a:endParaRPr>
          </a:p>
        </p:txBody>
      </p:sp>
      <p:sp>
        <p:nvSpPr>
          <p:cNvPr id="298" name="Runs on row"/>
          <p:cNvSpPr/>
          <p:nvPr/>
        </p:nvSpPr>
        <p:spPr>
          <a:xfrm>
            <a:off x="548640" y="5459040"/>
            <a:ext cx="5394600" cy="502560"/>
          </a:xfrm>
          <a:prstGeom prst="roundRect">
            <a:avLst>
              <a:gd name="adj" fmla="val 10909"/>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99" name="Runs on circle"/>
          <p:cNvSpPr/>
          <p:nvPr/>
        </p:nvSpPr>
        <p:spPr>
          <a:xfrm>
            <a:off x="658440" y="5523120"/>
            <a:ext cx="374400" cy="374400"/>
          </a:xfrm>
          <a:prstGeom prst="ellipse">
            <a:avLst/>
          </a:prstGeom>
          <a:solidFill>
            <a:schemeClr val="accent1">
              <a:alpha val="20000"/>
            </a:schemeClr>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300" name="Runs on icon" descr="Runs on"/>
          <p:cNvPicPr/>
          <p:nvPr/>
        </p:nvPicPr>
        <p:blipFill>
          <a:blip r:embed="rId7"/>
          <a:stretch/>
        </p:blipFill>
        <p:spPr>
          <a:xfrm>
            <a:off x="740880" y="5605560"/>
            <a:ext cx="209520" cy="209520"/>
          </a:xfrm>
          <a:prstGeom prst="rect">
            <a:avLst/>
          </a:prstGeom>
          <a:noFill/>
          <a:ln w="0">
            <a:noFill/>
          </a:ln>
        </p:spPr>
      </p:pic>
      <p:sp>
        <p:nvSpPr>
          <p:cNvPr id="301" name="Runs on name"/>
          <p:cNvSpPr/>
          <p:nvPr/>
        </p:nvSpPr>
        <p:spPr>
          <a:xfrm>
            <a:off x="1170360" y="5459040"/>
            <a:ext cx="15084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chemeClr val="dk1"/>
                </a:solidFill>
                <a:effectLst/>
                <a:uFillTx/>
                <a:latin typeface="Arial"/>
                <a:ea typeface="Arial"/>
              </a:rPr>
              <a:t>Runs on</a:t>
            </a:r>
            <a:endParaRPr lang="en-US" sz="1250" b="0" u="none" strike="noStrike">
              <a:solidFill>
                <a:srgbClr val="000000"/>
              </a:solidFill>
              <a:effectLst/>
              <a:uFillTx/>
              <a:latin typeface="Arial"/>
            </a:endParaRPr>
          </a:p>
        </p:txBody>
      </p:sp>
      <p:sp>
        <p:nvSpPr>
          <p:cNvPr id="302" name="Runs on tech"/>
          <p:cNvSpPr/>
          <p:nvPr/>
        </p:nvSpPr>
        <p:spPr>
          <a:xfrm>
            <a:off x="2697480" y="5459040"/>
            <a:ext cx="31086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2"/>
                </a:solidFill>
                <a:effectLst/>
                <a:uFillTx/>
                <a:latin typeface="Calibri"/>
              </a:rPr>
              <a:t>Docker Compose, one machine</a:t>
            </a:r>
            <a:endParaRPr lang="en-US" sz="1250" b="0" u="none" strike="noStrike">
              <a:solidFill>
                <a:srgbClr val="000000"/>
              </a:solidFill>
              <a:effectLst/>
              <a:uFillTx/>
              <a:latin typeface="Arial"/>
            </a:endParaRPr>
          </a:p>
        </p:txBody>
      </p:sp>
      <p:sp>
        <p:nvSpPr>
          <p:cNvPr id="303" name="Connections label"/>
          <p:cNvSpPr/>
          <p:nvPr/>
        </p:nvSpPr>
        <p:spPr>
          <a:xfrm>
            <a:off x="6217920" y="1737360"/>
            <a:ext cx="54248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51" strike="noStrike">
                <a:solidFill>
                  <a:schemeClr val="accent6"/>
                </a:solidFill>
                <a:effectLst/>
                <a:uFillTx/>
                <a:latin typeface="Arial"/>
                <a:ea typeface="Arial"/>
              </a:rPr>
              <a:t>HOW THEY CONNECT: MQTT TOPICS PER CITY</a:t>
            </a:r>
            <a:endParaRPr lang="en-US" sz="1100" b="0" u="none" strike="noStrike">
              <a:solidFill>
                <a:srgbClr val="000000"/>
              </a:solidFill>
              <a:effectLst/>
              <a:uFillTx/>
              <a:latin typeface="Arial"/>
            </a:endParaRPr>
          </a:p>
        </p:txBody>
      </p:sp>
      <p:sp>
        <p:nvSpPr>
          <p:cNvPr id="304" name="Topics card"/>
          <p:cNvSpPr/>
          <p:nvPr/>
        </p:nvSpPr>
        <p:spPr>
          <a:xfrm>
            <a:off x="6217920" y="2057400"/>
            <a:ext cx="5424840" cy="1938240"/>
          </a:xfrm>
          <a:prstGeom prst="roundRect">
            <a:avLst>
              <a:gd name="adj" fmla="val 3774"/>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05" name="Topic 1"/>
          <p:cNvSpPr/>
          <p:nvPr/>
        </p:nvSpPr>
        <p:spPr>
          <a:xfrm>
            <a:off x="6446520" y="2212920"/>
            <a:ext cx="5059080" cy="246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chemeClr val="accent1"/>
                </a:solidFill>
                <a:effectLst/>
                <a:uFillTx/>
                <a:latin typeface="Courier New"/>
                <a:ea typeface="Courier New"/>
              </a:rPr>
              <a:t>greenwave/v1/{city}/routes/{id}/observations</a:t>
            </a:r>
            <a:endParaRPr lang="en-US" sz="1100" b="0" u="none" strike="noStrike">
              <a:solidFill>
                <a:srgbClr val="000000"/>
              </a:solidFill>
              <a:effectLst/>
              <a:uFillTx/>
              <a:latin typeface="Arial"/>
            </a:endParaRPr>
          </a:p>
        </p:txBody>
      </p:sp>
      <p:sp>
        <p:nvSpPr>
          <p:cNvPr id="306" name="Topic 1 desc"/>
          <p:cNvSpPr/>
          <p:nvPr/>
        </p:nvSpPr>
        <p:spPr>
          <a:xfrm>
            <a:off x="6446520" y="2459880"/>
            <a:ext cx="5059080" cy="246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chemeClr val="lt1">
                    <a:alpha val="85000"/>
                  </a:schemeClr>
                </a:solidFill>
                <a:effectLst/>
                <a:uFillTx/>
                <a:latin typeface="Calibri"/>
              </a:rPr>
              <a:t>readings: adapter → backend</a:t>
            </a:r>
            <a:endParaRPr lang="en-US" sz="1200" b="0" u="none" strike="noStrike">
              <a:solidFill>
                <a:srgbClr val="000000"/>
              </a:solidFill>
              <a:effectLst/>
              <a:uFillTx/>
              <a:latin typeface="Arial"/>
            </a:endParaRPr>
          </a:p>
        </p:txBody>
      </p:sp>
      <p:sp>
        <p:nvSpPr>
          <p:cNvPr id="307" name="Topic 2"/>
          <p:cNvSpPr/>
          <p:nvPr/>
        </p:nvSpPr>
        <p:spPr>
          <a:xfrm>
            <a:off x="6446520" y="2788920"/>
            <a:ext cx="5059080" cy="246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chemeClr val="accent1"/>
                </a:solidFill>
                <a:effectLst/>
                <a:uFillTx/>
                <a:latin typeface="Courier New"/>
                <a:ea typeface="Courier New"/>
              </a:rPr>
              <a:t>greenwave/v1/{city}/routes/{id}/state</a:t>
            </a:r>
            <a:endParaRPr lang="en-US" sz="1100" b="0" u="none" strike="noStrike">
              <a:solidFill>
                <a:srgbClr val="000000"/>
              </a:solidFill>
              <a:effectLst/>
              <a:uFillTx/>
              <a:latin typeface="Arial"/>
            </a:endParaRPr>
          </a:p>
        </p:txBody>
      </p:sp>
      <p:sp>
        <p:nvSpPr>
          <p:cNvPr id="308" name="Topic 2 desc"/>
          <p:cNvSpPr/>
          <p:nvPr/>
        </p:nvSpPr>
        <p:spPr>
          <a:xfrm>
            <a:off x="6446520" y="3035880"/>
            <a:ext cx="5059080" cy="246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chemeClr val="lt1">
                    <a:alpha val="85000"/>
                  </a:schemeClr>
                </a:solidFill>
                <a:effectLst/>
                <a:uFillTx/>
                <a:latin typeface="Calibri"/>
              </a:rPr>
              <a:t>state: backend → map, kept for new viewers</a:t>
            </a:r>
            <a:endParaRPr lang="en-US" sz="1200" b="0" u="none" strike="noStrike">
              <a:solidFill>
                <a:srgbClr val="000000"/>
              </a:solidFill>
              <a:effectLst/>
              <a:uFillTx/>
              <a:latin typeface="Arial"/>
            </a:endParaRPr>
          </a:p>
        </p:txBody>
      </p:sp>
      <p:sp>
        <p:nvSpPr>
          <p:cNvPr id="309" name="Topic 3"/>
          <p:cNvSpPr/>
          <p:nvPr/>
        </p:nvSpPr>
        <p:spPr>
          <a:xfrm>
            <a:off x="6446520" y="3364920"/>
            <a:ext cx="5059080" cy="246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chemeClr val="accent1"/>
                </a:solidFill>
                <a:effectLst/>
                <a:uFillTx/>
                <a:latin typeface="Courier New"/>
                <a:ea typeface="Courier New"/>
              </a:rPr>
              <a:t>greenwave/v1/{city}/adapter/status</a:t>
            </a:r>
            <a:endParaRPr lang="en-US" sz="1100" b="0" u="none" strike="noStrike">
              <a:solidFill>
                <a:srgbClr val="000000"/>
              </a:solidFill>
              <a:effectLst/>
              <a:uFillTx/>
              <a:latin typeface="Arial"/>
            </a:endParaRPr>
          </a:p>
        </p:txBody>
      </p:sp>
      <p:sp>
        <p:nvSpPr>
          <p:cNvPr id="310" name="Topic 3 desc"/>
          <p:cNvSpPr/>
          <p:nvPr/>
        </p:nvSpPr>
        <p:spPr>
          <a:xfrm>
            <a:off x="6446520" y="3611880"/>
            <a:ext cx="5059080" cy="246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chemeClr val="lt1">
                    <a:alpha val="85000"/>
                  </a:schemeClr>
                </a:solidFill>
                <a:effectLst/>
                <a:uFillTx/>
                <a:latin typeface="Calibri"/>
              </a:rPr>
              <a:t>'offline' if the adapter dies (Last Will)</a:t>
            </a:r>
            <a:endParaRPr lang="en-US" sz="1200" b="0" u="none" strike="noStrike">
              <a:solidFill>
                <a:srgbClr val="000000"/>
              </a:solidFill>
              <a:effectLst/>
              <a:uFillTx/>
              <a:latin typeface="Arial"/>
            </a:endParaRPr>
          </a:p>
        </p:txBody>
      </p:sp>
      <p:sp>
        <p:nvSpPr>
          <p:cNvPr id="311" name="New city circle"/>
          <p:cNvSpPr/>
          <p:nvPr/>
        </p:nvSpPr>
        <p:spPr>
          <a:xfrm>
            <a:off x="6217920" y="4215240"/>
            <a:ext cx="383760" cy="383760"/>
          </a:xfrm>
          <a:prstGeom prst="ellipse">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12" name="New city icon" descr="New city"/>
          <p:cNvPicPr/>
          <p:nvPr/>
        </p:nvPicPr>
        <p:blipFill>
          <a:blip r:embed="rId8"/>
          <a:stretch/>
        </p:blipFill>
        <p:spPr>
          <a:xfrm>
            <a:off x="6304320" y="4301640"/>
            <a:ext cx="210960" cy="210960"/>
          </a:xfrm>
          <a:prstGeom prst="rect">
            <a:avLst/>
          </a:prstGeom>
          <a:noFill/>
          <a:ln w="0">
            <a:noFill/>
          </a:ln>
        </p:spPr>
      </p:pic>
      <p:sp>
        <p:nvSpPr>
          <p:cNvPr id="313" name="New city fact"/>
          <p:cNvSpPr/>
          <p:nvPr/>
        </p:nvSpPr>
        <p:spPr>
          <a:xfrm>
            <a:off x="6739200" y="4160520"/>
            <a:ext cx="490356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chemeClr val="dk1"/>
                </a:solidFill>
                <a:effectLst/>
                <a:uFillTx/>
                <a:latin typeface="Calibri"/>
              </a:rPr>
              <a:t>New city: </a:t>
            </a:r>
            <a:r>
              <a:rPr lang="en-US" sz="1250" b="0" u="none" strike="noStrike">
                <a:solidFill>
                  <a:schemeClr val="dk2"/>
                </a:solidFill>
                <a:effectLst/>
                <a:uFillTx/>
                <a:latin typeface="Calibri"/>
              </a:rPr>
              <a:t>one more adapter, plus a broker login that may only write to its own city</a:t>
            </a:r>
            <a:endParaRPr lang="en-US" sz="1250" b="0" u="none" strike="noStrike">
              <a:solidFill>
                <a:srgbClr val="000000"/>
              </a:solidFill>
              <a:effectLst/>
              <a:uFillTx/>
              <a:latin typeface="Arial"/>
            </a:endParaRPr>
          </a:p>
        </p:txBody>
      </p:sp>
      <p:sp>
        <p:nvSpPr>
          <p:cNvPr id="314" name="Event ids circle"/>
          <p:cNvSpPr/>
          <p:nvPr/>
        </p:nvSpPr>
        <p:spPr>
          <a:xfrm>
            <a:off x="6217920" y="4837320"/>
            <a:ext cx="383760" cy="383760"/>
          </a:xfrm>
          <a:prstGeom prst="ellipse">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15" name="Event ids icon" descr="Event ids"/>
          <p:cNvPicPr/>
          <p:nvPr/>
        </p:nvPicPr>
        <p:blipFill>
          <a:blip r:embed="rId9"/>
          <a:stretch/>
        </p:blipFill>
        <p:spPr>
          <a:xfrm>
            <a:off x="6304320" y="4923720"/>
            <a:ext cx="210960" cy="210960"/>
          </a:xfrm>
          <a:prstGeom prst="rect">
            <a:avLst/>
          </a:prstGeom>
          <a:noFill/>
          <a:ln w="0">
            <a:noFill/>
          </a:ln>
        </p:spPr>
      </p:pic>
      <p:sp>
        <p:nvSpPr>
          <p:cNvPr id="316" name="Event ids fact"/>
          <p:cNvSpPr/>
          <p:nvPr/>
        </p:nvSpPr>
        <p:spPr>
          <a:xfrm>
            <a:off x="6739200" y="4782240"/>
            <a:ext cx="490356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chemeClr val="dk1"/>
                </a:solidFill>
                <a:effectLst/>
                <a:uFillTx/>
                <a:latin typeface="Calibri"/>
              </a:rPr>
              <a:t>Event ids: </a:t>
            </a:r>
            <a:r>
              <a:rPr lang="en-US" sz="1250" b="0" u="none" strike="noStrike">
                <a:solidFill>
                  <a:schemeClr val="dk2"/>
                </a:solidFill>
                <a:effectLst/>
                <a:uFillTx/>
                <a:latin typeface="Calibri"/>
              </a:rPr>
              <a:t>every reading has one, so a repeat is recognised and dropped</a:t>
            </a:r>
            <a:endParaRPr lang="en-US" sz="1250" b="0" u="none" strike="noStrike">
              <a:solidFill>
                <a:srgbClr val="000000"/>
              </a:solidFill>
              <a:effectLst/>
              <a:uFillTx/>
              <a:latin typeface="Arial"/>
            </a:endParaRPr>
          </a:p>
        </p:txBody>
      </p:sp>
      <p:sp>
        <p:nvSpPr>
          <p:cNvPr id="317" name="Subscribers circle"/>
          <p:cNvSpPr/>
          <p:nvPr/>
        </p:nvSpPr>
        <p:spPr>
          <a:xfrm>
            <a:off x="6217920" y="5459040"/>
            <a:ext cx="383760" cy="383760"/>
          </a:xfrm>
          <a:prstGeom prst="ellipse">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18" name="Subscribers icon" descr="Subscribers"/>
          <p:cNvPicPr/>
          <p:nvPr/>
        </p:nvPicPr>
        <p:blipFill>
          <a:blip r:embed="rId10"/>
          <a:stretch/>
        </p:blipFill>
        <p:spPr>
          <a:xfrm>
            <a:off x="6304320" y="5545440"/>
            <a:ext cx="210960" cy="210960"/>
          </a:xfrm>
          <a:prstGeom prst="rect">
            <a:avLst/>
          </a:prstGeom>
          <a:noFill/>
          <a:ln w="0">
            <a:noFill/>
          </a:ln>
        </p:spPr>
      </p:pic>
      <p:sp>
        <p:nvSpPr>
          <p:cNvPr id="319" name="Subscribers fact"/>
          <p:cNvSpPr/>
          <p:nvPr/>
        </p:nvSpPr>
        <p:spPr>
          <a:xfrm>
            <a:off x="6739200" y="5403960"/>
            <a:ext cx="490356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chemeClr val="dk1"/>
                </a:solidFill>
                <a:effectLst/>
                <a:uFillTx/>
                <a:latin typeface="Calibri"/>
              </a:rPr>
              <a:t>Subscribers: </a:t>
            </a:r>
            <a:r>
              <a:rPr lang="en-US" sz="1250" b="0" u="none" strike="noStrike">
                <a:solidFill>
                  <a:schemeClr val="dk2"/>
                </a:solidFill>
                <a:effectLst/>
                <a:uFillTx/>
                <a:latin typeface="Calibri"/>
              </a:rPr>
              <a:t>backend copies share one subscription; browsers can only read</a:t>
            </a:r>
            <a:endParaRPr lang="en-US" sz="1250" b="0" u="none" strike="noStrike">
              <a:solidFill>
                <a:srgbClr val="000000"/>
              </a:solidFill>
              <a:effectLst/>
              <a:uFillTx/>
              <a:latin typeface="Arial"/>
            </a:endParaRPr>
          </a:p>
        </p:txBody>
      </p:sp>
      <p:sp>
        <p:nvSpPr>
          <p:cNvPr id="320" name="PlaceHolder 3"/>
          <p:cNvSpPr>
            <a:spLocks noGrp="1"/>
          </p:cNvSpPr>
          <p:nvPr>
            <p:ph type="sldNum" idx="10"/>
          </p:nvPr>
        </p:nvSpPr>
        <p:spPr>
          <a:xfrm>
            <a:off x="11185920" y="6382440"/>
            <a:ext cx="456840" cy="25560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4"/>
                </a:solidFill>
                <a:effectLst/>
                <a:uFillTx/>
                <a:latin typeface="Calibri"/>
              </a:defRPr>
            </a:lvl1pPr>
          </a:lstStyle>
          <a:p>
            <a:pPr indent="0" algn="r" defTabSz="914400">
              <a:lnSpc>
                <a:spcPct val="100000"/>
              </a:lnSpc>
              <a:buNone/>
            </a:pPr>
            <a:fld id="{4F3ED476-7AB5-40F5-AC33-145B89354260}" type="slidenum">
              <a:rPr lang="en-US" sz="1000" b="0" u="none" strike="noStrike">
                <a:solidFill>
                  <a:schemeClr val="accent4"/>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hasCustomPrompt="1"/>
          </p:nvPr>
        </p:nvSpPr>
        <p:spPr>
          <a:xfrm>
            <a:off x="548640" y="640080"/>
            <a:ext cx="8686440" cy="310680"/>
          </a:xfrm>
          <a:prstGeom prst="rect">
            <a:avLst/>
          </a:prstGeom>
          <a:noFill/>
          <a:ln w="0">
            <a:noFill/>
          </a:ln>
        </p:spPr>
        <p:txBody>
          <a:bodyPr lIns="0" tIns="0" rIns="0" bIns="0" anchor="ctr">
            <a:noAutofit/>
          </a:bodyPr>
          <a:p>
            <a:pPr indent="0" algn="l" defTabSz="914400">
              <a:lnSpc>
                <a:spcPct val="100000"/>
              </a:lnSpc>
              <a:spcBef>
                <a:spcPts val="241"/>
              </a:spcBef>
              <a:buNone/>
              <a:tabLst>
                <a:tab pos="0" algn="l"/>
              </a:tabLst>
            </a:pPr>
            <a:r>
              <a:rPr lang="en-US" sz="1200" b="1" u="none" spc="51" strike="noStrike">
                <a:solidFill>
                  <a:schemeClr val="accent6"/>
                </a:solidFill>
                <a:effectLst/>
                <a:uFillTx/>
                <a:latin typeface="Arial"/>
                <a:ea typeface="Arial"/>
              </a:rPr>
              <a:t>06  ·  SCALABILITY</a:t>
            </a:r>
            <a:endParaRPr lang="en-US" sz="1200" b="0" u="none" strike="noStrike">
              <a:solidFill>
                <a:schemeClr val="dk1"/>
              </a:solidFill>
              <a:effectLst/>
              <a:uFillTx/>
              <a:latin typeface="Calibri"/>
            </a:endParaRPr>
          </a:p>
        </p:txBody>
      </p:sp>
      <p:sp>
        <p:nvSpPr>
          <p:cNvPr id="322" name="PlaceHolder 2"/>
          <p:cNvSpPr>
            <a:spLocks noGrp="1"/>
          </p:cNvSpPr>
          <p:nvPr>
            <p:ph type="title" hasCustomPrompt="1"/>
          </p:nvPr>
        </p:nvSpPr>
        <p:spPr>
          <a:xfrm>
            <a:off x="548640" y="951120"/>
            <a:ext cx="10606680" cy="65808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How it scales</a:t>
            </a:r>
            <a:endParaRPr lang="en-US" sz="3200" b="0" u="none" strike="noStrike">
              <a:solidFill>
                <a:schemeClr val="dk1"/>
              </a:solidFill>
              <a:effectLst/>
              <a:uFillTx/>
              <a:latin typeface="Calibri"/>
            </a:endParaRPr>
          </a:p>
        </p:txBody>
      </p:sp>
      <p:sp>
        <p:nvSpPr>
          <p:cNvPr id="323" name="Cities card"/>
          <p:cNvSpPr/>
          <p:nvPr/>
        </p:nvSpPr>
        <p:spPr>
          <a:xfrm>
            <a:off x="548640" y="1783080"/>
            <a:ext cx="6949080" cy="749520"/>
          </a:xfrm>
          <a:prstGeom prst="roundRect">
            <a:avLst>
              <a:gd name="adj" fmla="val 7317"/>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24" name="Cities circle"/>
          <p:cNvSpPr/>
          <p:nvPr/>
        </p:nvSpPr>
        <p:spPr>
          <a:xfrm>
            <a:off x="713160" y="1938600"/>
            <a:ext cx="438480" cy="438480"/>
          </a:xfrm>
          <a:prstGeom prst="ellipse">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25" name="Cities icon" descr="Cities"/>
          <p:cNvPicPr/>
          <p:nvPr/>
        </p:nvPicPr>
        <p:blipFill>
          <a:blip r:embed="rId1"/>
          <a:stretch/>
        </p:blipFill>
        <p:spPr>
          <a:xfrm>
            <a:off x="818640" y="2043720"/>
            <a:ext cx="227880" cy="227880"/>
          </a:xfrm>
          <a:prstGeom prst="rect">
            <a:avLst/>
          </a:prstGeom>
          <a:noFill/>
          <a:ln w="0">
            <a:noFill/>
          </a:ln>
        </p:spPr>
      </p:pic>
      <p:sp>
        <p:nvSpPr>
          <p:cNvPr id="326" name="Cities name"/>
          <p:cNvSpPr/>
          <p:nvPr/>
        </p:nvSpPr>
        <p:spPr>
          <a:xfrm>
            <a:off x="1298520" y="1783080"/>
            <a:ext cx="123408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Arial"/>
                <a:ea typeface="Arial"/>
              </a:rPr>
              <a:t>Cities</a:t>
            </a:r>
            <a:endParaRPr lang="en-US" sz="1400" b="0" u="none" strike="noStrike">
              <a:solidFill>
                <a:srgbClr val="000000"/>
              </a:solidFill>
              <a:effectLst/>
              <a:uFillTx/>
              <a:latin typeface="Arial"/>
            </a:endParaRPr>
          </a:p>
        </p:txBody>
      </p:sp>
      <p:sp>
        <p:nvSpPr>
          <p:cNvPr id="327" name="Cities response"/>
          <p:cNvSpPr/>
          <p:nvPr/>
        </p:nvSpPr>
        <p:spPr>
          <a:xfrm>
            <a:off x="2560320" y="1783080"/>
            <a:ext cx="475452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2"/>
                </a:solidFill>
                <a:effectLst/>
                <a:uFillTx/>
                <a:latin typeface="Calibri"/>
              </a:rPr>
              <a:t>One more adapter. Calls to a city's API grow with its routes, not with viewers</a:t>
            </a:r>
            <a:endParaRPr lang="en-US" sz="1250" b="0" u="none" strike="noStrike">
              <a:solidFill>
                <a:srgbClr val="000000"/>
              </a:solidFill>
              <a:effectLst/>
              <a:uFillTx/>
              <a:latin typeface="Arial"/>
            </a:endParaRPr>
          </a:p>
        </p:txBody>
      </p:sp>
      <p:sp>
        <p:nvSpPr>
          <p:cNvPr id="328" name="Messages card"/>
          <p:cNvSpPr/>
          <p:nvPr/>
        </p:nvSpPr>
        <p:spPr>
          <a:xfrm>
            <a:off x="548640" y="2642760"/>
            <a:ext cx="6949080" cy="749520"/>
          </a:xfrm>
          <a:prstGeom prst="roundRect">
            <a:avLst>
              <a:gd name="adj" fmla="val 7317"/>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29" name="Messages circle"/>
          <p:cNvSpPr/>
          <p:nvPr/>
        </p:nvSpPr>
        <p:spPr>
          <a:xfrm>
            <a:off x="713160" y="2797920"/>
            <a:ext cx="438480" cy="438480"/>
          </a:xfrm>
          <a:prstGeom prst="ellipse">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30" name="Messages icon" descr="Messages"/>
          <p:cNvPicPr/>
          <p:nvPr/>
        </p:nvPicPr>
        <p:blipFill>
          <a:blip r:embed="rId2"/>
          <a:stretch/>
        </p:blipFill>
        <p:spPr>
          <a:xfrm>
            <a:off x="818640" y="2903400"/>
            <a:ext cx="227880" cy="227880"/>
          </a:xfrm>
          <a:prstGeom prst="rect">
            <a:avLst/>
          </a:prstGeom>
          <a:noFill/>
          <a:ln w="0">
            <a:noFill/>
          </a:ln>
        </p:spPr>
      </p:pic>
      <p:sp>
        <p:nvSpPr>
          <p:cNvPr id="331" name="Messages name"/>
          <p:cNvSpPr/>
          <p:nvPr/>
        </p:nvSpPr>
        <p:spPr>
          <a:xfrm>
            <a:off x="1298520" y="2642760"/>
            <a:ext cx="123408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Arial"/>
                <a:ea typeface="Arial"/>
              </a:rPr>
              <a:t>Messages</a:t>
            </a:r>
            <a:endParaRPr lang="en-US" sz="1400" b="0" u="none" strike="noStrike">
              <a:solidFill>
                <a:srgbClr val="000000"/>
              </a:solidFill>
              <a:effectLst/>
              <a:uFillTx/>
              <a:latin typeface="Arial"/>
            </a:endParaRPr>
          </a:p>
        </p:txBody>
      </p:sp>
      <p:sp>
        <p:nvSpPr>
          <p:cNvPr id="332" name="Messages response"/>
          <p:cNvSpPr/>
          <p:nvPr/>
        </p:nvSpPr>
        <p:spPr>
          <a:xfrm>
            <a:off x="2560320" y="2642760"/>
            <a:ext cx="475452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2"/>
                </a:solidFill>
                <a:effectLst/>
                <a:uFillTx/>
                <a:latin typeface="Calibri"/>
              </a:rPr>
              <a:t>One Mosquitto handles far more; beyond that, bridge regional brokers or use a clustering broker, no client changes</a:t>
            </a:r>
            <a:endParaRPr lang="en-US" sz="1250" b="0" u="none" strike="noStrike">
              <a:solidFill>
                <a:srgbClr val="000000"/>
              </a:solidFill>
              <a:effectLst/>
              <a:uFillTx/>
              <a:latin typeface="Arial"/>
            </a:endParaRPr>
          </a:p>
        </p:txBody>
      </p:sp>
      <p:sp>
        <p:nvSpPr>
          <p:cNvPr id="333" name="Processing card"/>
          <p:cNvSpPr/>
          <p:nvPr/>
        </p:nvSpPr>
        <p:spPr>
          <a:xfrm>
            <a:off x="548640" y="3502080"/>
            <a:ext cx="6949080" cy="749520"/>
          </a:xfrm>
          <a:prstGeom prst="roundRect">
            <a:avLst>
              <a:gd name="adj" fmla="val 7317"/>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34" name="Processing circle"/>
          <p:cNvSpPr/>
          <p:nvPr/>
        </p:nvSpPr>
        <p:spPr>
          <a:xfrm>
            <a:off x="713160" y="3657600"/>
            <a:ext cx="438480" cy="438480"/>
          </a:xfrm>
          <a:prstGeom prst="ellipse">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35" name="Processing icon" descr="Processing"/>
          <p:cNvPicPr/>
          <p:nvPr/>
        </p:nvPicPr>
        <p:blipFill>
          <a:blip r:embed="rId3"/>
          <a:stretch/>
        </p:blipFill>
        <p:spPr>
          <a:xfrm>
            <a:off x="818640" y="3763080"/>
            <a:ext cx="227880" cy="227880"/>
          </a:xfrm>
          <a:prstGeom prst="rect">
            <a:avLst/>
          </a:prstGeom>
          <a:noFill/>
          <a:ln w="0">
            <a:noFill/>
          </a:ln>
        </p:spPr>
      </p:pic>
      <p:sp>
        <p:nvSpPr>
          <p:cNvPr id="336" name="Processing name"/>
          <p:cNvSpPr/>
          <p:nvPr/>
        </p:nvSpPr>
        <p:spPr>
          <a:xfrm>
            <a:off x="1298520" y="3502080"/>
            <a:ext cx="123408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Arial"/>
                <a:ea typeface="Arial"/>
              </a:rPr>
              <a:t>Processing</a:t>
            </a:r>
            <a:endParaRPr lang="en-US" sz="1400" b="0" u="none" strike="noStrike">
              <a:solidFill>
                <a:srgbClr val="000000"/>
              </a:solidFill>
              <a:effectLst/>
              <a:uFillTx/>
              <a:latin typeface="Arial"/>
            </a:endParaRPr>
          </a:p>
        </p:txBody>
      </p:sp>
      <p:sp>
        <p:nvSpPr>
          <p:cNvPr id="337" name="Processing response"/>
          <p:cNvSpPr/>
          <p:nvPr/>
        </p:nvSpPr>
        <p:spPr>
          <a:xfrm>
            <a:off x="2560320" y="3502080"/>
            <a:ext cx="475452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2"/>
                </a:solidFill>
                <a:effectLst/>
                <a:uFillTx/>
                <a:latin typeface="Calibri"/>
              </a:rPr>
              <a:t>More backend copies on the shared subscription</a:t>
            </a:r>
            <a:endParaRPr lang="en-US" sz="1250" b="0" u="none" strike="noStrike">
              <a:solidFill>
                <a:srgbClr val="000000"/>
              </a:solidFill>
              <a:effectLst/>
              <a:uFillTx/>
              <a:latin typeface="Arial"/>
            </a:endParaRPr>
          </a:p>
        </p:txBody>
      </p:sp>
      <p:sp>
        <p:nvSpPr>
          <p:cNvPr id="338" name="Data card"/>
          <p:cNvSpPr/>
          <p:nvPr/>
        </p:nvSpPr>
        <p:spPr>
          <a:xfrm>
            <a:off x="548640" y="4361760"/>
            <a:ext cx="6949080" cy="749520"/>
          </a:xfrm>
          <a:prstGeom prst="roundRect">
            <a:avLst>
              <a:gd name="adj" fmla="val 7317"/>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39" name="Data circle"/>
          <p:cNvSpPr/>
          <p:nvPr/>
        </p:nvSpPr>
        <p:spPr>
          <a:xfrm>
            <a:off x="713160" y="4517280"/>
            <a:ext cx="438480" cy="438480"/>
          </a:xfrm>
          <a:prstGeom prst="ellipse">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40" name="Data icon" descr="Data"/>
          <p:cNvPicPr/>
          <p:nvPr/>
        </p:nvPicPr>
        <p:blipFill>
          <a:blip r:embed="rId4"/>
          <a:stretch/>
        </p:blipFill>
        <p:spPr>
          <a:xfrm>
            <a:off x="818640" y="4622400"/>
            <a:ext cx="227880" cy="227880"/>
          </a:xfrm>
          <a:prstGeom prst="rect">
            <a:avLst/>
          </a:prstGeom>
          <a:noFill/>
          <a:ln w="0">
            <a:noFill/>
          </a:ln>
        </p:spPr>
      </p:pic>
      <p:sp>
        <p:nvSpPr>
          <p:cNvPr id="341" name="Data name"/>
          <p:cNvSpPr/>
          <p:nvPr/>
        </p:nvSpPr>
        <p:spPr>
          <a:xfrm>
            <a:off x="1298520" y="4361760"/>
            <a:ext cx="123408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Arial"/>
                <a:ea typeface="Arial"/>
              </a:rPr>
              <a:t>Data</a:t>
            </a:r>
            <a:endParaRPr lang="en-US" sz="1400" b="0" u="none" strike="noStrike">
              <a:solidFill>
                <a:srgbClr val="000000"/>
              </a:solidFill>
              <a:effectLst/>
              <a:uFillTx/>
              <a:latin typeface="Arial"/>
            </a:endParaRPr>
          </a:p>
        </p:txBody>
      </p:sp>
      <p:sp>
        <p:nvSpPr>
          <p:cNvPr id="342" name="Data response"/>
          <p:cNvSpPr/>
          <p:nvPr/>
        </p:nvSpPr>
        <p:spPr>
          <a:xfrm>
            <a:off x="2560320" y="4361760"/>
            <a:ext cx="475452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2"/>
                </a:solidFill>
                <a:effectLst/>
                <a:uFillTx/>
                <a:latin typeface="Calibri"/>
              </a:rPr>
              <a:t>Latest state is one row per segment; history is aggregated, with retention or partitioning later</a:t>
            </a:r>
            <a:endParaRPr lang="en-US" sz="1250" b="0" u="none" strike="noStrike">
              <a:solidFill>
                <a:srgbClr val="000000"/>
              </a:solidFill>
              <a:effectLst/>
              <a:uFillTx/>
              <a:latin typeface="Arial"/>
            </a:endParaRPr>
          </a:p>
        </p:txBody>
      </p:sp>
      <p:sp>
        <p:nvSpPr>
          <p:cNvPr id="343" name="Viewers card"/>
          <p:cNvSpPr/>
          <p:nvPr/>
        </p:nvSpPr>
        <p:spPr>
          <a:xfrm>
            <a:off x="548640" y="5221080"/>
            <a:ext cx="6949080" cy="749520"/>
          </a:xfrm>
          <a:prstGeom prst="roundRect">
            <a:avLst>
              <a:gd name="adj" fmla="val 7317"/>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44" name="Viewers circle"/>
          <p:cNvSpPr/>
          <p:nvPr/>
        </p:nvSpPr>
        <p:spPr>
          <a:xfrm>
            <a:off x="713160" y="5376600"/>
            <a:ext cx="438480" cy="438480"/>
          </a:xfrm>
          <a:prstGeom prst="ellipse">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45" name="Viewers icon" descr="Viewers"/>
          <p:cNvPicPr/>
          <p:nvPr/>
        </p:nvPicPr>
        <p:blipFill>
          <a:blip r:embed="rId5"/>
          <a:stretch/>
        </p:blipFill>
        <p:spPr>
          <a:xfrm>
            <a:off x="818640" y="5482080"/>
            <a:ext cx="227880" cy="227880"/>
          </a:xfrm>
          <a:prstGeom prst="rect">
            <a:avLst/>
          </a:prstGeom>
          <a:noFill/>
          <a:ln w="0">
            <a:noFill/>
          </a:ln>
        </p:spPr>
      </p:pic>
      <p:sp>
        <p:nvSpPr>
          <p:cNvPr id="346" name="Viewers name"/>
          <p:cNvSpPr/>
          <p:nvPr/>
        </p:nvSpPr>
        <p:spPr>
          <a:xfrm>
            <a:off x="1298520" y="5221080"/>
            <a:ext cx="123408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Arial"/>
                <a:ea typeface="Arial"/>
              </a:rPr>
              <a:t>Viewers</a:t>
            </a:r>
            <a:endParaRPr lang="en-US" sz="1400" b="0" u="none" strike="noStrike">
              <a:solidFill>
                <a:srgbClr val="000000"/>
              </a:solidFill>
              <a:effectLst/>
              <a:uFillTx/>
              <a:latin typeface="Arial"/>
            </a:endParaRPr>
          </a:p>
        </p:txBody>
      </p:sp>
      <p:sp>
        <p:nvSpPr>
          <p:cNvPr id="347" name="Viewers response"/>
          <p:cNvSpPr/>
          <p:nvPr/>
        </p:nvSpPr>
        <p:spPr>
          <a:xfrm>
            <a:off x="2560320" y="5221080"/>
            <a:ext cx="475452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chemeClr val="dk2"/>
                </a:solidFill>
                <a:effectLst/>
                <a:uFillTx/>
                <a:latin typeface="Calibri"/>
              </a:rPr>
              <a:t>The broker fans out the retained state. For very large audiences: geometry once, then only speeds</a:t>
            </a:r>
            <a:endParaRPr lang="en-US" sz="1250" b="0" u="none" strike="noStrike">
              <a:solidFill>
                <a:srgbClr val="000000"/>
              </a:solidFill>
              <a:effectLst/>
              <a:uFillTx/>
              <a:latin typeface="Arial"/>
            </a:endParaRPr>
          </a:p>
        </p:txBody>
      </p:sp>
      <p:sp>
        <p:nvSpPr>
          <p:cNvPr id="348" name="Stat 13 msgs/min card"/>
          <p:cNvSpPr/>
          <p:nvPr/>
        </p:nvSpPr>
        <p:spPr>
          <a:xfrm>
            <a:off x="7772400" y="1783080"/>
            <a:ext cx="3870360" cy="1298160"/>
          </a:xfrm>
          <a:prstGeom prst="roundRect">
            <a:avLst>
              <a:gd name="adj" fmla="val 5634"/>
            </a:avLst>
          </a:prstGeom>
          <a:solidFill>
            <a:schemeClr val="tx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49" name="Stat 13 msgs/min"/>
          <p:cNvSpPr/>
          <p:nvPr/>
        </p:nvSpPr>
        <p:spPr>
          <a:xfrm>
            <a:off x="8001000" y="1920240"/>
            <a:ext cx="34131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chemeClr val="accent1"/>
                </a:solidFill>
                <a:effectLst/>
                <a:uFillTx/>
                <a:latin typeface="Arial"/>
                <a:ea typeface="Arial"/>
              </a:rPr>
              <a:t>13 msgs/min</a:t>
            </a:r>
            <a:endParaRPr lang="en-US" sz="2800" b="0" u="none" strike="noStrike">
              <a:solidFill>
                <a:srgbClr val="000000"/>
              </a:solidFill>
              <a:effectLst/>
              <a:uFillTx/>
              <a:latin typeface="Arial"/>
            </a:endParaRPr>
          </a:p>
        </p:txBody>
      </p:sp>
      <p:sp>
        <p:nvSpPr>
          <p:cNvPr id="350" name="Stat 13 msgs/min caption"/>
          <p:cNvSpPr/>
          <p:nvPr/>
        </p:nvSpPr>
        <p:spPr>
          <a:xfrm>
            <a:off x="8001000" y="2496240"/>
            <a:ext cx="341316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lt1">
                    <a:alpha val="85000"/>
                  </a:schemeClr>
                </a:solidFill>
                <a:effectLst/>
                <a:uFillTx/>
                <a:latin typeface="Calibri"/>
              </a:rPr>
              <a:t>about 250 KB a minute for Aarhus: trivial for Mosquitto</a:t>
            </a:r>
            <a:endParaRPr lang="en-US" sz="1200" b="0" u="none" strike="noStrike">
              <a:solidFill>
                <a:srgbClr val="000000"/>
              </a:solidFill>
              <a:effectLst/>
              <a:uFillTx/>
              <a:latin typeface="Arial"/>
            </a:endParaRPr>
          </a:p>
        </p:txBody>
      </p:sp>
      <p:sp>
        <p:nvSpPr>
          <p:cNvPr id="351" name="Stat 1.6 M → 26 k card"/>
          <p:cNvSpPr/>
          <p:nvPr/>
        </p:nvSpPr>
        <p:spPr>
          <a:xfrm>
            <a:off x="7772400" y="3227760"/>
            <a:ext cx="3870360" cy="1298160"/>
          </a:xfrm>
          <a:prstGeom prst="roundRect">
            <a:avLst>
              <a:gd name="adj" fmla="val 5634"/>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52" name="Stat 1.6 M → 26 k"/>
          <p:cNvSpPr/>
          <p:nvPr/>
        </p:nvSpPr>
        <p:spPr>
          <a:xfrm>
            <a:off x="8001000" y="3364920"/>
            <a:ext cx="34131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chemeClr val="dk1"/>
                </a:solidFill>
                <a:effectLst/>
                <a:uFillTx/>
                <a:latin typeface="Arial"/>
                <a:ea typeface="Arial"/>
              </a:rPr>
              <a:t>1.6 M → 26 k</a:t>
            </a:r>
            <a:endParaRPr lang="en-US" sz="2800" b="0" u="none" strike="noStrike">
              <a:solidFill>
                <a:srgbClr val="000000"/>
              </a:solidFill>
              <a:effectLst/>
              <a:uFillTx/>
              <a:latin typeface="Arial"/>
            </a:endParaRPr>
          </a:p>
        </p:txBody>
      </p:sp>
      <p:sp>
        <p:nvSpPr>
          <p:cNvPr id="353" name="Stat 1.6 M → 26 k caption"/>
          <p:cNvSpPr/>
          <p:nvPr/>
        </p:nvSpPr>
        <p:spPr>
          <a:xfrm>
            <a:off x="8001000" y="3940920"/>
            <a:ext cx="341316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dk2"/>
                </a:solidFill>
                <a:effectLst/>
                <a:uFillTx/>
                <a:latin typeface="Calibri"/>
              </a:rPr>
              <a:t>rows a day: per-minute history vs. hourly aggregates</a:t>
            </a:r>
            <a:endParaRPr lang="en-US" sz="1200" b="0" u="none" strike="noStrike">
              <a:solidFill>
                <a:srgbClr val="000000"/>
              </a:solidFill>
              <a:effectLst/>
              <a:uFillTx/>
              <a:latin typeface="Arial"/>
            </a:endParaRPr>
          </a:p>
        </p:txBody>
      </p:sp>
      <p:sp>
        <p:nvSpPr>
          <p:cNvPr id="354" name="Stat 1 CPU core card"/>
          <p:cNvSpPr/>
          <p:nvPr/>
        </p:nvSpPr>
        <p:spPr>
          <a:xfrm>
            <a:off x="7772400" y="4672440"/>
            <a:ext cx="3870360" cy="1298160"/>
          </a:xfrm>
          <a:prstGeom prst="roundRect">
            <a:avLst>
              <a:gd name="adj" fmla="val 5634"/>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55" name="Stat 1 CPU core"/>
          <p:cNvSpPr/>
          <p:nvPr/>
        </p:nvSpPr>
        <p:spPr>
          <a:xfrm>
            <a:off x="8001000" y="4809600"/>
            <a:ext cx="34131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chemeClr val="dk1"/>
                </a:solidFill>
                <a:effectLst/>
                <a:uFillTx/>
                <a:latin typeface="Arial"/>
                <a:ea typeface="Arial"/>
              </a:rPr>
              <a:t>1 CPU core</a:t>
            </a:r>
            <a:endParaRPr lang="en-US" sz="2800" b="0" u="none" strike="noStrike">
              <a:solidFill>
                <a:srgbClr val="000000"/>
              </a:solidFill>
              <a:effectLst/>
              <a:uFillTx/>
              <a:latin typeface="Arial"/>
            </a:endParaRPr>
          </a:p>
        </p:txBody>
      </p:sp>
      <p:sp>
        <p:nvSpPr>
          <p:cNvPr id="356" name="Stat 1 CPU core caption"/>
          <p:cNvSpPr/>
          <p:nvPr/>
        </p:nvSpPr>
        <p:spPr>
          <a:xfrm>
            <a:off x="8001000" y="5385960"/>
            <a:ext cx="341316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dk2"/>
                </a:solidFill>
                <a:effectLst/>
                <a:uFillTx/>
                <a:latin typeface="Calibri"/>
              </a:rPr>
              <a:t>Mosquitto's ceiling, but the backend and database hit theirs first</a:t>
            </a:r>
            <a:endParaRPr lang="en-US" sz="1200" b="0" u="none" strike="noStrike">
              <a:solidFill>
                <a:srgbClr val="000000"/>
              </a:solidFill>
              <a:effectLst/>
              <a:uFillTx/>
              <a:latin typeface="Arial"/>
            </a:endParaRPr>
          </a:p>
        </p:txBody>
      </p:sp>
      <p:sp>
        <p:nvSpPr>
          <p:cNvPr id="357" name="PlaceHolder 3"/>
          <p:cNvSpPr>
            <a:spLocks noGrp="1"/>
          </p:cNvSpPr>
          <p:nvPr>
            <p:ph type="sldNum" idx="11"/>
          </p:nvPr>
        </p:nvSpPr>
        <p:spPr>
          <a:xfrm>
            <a:off x="11185920" y="6382440"/>
            <a:ext cx="456840" cy="25560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4"/>
                </a:solidFill>
                <a:effectLst/>
                <a:uFillTx/>
                <a:latin typeface="Calibri"/>
              </a:defRPr>
            </a:lvl1pPr>
          </a:lstStyle>
          <a:p>
            <a:pPr indent="0" algn="r" defTabSz="914400">
              <a:lnSpc>
                <a:spcPct val="100000"/>
              </a:lnSpc>
              <a:buNone/>
            </a:pPr>
            <a:fld id="{E2EE42E6-B7FA-4AD6-88AC-F9D96F843FAA}" type="slidenum">
              <a:rPr lang="en-US" sz="1000" b="0" u="none" strike="noStrike">
                <a:solidFill>
                  <a:schemeClr val="accent4"/>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hasCustomPrompt="1"/>
          </p:nvPr>
        </p:nvSpPr>
        <p:spPr>
          <a:xfrm>
            <a:off x="548640" y="640080"/>
            <a:ext cx="8686440" cy="310680"/>
          </a:xfrm>
          <a:prstGeom prst="rect">
            <a:avLst/>
          </a:prstGeom>
          <a:noFill/>
          <a:ln w="0">
            <a:noFill/>
          </a:ln>
        </p:spPr>
        <p:txBody>
          <a:bodyPr lIns="0" tIns="0" rIns="0" bIns="0" anchor="ctr">
            <a:noAutofit/>
          </a:bodyPr>
          <a:p>
            <a:pPr indent="0" algn="l" defTabSz="914400">
              <a:lnSpc>
                <a:spcPct val="100000"/>
              </a:lnSpc>
              <a:spcBef>
                <a:spcPts val="241"/>
              </a:spcBef>
              <a:buNone/>
              <a:tabLst>
                <a:tab pos="0" algn="l"/>
              </a:tabLst>
            </a:pPr>
            <a:r>
              <a:rPr lang="en-US" sz="1200" b="1" u="none" spc="51" strike="noStrike">
                <a:solidFill>
                  <a:schemeClr val="accent6"/>
                </a:solidFill>
                <a:effectLst/>
                <a:uFillTx/>
                <a:latin typeface="Arial"/>
                <a:ea typeface="Arial"/>
              </a:rPr>
              <a:t>07  ·  REALIZATION &amp; CHALLENGES</a:t>
            </a:r>
            <a:endParaRPr lang="en-US" sz="1200" b="0" u="none" strike="noStrike">
              <a:solidFill>
                <a:schemeClr val="dk1"/>
              </a:solidFill>
              <a:effectLst/>
              <a:uFillTx/>
              <a:latin typeface="Calibri"/>
            </a:endParaRPr>
          </a:p>
        </p:txBody>
      </p:sp>
      <p:sp>
        <p:nvSpPr>
          <p:cNvPr id="359" name="PlaceHolder 2"/>
          <p:cNvSpPr>
            <a:spLocks noGrp="1"/>
          </p:cNvSpPr>
          <p:nvPr>
            <p:ph type="title" hasCustomPrompt="1"/>
          </p:nvPr>
        </p:nvSpPr>
        <p:spPr>
          <a:xfrm>
            <a:off x="548640" y="951120"/>
            <a:ext cx="10606680" cy="65808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What's concrete, what's open, what was hard</a:t>
            </a:r>
            <a:endParaRPr lang="en-US" sz="3200" b="0" u="none" strike="noStrike">
              <a:solidFill>
                <a:schemeClr val="dk1"/>
              </a:solidFill>
              <a:effectLst/>
              <a:uFillTx/>
              <a:latin typeface="Calibri"/>
            </a:endParaRPr>
          </a:p>
        </p:txBody>
      </p:sp>
      <p:sp>
        <p:nvSpPr>
          <p:cNvPr id="360" name="Concrete card"/>
          <p:cNvSpPr/>
          <p:nvPr/>
        </p:nvSpPr>
        <p:spPr>
          <a:xfrm>
            <a:off x="548640" y="1783080"/>
            <a:ext cx="3575880" cy="4269960"/>
          </a:xfrm>
          <a:prstGeom prst="roundRect">
            <a:avLst>
              <a:gd name="adj" fmla="val 2046"/>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61" name="Concrete circle"/>
          <p:cNvSpPr/>
          <p:nvPr/>
        </p:nvSpPr>
        <p:spPr>
          <a:xfrm>
            <a:off x="777240" y="1984320"/>
            <a:ext cx="383760" cy="383760"/>
          </a:xfrm>
          <a:prstGeom prst="ellipse">
            <a:avLst/>
          </a:prstGeom>
          <a:solidFill>
            <a:schemeClr val="accent2">
              <a:alpha val="22000"/>
            </a:schemeClr>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362" name="Concrete icon" descr="Concrete"/>
          <p:cNvPicPr/>
          <p:nvPr/>
        </p:nvPicPr>
        <p:blipFill>
          <a:blip r:embed="rId1"/>
          <a:stretch/>
        </p:blipFill>
        <p:spPr>
          <a:xfrm>
            <a:off x="857880" y="2064960"/>
            <a:ext cx="222480" cy="222480"/>
          </a:xfrm>
          <a:prstGeom prst="rect">
            <a:avLst/>
          </a:prstGeom>
          <a:noFill/>
          <a:ln w="0">
            <a:noFill/>
          </a:ln>
        </p:spPr>
      </p:pic>
      <p:sp>
        <p:nvSpPr>
          <p:cNvPr id="363" name="Concrete heading"/>
          <p:cNvSpPr/>
          <p:nvPr/>
        </p:nvSpPr>
        <p:spPr>
          <a:xfrm>
            <a:off x="1280160" y="2057400"/>
            <a:ext cx="26614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51" strike="noStrike">
                <a:solidFill>
                  <a:schemeClr val="dk1"/>
                </a:solidFill>
                <a:effectLst/>
                <a:uFillTx/>
                <a:latin typeface="Arial"/>
                <a:ea typeface="Arial"/>
              </a:rPr>
              <a:t>NOW CONCRETE</a:t>
            </a:r>
            <a:endParaRPr lang="en-US" sz="1100" b="0" u="none" strike="noStrike">
              <a:solidFill>
                <a:srgbClr val="000000"/>
              </a:solidFill>
              <a:effectLst/>
              <a:uFillTx/>
              <a:latin typeface="Arial"/>
            </a:endParaRPr>
          </a:p>
        </p:txBody>
      </p:sp>
      <p:sp>
        <p:nvSpPr>
          <p:cNvPr id="364" name="Open card"/>
          <p:cNvSpPr/>
          <p:nvPr/>
        </p:nvSpPr>
        <p:spPr>
          <a:xfrm>
            <a:off x="4307760" y="1783080"/>
            <a:ext cx="3575880" cy="4269960"/>
          </a:xfrm>
          <a:prstGeom prst="roundRect">
            <a:avLst>
              <a:gd name="adj" fmla="val 2046"/>
            </a:avLst>
          </a:prstGeom>
          <a:solidFill>
            <a:schemeClr val="bg1"/>
          </a:solidFill>
          <a:ln w="0">
            <a:noFill/>
          </a:ln>
          <a:effectLst>
            <a:outerShdw algn="bl" blurRad="101520" dir="5400000" dist="25560" kx="0" ky="0" rotWithShape="0" sx="100000" sy="100000">
              <a:srgbClr val="0E1A26">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65" name="Open circle"/>
          <p:cNvSpPr/>
          <p:nvPr/>
        </p:nvSpPr>
        <p:spPr>
          <a:xfrm>
            <a:off x="4536360" y="1984320"/>
            <a:ext cx="383760" cy="383760"/>
          </a:xfrm>
          <a:prstGeom prst="ellipse">
            <a:avLst/>
          </a:prstGeom>
          <a:solidFill>
            <a:schemeClr val="accent1">
              <a:alpha val="22000"/>
            </a:schemeClr>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366" name="Open icon" descr="Open"/>
          <p:cNvPicPr/>
          <p:nvPr/>
        </p:nvPicPr>
        <p:blipFill>
          <a:blip r:embed="rId2"/>
          <a:stretch/>
        </p:blipFill>
        <p:spPr>
          <a:xfrm>
            <a:off x="4617000" y="2064960"/>
            <a:ext cx="222480" cy="222480"/>
          </a:xfrm>
          <a:prstGeom prst="rect">
            <a:avLst/>
          </a:prstGeom>
          <a:noFill/>
          <a:ln w="0">
            <a:noFill/>
          </a:ln>
        </p:spPr>
      </p:pic>
      <p:sp>
        <p:nvSpPr>
          <p:cNvPr id="367" name="Open heading"/>
          <p:cNvSpPr/>
          <p:nvPr/>
        </p:nvSpPr>
        <p:spPr>
          <a:xfrm>
            <a:off x="5039280" y="2057400"/>
            <a:ext cx="26614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51" strike="noStrike">
                <a:solidFill>
                  <a:schemeClr val="dk1"/>
                </a:solidFill>
                <a:effectLst/>
                <a:uFillTx/>
                <a:latin typeface="Arial"/>
                <a:ea typeface="Arial"/>
              </a:rPr>
              <a:t>STILL OPEN  →  PLAN</a:t>
            </a:r>
            <a:endParaRPr lang="en-US" sz="1100" b="0" u="none" strike="noStrike">
              <a:solidFill>
                <a:srgbClr val="000000"/>
              </a:solidFill>
              <a:effectLst/>
              <a:uFillTx/>
              <a:latin typeface="Arial"/>
            </a:endParaRPr>
          </a:p>
        </p:txBody>
      </p:sp>
      <p:sp>
        <p:nvSpPr>
          <p:cNvPr id="368" name="Concrete 1"/>
          <p:cNvSpPr/>
          <p:nvPr/>
        </p:nvSpPr>
        <p:spPr>
          <a:xfrm>
            <a:off x="822960" y="2624400"/>
            <a:ext cx="3072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Arial"/>
                <a:ea typeface="Arial"/>
              </a:rPr>
              <a:t>Real data</a:t>
            </a:r>
            <a:endParaRPr lang="en-US" sz="1300" b="0" u="none" strike="noStrike">
              <a:solidFill>
                <a:srgbClr val="000000"/>
              </a:solidFill>
              <a:effectLst/>
              <a:uFillTx/>
              <a:latin typeface="Arial"/>
            </a:endParaRPr>
          </a:p>
        </p:txBody>
      </p:sp>
      <p:sp>
        <p:nvSpPr>
          <p:cNvPr id="369" name="Concrete 1 detail"/>
          <p:cNvSpPr/>
          <p:nvPr/>
        </p:nvSpPr>
        <p:spPr>
          <a:xfrm>
            <a:off x="822960" y="2907720"/>
            <a:ext cx="3072960" cy="196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dk2"/>
                </a:solidFill>
                <a:effectLst/>
                <a:uFillTx/>
                <a:latin typeface="Calibri"/>
              </a:rPr>
              <a:t>13 live routes and a year of history</a:t>
            </a:r>
            <a:endParaRPr lang="en-US" sz="1250" b="0" u="none" strike="noStrike">
              <a:solidFill>
                <a:srgbClr val="000000"/>
              </a:solidFill>
              <a:effectLst/>
              <a:uFillTx/>
              <a:latin typeface="Arial"/>
            </a:endParaRPr>
          </a:p>
        </p:txBody>
      </p:sp>
      <p:sp>
        <p:nvSpPr>
          <p:cNvPr id="370" name="Concrete 2"/>
          <p:cNvSpPr/>
          <p:nvPr/>
        </p:nvSpPr>
        <p:spPr>
          <a:xfrm>
            <a:off x="822960" y="3304440"/>
            <a:ext cx="3072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Arial"/>
                <a:ea typeface="Arial"/>
              </a:rPr>
              <a:t>Message format and topics</a:t>
            </a:r>
            <a:endParaRPr lang="en-US" sz="1300" b="0" u="none" strike="noStrike">
              <a:solidFill>
                <a:srgbClr val="000000"/>
              </a:solidFill>
              <a:effectLst/>
              <a:uFillTx/>
              <a:latin typeface="Arial"/>
            </a:endParaRPr>
          </a:p>
        </p:txBody>
      </p:sp>
      <p:sp>
        <p:nvSpPr>
          <p:cNvPr id="371" name="Concrete 2 detail"/>
          <p:cNvSpPr/>
          <p:nvPr/>
        </p:nvSpPr>
        <p:spPr>
          <a:xfrm>
            <a:off x="822960" y="3587760"/>
            <a:ext cx="3072960" cy="196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dk2"/>
                </a:solidFill>
                <a:effectLst/>
                <a:uFillTx/>
                <a:latin typeface="Calibri"/>
              </a:rPr>
              <a:t>one message per route, each with an event id</a:t>
            </a:r>
            <a:endParaRPr lang="en-US" sz="1250" b="0" u="none" strike="noStrike">
              <a:solidFill>
                <a:srgbClr val="000000"/>
              </a:solidFill>
              <a:effectLst/>
              <a:uFillTx/>
              <a:latin typeface="Arial"/>
            </a:endParaRPr>
          </a:p>
        </p:txBody>
      </p:sp>
      <p:sp>
        <p:nvSpPr>
          <p:cNvPr id="372" name="Concrete 3"/>
          <p:cNvSpPr/>
          <p:nvPr/>
        </p:nvSpPr>
        <p:spPr>
          <a:xfrm>
            <a:off x="822960" y="3984480"/>
            <a:ext cx="3072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Arial"/>
                <a:ea typeface="Arial"/>
              </a:rPr>
              <a:t>The backend's steps</a:t>
            </a:r>
            <a:endParaRPr lang="en-US" sz="1300" b="0" u="none" strike="noStrike">
              <a:solidFill>
                <a:srgbClr val="000000"/>
              </a:solidFill>
              <a:effectLst/>
              <a:uFillTx/>
              <a:latin typeface="Arial"/>
            </a:endParaRPr>
          </a:p>
        </p:txBody>
      </p:sp>
      <p:sp>
        <p:nvSpPr>
          <p:cNvPr id="373" name="Concrete 3 detail"/>
          <p:cNvSpPr/>
          <p:nvPr/>
        </p:nvSpPr>
        <p:spPr>
          <a:xfrm>
            <a:off x="822960" y="4267800"/>
            <a:ext cx="3072960" cy="196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dk2"/>
                </a:solidFill>
                <a:effectLst/>
                <a:uFillTx/>
                <a:latin typeface="Calibri"/>
              </a:rPr>
              <a:t>from a reading to a published state</a:t>
            </a:r>
            <a:endParaRPr lang="en-US" sz="1250" b="0" u="none" strike="noStrike">
              <a:solidFill>
                <a:srgbClr val="000000"/>
              </a:solidFill>
              <a:effectLst/>
              <a:uFillTx/>
              <a:latin typeface="Arial"/>
            </a:endParaRPr>
          </a:p>
        </p:txBody>
      </p:sp>
      <p:sp>
        <p:nvSpPr>
          <p:cNvPr id="374" name="Concrete 4"/>
          <p:cNvSpPr/>
          <p:nvPr/>
        </p:nvSpPr>
        <p:spPr>
          <a:xfrm>
            <a:off x="822960" y="4664520"/>
            <a:ext cx="3072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Arial"/>
                <a:ea typeface="Arial"/>
              </a:rPr>
              <a:t>The stack</a:t>
            </a:r>
            <a:endParaRPr lang="en-US" sz="1300" b="0" u="none" strike="noStrike">
              <a:solidFill>
                <a:srgbClr val="000000"/>
              </a:solidFill>
              <a:effectLst/>
              <a:uFillTx/>
              <a:latin typeface="Arial"/>
            </a:endParaRPr>
          </a:p>
        </p:txBody>
      </p:sp>
      <p:sp>
        <p:nvSpPr>
          <p:cNvPr id="375" name="Concrete 4 detail"/>
          <p:cNvSpPr/>
          <p:nvPr/>
        </p:nvSpPr>
        <p:spPr>
          <a:xfrm>
            <a:off x="822960" y="4948200"/>
            <a:ext cx="3072960" cy="196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dk2"/>
                </a:solidFill>
                <a:effectLst/>
                <a:uFillTx/>
                <a:latin typeface="Calibri"/>
              </a:rPr>
              <a:t>Mosquitto, Node.js, PostgreSQL, Next.js</a:t>
            </a:r>
            <a:endParaRPr lang="en-US" sz="1250" b="0" u="none" strike="noStrike">
              <a:solidFill>
                <a:srgbClr val="000000"/>
              </a:solidFill>
              <a:effectLst/>
              <a:uFillTx/>
              <a:latin typeface="Arial"/>
            </a:endParaRPr>
          </a:p>
        </p:txBody>
      </p:sp>
      <p:sp>
        <p:nvSpPr>
          <p:cNvPr id="376" name="Concrete 5"/>
          <p:cNvSpPr/>
          <p:nvPr/>
        </p:nvSpPr>
        <p:spPr>
          <a:xfrm>
            <a:off x="822960" y="5344560"/>
            <a:ext cx="3072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Arial"/>
                <a:ea typeface="Arial"/>
              </a:rPr>
              <a:t>Deployment</a:t>
            </a:r>
            <a:endParaRPr lang="en-US" sz="1300" b="0" u="none" strike="noStrike">
              <a:solidFill>
                <a:srgbClr val="000000"/>
              </a:solidFill>
              <a:effectLst/>
              <a:uFillTx/>
              <a:latin typeface="Arial"/>
            </a:endParaRPr>
          </a:p>
        </p:txBody>
      </p:sp>
      <p:sp>
        <p:nvSpPr>
          <p:cNvPr id="377" name="Concrete 5 detail"/>
          <p:cNvSpPr/>
          <p:nvPr/>
        </p:nvSpPr>
        <p:spPr>
          <a:xfrm>
            <a:off x="822960" y="5628240"/>
            <a:ext cx="3072960" cy="196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dk2"/>
                </a:solidFill>
                <a:effectLst/>
                <a:uFillTx/>
                <a:latin typeface="Calibri"/>
              </a:rPr>
              <a:t>everything starts with one docker compose up</a:t>
            </a:r>
            <a:endParaRPr lang="en-US" sz="1250" b="0" u="none" strike="noStrike">
              <a:solidFill>
                <a:srgbClr val="000000"/>
              </a:solidFill>
              <a:effectLst/>
              <a:uFillTx/>
              <a:latin typeface="Arial"/>
            </a:endParaRPr>
          </a:p>
        </p:txBody>
      </p:sp>
      <p:sp>
        <p:nvSpPr>
          <p:cNvPr id="378" name="Open 1"/>
          <p:cNvSpPr/>
          <p:nvPr/>
        </p:nvSpPr>
        <p:spPr>
          <a:xfrm>
            <a:off x="4582080" y="2624400"/>
            <a:ext cx="3072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Arial"/>
                <a:ea typeface="Arial"/>
              </a:rPr>
              <a:t>How do we predict?</a:t>
            </a:r>
            <a:endParaRPr lang="en-US" sz="1300" b="0" u="none" strike="noStrike">
              <a:solidFill>
                <a:srgbClr val="000000"/>
              </a:solidFill>
              <a:effectLst/>
              <a:uFillTx/>
              <a:latin typeface="Arial"/>
            </a:endParaRPr>
          </a:p>
        </p:txBody>
      </p:sp>
      <p:sp>
        <p:nvSpPr>
          <p:cNvPr id="379" name="Open 1 detail"/>
          <p:cNvSpPr/>
          <p:nvPr/>
        </p:nvSpPr>
        <p:spPr>
          <a:xfrm>
            <a:off x="4582080" y="2907720"/>
            <a:ext cx="3072960" cy="392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accent6"/>
                </a:solidFill>
                <a:effectLst/>
                <a:uFillTx/>
                <a:latin typeface="Calibri"/>
              </a:rPr>
              <a:t>→ Start from the typical weekday and our own recorded history</a:t>
            </a:r>
            <a:endParaRPr lang="en-US" sz="1250" b="0" u="none" strike="noStrike">
              <a:solidFill>
                <a:srgbClr val="000000"/>
              </a:solidFill>
              <a:effectLst/>
              <a:uFillTx/>
              <a:latin typeface="Arial"/>
            </a:endParaRPr>
          </a:p>
        </p:txBody>
      </p:sp>
      <p:sp>
        <p:nvSpPr>
          <p:cNvPr id="380" name="Open 2"/>
          <p:cNvSpPr/>
          <p:nvPr/>
        </p:nvSpPr>
        <p:spPr>
          <a:xfrm>
            <a:off x="4582080" y="3662280"/>
            <a:ext cx="3072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Arial"/>
                <a:ea typeface="Arial"/>
              </a:rPr>
              <a:t>When is a road congested?</a:t>
            </a:r>
            <a:endParaRPr lang="en-US" sz="1300" b="0" u="none" strike="noStrike">
              <a:solidFill>
                <a:srgbClr val="000000"/>
              </a:solidFill>
              <a:effectLst/>
              <a:uFillTx/>
              <a:latin typeface="Arial"/>
            </a:endParaRPr>
          </a:p>
        </p:txBody>
      </p:sp>
      <p:sp>
        <p:nvSpPr>
          <p:cNvPr id="381" name="Open 2 detail"/>
          <p:cNvSpPr/>
          <p:nvPr/>
        </p:nvSpPr>
        <p:spPr>
          <a:xfrm>
            <a:off x="4582080" y="3945600"/>
            <a:ext cx="3072960" cy="196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accent6"/>
                </a:solidFill>
                <a:effectLst/>
                <a:uFillTx/>
                <a:latin typeface="Calibri"/>
              </a:rPr>
              <a:t>→ Tune the rule on recorded data</a:t>
            </a:r>
            <a:endParaRPr lang="en-US" sz="1250" b="0" u="none" strike="noStrike">
              <a:solidFill>
                <a:srgbClr val="000000"/>
              </a:solidFill>
              <a:effectLst/>
              <a:uFillTx/>
              <a:latin typeface="Arial"/>
            </a:endParaRPr>
          </a:p>
        </p:txBody>
      </p:sp>
      <p:sp>
        <p:nvSpPr>
          <p:cNvPr id="382" name="Open 3"/>
          <p:cNvSpPr/>
          <p:nvPr/>
        </p:nvSpPr>
        <p:spPr>
          <a:xfrm>
            <a:off x="4582080" y="4503600"/>
            <a:ext cx="3072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Arial"/>
                <a:ea typeface="Arial"/>
              </a:rPr>
              <a:t>Several backend copies?</a:t>
            </a:r>
            <a:endParaRPr lang="en-US" sz="1300" b="0" u="none" strike="noStrike">
              <a:solidFill>
                <a:srgbClr val="000000"/>
              </a:solidFill>
              <a:effectLst/>
              <a:uFillTx/>
              <a:latin typeface="Arial"/>
            </a:endParaRPr>
          </a:p>
        </p:txBody>
      </p:sp>
      <p:sp>
        <p:nvSpPr>
          <p:cNvPr id="383" name="Open 3 detail"/>
          <p:cNvSpPr/>
          <p:nvPr/>
        </p:nvSpPr>
        <p:spPr>
          <a:xfrm>
            <a:off x="4582080" y="4786920"/>
            <a:ext cx="3072960" cy="196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accent6"/>
                </a:solidFill>
                <a:effectLst/>
                <a:uFillTx/>
                <a:latin typeface="Calibri"/>
              </a:rPr>
              <a:t>→ Start with one, split by city later</a:t>
            </a:r>
            <a:endParaRPr lang="en-US" sz="1250" b="0" u="none" strike="noStrike">
              <a:solidFill>
                <a:srgbClr val="000000"/>
              </a:solidFill>
              <a:effectLst/>
              <a:uFillTx/>
              <a:latin typeface="Arial"/>
            </a:endParaRPr>
          </a:p>
        </p:txBody>
      </p:sp>
      <p:sp>
        <p:nvSpPr>
          <p:cNvPr id="384" name="Open 4"/>
          <p:cNvSpPr/>
          <p:nvPr/>
        </p:nvSpPr>
        <p:spPr>
          <a:xfrm>
            <a:off x="4582080" y="5344560"/>
            <a:ext cx="3072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dk1"/>
                </a:solidFill>
                <a:effectLst/>
                <a:uFillTx/>
                <a:latin typeface="Arial"/>
                <a:ea typeface="Arial"/>
              </a:rPr>
              <a:t>Where are the real limits?</a:t>
            </a:r>
            <a:endParaRPr lang="en-US" sz="1300" b="0" u="none" strike="noStrike">
              <a:solidFill>
                <a:srgbClr val="000000"/>
              </a:solidFill>
              <a:effectLst/>
              <a:uFillTx/>
              <a:latin typeface="Arial"/>
            </a:endParaRPr>
          </a:p>
        </p:txBody>
      </p:sp>
      <p:sp>
        <p:nvSpPr>
          <p:cNvPr id="385" name="Open 4 detail"/>
          <p:cNvSpPr/>
          <p:nvPr/>
        </p:nvSpPr>
        <p:spPr>
          <a:xfrm>
            <a:off x="4582080" y="5628240"/>
            <a:ext cx="3072960" cy="196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accent6"/>
                </a:solidFill>
                <a:effectLst/>
                <a:uFillTx/>
                <a:latin typeface="Calibri"/>
              </a:rPr>
              <a:t>→ A load test with measurements</a:t>
            </a:r>
            <a:endParaRPr lang="en-US" sz="1250" b="0" u="none" strike="noStrike">
              <a:solidFill>
                <a:srgbClr val="000000"/>
              </a:solidFill>
              <a:effectLst/>
              <a:uFillTx/>
              <a:latin typeface="Arial"/>
            </a:endParaRPr>
          </a:p>
        </p:txBody>
      </p:sp>
      <p:sp>
        <p:nvSpPr>
          <p:cNvPr id="386" name="Challenges 1"/>
          <p:cNvSpPr/>
          <p:nvPr/>
        </p:nvSpPr>
        <p:spPr>
          <a:xfrm>
            <a:off x="8341200" y="2624400"/>
            <a:ext cx="3072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endParaRPr lang="en-US" sz="1800" b="0" u="none" strike="noStrike">
              <a:solidFill>
                <a:srgbClr val="000000"/>
              </a:solidFill>
              <a:effectLst/>
              <a:uFillTx/>
              <a:latin typeface="Arial"/>
            </a:endParaRPr>
          </a:p>
        </p:txBody>
      </p:sp>
      <p:sp>
        <p:nvSpPr>
          <p:cNvPr id="387" name="Challenges 1 detail"/>
          <p:cNvSpPr/>
          <p:nvPr/>
        </p:nvSpPr>
        <p:spPr>
          <a:xfrm>
            <a:off x="8341200" y="2907720"/>
            <a:ext cx="3072960" cy="589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endParaRPr lang="en-US" sz="1800" b="0" u="none" strike="noStrike">
              <a:solidFill>
                <a:srgbClr val="000000"/>
              </a:solidFill>
              <a:effectLst/>
              <a:uFillTx/>
              <a:latin typeface="Arial"/>
            </a:endParaRPr>
          </a:p>
        </p:txBody>
      </p:sp>
      <p:sp>
        <p:nvSpPr>
          <p:cNvPr id="388" name="Challenges 3 detail"/>
          <p:cNvSpPr/>
          <p:nvPr/>
        </p:nvSpPr>
        <p:spPr>
          <a:xfrm>
            <a:off x="8341200" y="5431680"/>
            <a:ext cx="3072960" cy="392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endParaRPr lang="en-US" sz="1800" b="0" u="none" strike="noStrike">
              <a:solidFill>
                <a:srgbClr val="000000"/>
              </a:solidFill>
              <a:effectLst/>
              <a:uFillTx/>
              <a:latin typeface="Arial"/>
            </a:endParaRPr>
          </a:p>
        </p:txBody>
      </p:sp>
      <p:sp>
        <p:nvSpPr>
          <p:cNvPr id="389" name="PlaceHolder 3"/>
          <p:cNvSpPr>
            <a:spLocks noGrp="1"/>
          </p:cNvSpPr>
          <p:nvPr>
            <p:ph type="sldNum" idx="12"/>
          </p:nvPr>
        </p:nvSpPr>
        <p:spPr>
          <a:xfrm>
            <a:off x="11185920" y="6382440"/>
            <a:ext cx="456840" cy="25560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4"/>
                </a:solidFill>
                <a:effectLst/>
                <a:uFillTx/>
                <a:latin typeface="Calibri"/>
              </a:defRPr>
            </a:lvl1pPr>
          </a:lstStyle>
          <a:p>
            <a:pPr indent="0" algn="r" defTabSz="914400">
              <a:lnSpc>
                <a:spcPct val="100000"/>
              </a:lnSpc>
              <a:buNone/>
            </a:pPr>
            <a:fld id="{ACC4277D-249E-4E6D-A78C-547D2F8F1435}" type="slidenum">
              <a:rPr lang="en-US" sz="1000" b="0" u="none" strike="noStrike">
                <a:solidFill>
                  <a:schemeClr val="accent4"/>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hasCustomPrompt="1"/>
          </p:nvPr>
        </p:nvSpPr>
        <p:spPr>
          <a:xfrm>
            <a:off x="548640" y="640080"/>
            <a:ext cx="8686440" cy="310680"/>
          </a:xfrm>
          <a:prstGeom prst="rect">
            <a:avLst/>
          </a:prstGeom>
          <a:noFill/>
          <a:ln w="0">
            <a:noFill/>
          </a:ln>
        </p:spPr>
        <p:txBody>
          <a:bodyPr lIns="0" tIns="0" rIns="0" bIns="0" anchor="ctr">
            <a:noAutofit/>
          </a:bodyPr>
          <a:p>
            <a:pPr indent="0" algn="l" defTabSz="914400">
              <a:lnSpc>
                <a:spcPct val="100000"/>
              </a:lnSpc>
              <a:spcBef>
                <a:spcPts val="241"/>
              </a:spcBef>
              <a:buNone/>
              <a:tabLst>
                <a:tab pos="0" algn="l"/>
              </a:tabLst>
            </a:pPr>
            <a:r>
              <a:rPr lang="en-US" sz="1200" b="1" u="none" spc="51" strike="noStrike">
                <a:solidFill>
                  <a:schemeClr val="accent1"/>
                </a:solidFill>
                <a:effectLst/>
                <a:uFillTx/>
                <a:latin typeface="Arial"/>
                <a:ea typeface="Arial"/>
              </a:rPr>
              <a:t>08  ·  NEXT STEPS</a:t>
            </a:r>
            <a:endParaRPr lang="en-US" sz="1200" b="0" u="none" strike="noStrike">
              <a:solidFill>
                <a:schemeClr val="dk1"/>
              </a:solidFill>
              <a:effectLst/>
              <a:uFillTx/>
              <a:latin typeface="Calibri"/>
            </a:endParaRPr>
          </a:p>
        </p:txBody>
      </p:sp>
      <p:sp>
        <p:nvSpPr>
          <p:cNvPr id="391" name="PlaceHolder 2"/>
          <p:cNvSpPr>
            <a:spLocks noGrp="1"/>
          </p:cNvSpPr>
          <p:nvPr>
            <p:ph type="title" hasCustomPrompt="1"/>
          </p:nvPr>
        </p:nvSpPr>
        <p:spPr>
          <a:xfrm>
            <a:off x="548640" y="951120"/>
            <a:ext cx="10606680" cy="65808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lt1"/>
                </a:solidFill>
                <a:effectLst/>
                <a:uFillTx/>
                <a:latin typeface="Arial"/>
                <a:ea typeface="Arial"/>
              </a:rPr>
              <a:t>Next: the live pipeline, then prediction</a:t>
            </a:r>
            <a:endParaRPr lang="en-US" sz="3200" b="0" u="none" strike="noStrike">
              <a:solidFill>
                <a:schemeClr val="dk1"/>
              </a:solidFill>
              <a:effectLst/>
              <a:uFillTx/>
              <a:latin typeface="Calibri"/>
            </a:endParaRPr>
          </a:p>
        </p:txBody>
      </p:sp>
      <p:sp>
        <p:nvSpPr>
          <p:cNvPr id="392" name="Skeleton card"/>
          <p:cNvSpPr/>
          <p:nvPr/>
        </p:nvSpPr>
        <p:spPr>
          <a:xfrm>
            <a:off x="548640" y="1783080"/>
            <a:ext cx="3557520" cy="3126960"/>
          </a:xfrm>
          <a:prstGeom prst="roundRect">
            <a:avLst>
              <a:gd name="adj" fmla="val 2339"/>
            </a:avLst>
          </a:prstGeom>
          <a:solidFill>
            <a:schemeClr val="accent5"/>
          </a:solidFill>
          <a:ln w="12700">
            <a:solidFill>
              <a:schemeClr val="accent4">
                <a:alpha val="50000"/>
              </a:scheme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93" name="Skeleton tag"/>
          <p:cNvSpPr/>
          <p:nvPr/>
        </p:nvSpPr>
        <p:spPr>
          <a:xfrm>
            <a:off x="777240" y="1984320"/>
            <a:ext cx="18284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pc="99" strike="noStrike">
                <a:solidFill>
                  <a:schemeClr val="accent1"/>
                </a:solidFill>
                <a:effectLst/>
                <a:uFillTx/>
                <a:latin typeface="Arial"/>
                <a:ea typeface="Arial"/>
              </a:rPr>
              <a:t>PHASE 1</a:t>
            </a:r>
            <a:endParaRPr lang="en-US" sz="1000" b="0" u="none" strike="noStrike">
              <a:solidFill>
                <a:srgbClr val="FFFFFF"/>
              </a:solidFill>
              <a:effectLst/>
              <a:uFillTx/>
              <a:latin typeface="Arial"/>
            </a:endParaRPr>
          </a:p>
        </p:txBody>
      </p:sp>
      <p:sp>
        <p:nvSpPr>
          <p:cNvPr id="394" name="Skeleton title"/>
          <p:cNvSpPr/>
          <p:nvPr/>
        </p:nvSpPr>
        <p:spPr>
          <a:xfrm>
            <a:off x="777240" y="2240280"/>
            <a:ext cx="310032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lt1"/>
                </a:solidFill>
                <a:effectLst/>
                <a:uFillTx/>
                <a:latin typeface="Arial"/>
                <a:ea typeface="Arial"/>
              </a:rPr>
              <a:t>Skeleton</a:t>
            </a:r>
            <a:endParaRPr lang="en-US" sz="2000" b="0" u="none" strike="noStrike">
              <a:solidFill>
                <a:srgbClr val="FFFFFF"/>
              </a:solidFill>
              <a:effectLst/>
              <a:uFillTx/>
              <a:latin typeface="Arial"/>
            </a:endParaRPr>
          </a:p>
        </p:txBody>
      </p:sp>
      <p:sp>
        <p:nvSpPr>
          <p:cNvPr id="395" name="Skeleton step 1 number"/>
          <p:cNvSpPr/>
          <p:nvPr/>
        </p:nvSpPr>
        <p:spPr>
          <a:xfrm>
            <a:off x="777240" y="2862000"/>
            <a:ext cx="292320" cy="29232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chemeClr val="dk1"/>
                </a:solidFill>
                <a:effectLst/>
                <a:uFillTx/>
                <a:latin typeface="Arial"/>
                <a:ea typeface="Arial"/>
              </a:rPr>
              <a:t>1</a:t>
            </a:r>
            <a:endParaRPr lang="en-US" sz="1100" b="0" u="none" strike="noStrike">
              <a:solidFill>
                <a:srgbClr val="000000"/>
              </a:solidFill>
              <a:effectLst/>
              <a:uFillTx/>
              <a:latin typeface="Arial"/>
            </a:endParaRPr>
          </a:p>
        </p:txBody>
      </p:sp>
      <p:sp>
        <p:nvSpPr>
          <p:cNvPr id="396" name="Skeleton step 1"/>
          <p:cNvSpPr/>
          <p:nvPr/>
        </p:nvSpPr>
        <p:spPr>
          <a:xfrm>
            <a:off x="1207080" y="2834640"/>
            <a:ext cx="26888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lt1"/>
                </a:solidFill>
                <a:effectLst/>
                <a:uFillTx/>
                <a:latin typeface="Calibri"/>
              </a:rPr>
              <a:t>Project structure for the new services</a:t>
            </a:r>
            <a:endParaRPr lang="en-US" sz="1400" b="0" u="none" strike="noStrike">
              <a:solidFill>
                <a:srgbClr val="FFFFFF"/>
              </a:solidFill>
              <a:effectLst/>
              <a:uFillTx/>
              <a:latin typeface="Arial"/>
            </a:endParaRPr>
          </a:p>
        </p:txBody>
      </p:sp>
      <p:sp>
        <p:nvSpPr>
          <p:cNvPr id="397" name="Skeleton step 2 number"/>
          <p:cNvSpPr/>
          <p:nvPr/>
        </p:nvSpPr>
        <p:spPr>
          <a:xfrm>
            <a:off x="777240" y="3429000"/>
            <a:ext cx="292320" cy="29232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chemeClr val="dk1"/>
                </a:solidFill>
                <a:effectLst/>
                <a:uFillTx/>
                <a:latin typeface="Arial"/>
                <a:ea typeface="Arial"/>
              </a:rPr>
              <a:t>2</a:t>
            </a:r>
            <a:endParaRPr lang="en-US" sz="1100" b="0" u="none" strike="noStrike">
              <a:solidFill>
                <a:srgbClr val="000000"/>
              </a:solidFill>
              <a:effectLst/>
              <a:uFillTx/>
              <a:latin typeface="Arial"/>
            </a:endParaRPr>
          </a:p>
        </p:txBody>
      </p:sp>
      <p:sp>
        <p:nvSpPr>
          <p:cNvPr id="398" name="Skeleton step 2"/>
          <p:cNvSpPr/>
          <p:nvPr/>
        </p:nvSpPr>
        <p:spPr>
          <a:xfrm>
            <a:off x="1207080" y="3401640"/>
            <a:ext cx="26888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lt1"/>
                </a:solidFill>
                <a:effectLst/>
                <a:uFillTx/>
                <a:latin typeface="Calibri"/>
              </a:rPr>
              <a:t>Docker Compose with the MQTT broker</a:t>
            </a:r>
            <a:endParaRPr lang="en-US" sz="1400" b="0" u="none" strike="noStrike">
              <a:solidFill>
                <a:srgbClr val="FFFFFF"/>
              </a:solidFill>
              <a:effectLst/>
              <a:uFillTx/>
              <a:latin typeface="Arial"/>
            </a:endParaRPr>
          </a:p>
        </p:txBody>
      </p:sp>
      <p:sp>
        <p:nvSpPr>
          <p:cNvPr id="399" name="Live pipeline card"/>
          <p:cNvSpPr/>
          <p:nvPr/>
        </p:nvSpPr>
        <p:spPr>
          <a:xfrm>
            <a:off x="4316760" y="1783080"/>
            <a:ext cx="3557520" cy="3126960"/>
          </a:xfrm>
          <a:prstGeom prst="roundRect">
            <a:avLst>
              <a:gd name="adj" fmla="val 2339"/>
            </a:avLst>
          </a:prstGeom>
          <a:solidFill>
            <a:schemeClr val="accent5"/>
          </a:solidFill>
          <a:ln w="12700">
            <a:solidFill>
              <a:schemeClr val="accent4">
                <a:alpha val="50000"/>
              </a:scheme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00" name="Live pipeline tag"/>
          <p:cNvSpPr/>
          <p:nvPr/>
        </p:nvSpPr>
        <p:spPr>
          <a:xfrm>
            <a:off x="4545360" y="1984320"/>
            <a:ext cx="18284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pc="99" strike="noStrike">
                <a:solidFill>
                  <a:schemeClr val="accent1"/>
                </a:solidFill>
                <a:effectLst/>
                <a:uFillTx/>
                <a:latin typeface="Arial"/>
                <a:ea typeface="Arial"/>
              </a:rPr>
              <a:t>PHASE 2</a:t>
            </a:r>
            <a:endParaRPr lang="en-US" sz="1000" b="0" u="none" strike="noStrike">
              <a:solidFill>
                <a:srgbClr val="FFFFFF"/>
              </a:solidFill>
              <a:effectLst/>
              <a:uFillTx/>
              <a:latin typeface="Arial"/>
            </a:endParaRPr>
          </a:p>
        </p:txBody>
      </p:sp>
      <p:sp>
        <p:nvSpPr>
          <p:cNvPr id="401" name="Live pipeline title"/>
          <p:cNvSpPr/>
          <p:nvPr/>
        </p:nvSpPr>
        <p:spPr>
          <a:xfrm>
            <a:off x="4545360" y="2240280"/>
            <a:ext cx="310032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lt1"/>
                </a:solidFill>
                <a:effectLst/>
                <a:uFillTx/>
                <a:latin typeface="Arial"/>
                <a:ea typeface="Arial"/>
              </a:rPr>
              <a:t>Live pipeline</a:t>
            </a:r>
            <a:endParaRPr lang="en-US" sz="2000" b="0" u="none" strike="noStrike">
              <a:solidFill>
                <a:srgbClr val="FFFFFF"/>
              </a:solidFill>
              <a:effectLst/>
              <a:uFillTx/>
              <a:latin typeface="Arial"/>
            </a:endParaRPr>
          </a:p>
        </p:txBody>
      </p:sp>
      <p:sp>
        <p:nvSpPr>
          <p:cNvPr id="402" name="Live pipeline step 3 number"/>
          <p:cNvSpPr/>
          <p:nvPr/>
        </p:nvSpPr>
        <p:spPr>
          <a:xfrm>
            <a:off x="4545360" y="2862000"/>
            <a:ext cx="292320" cy="29232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chemeClr val="dk1"/>
                </a:solidFill>
                <a:effectLst/>
                <a:uFillTx/>
                <a:latin typeface="Arial"/>
                <a:ea typeface="Arial"/>
              </a:rPr>
              <a:t>3</a:t>
            </a:r>
            <a:endParaRPr lang="en-US" sz="1100" b="0" u="none" strike="noStrike">
              <a:solidFill>
                <a:srgbClr val="000000"/>
              </a:solidFill>
              <a:effectLst/>
              <a:uFillTx/>
              <a:latin typeface="Arial"/>
            </a:endParaRPr>
          </a:p>
        </p:txBody>
      </p:sp>
      <p:sp>
        <p:nvSpPr>
          <p:cNvPr id="403" name="Live pipeline step 3"/>
          <p:cNvSpPr/>
          <p:nvPr/>
        </p:nvSpPr>
        <p:spPr>
          <a:xfrm>
            <a:off x="4975200" y="2834640"/>
            <a:ext cx="26888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lt1"/>
                </a:solidFill>
                <a:effectLst/>
                <a:uFillTx/>
                <a:latin typeface="Calibri"/>
              </a:rPr>
              <a:t>Adapter publishes TomTom data</a:t>
            </a:r>
            <a:endParaRPr lang="en-US" sz="1400" b="0" u="none" strike="noStrike">
              <a:solidFill>
                <a:srgbClr val="FFFFFF"/>
              </a:solidFill>
              <a:effectLst/>
              <a:uFillTx/>
              <a:latin typeface="Arial"/>
            </a:endParaRPr>
          </a:p>
        </p:txBody>
      </p:sp>
      <p:sp>
        <p:nvSpPr>
          <p:cNvPr id="404" name="Live pipeline step 4 number"/>
          <p:cNvSpPr/>
          <p:nvPr/>
        </p:nvSpPr>
        <p:spPr>
          <a:xfrm>
            <a:off x="4545360" y="3429000"/>
            <a:ext cx="292320" cy="29232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chemeClr val="dk1"/>
                </a:solidFill>
                <a:effectLst/>
                <a:uFillTx/>
                <a:latin typeface="Arial"/>
                <a:ea typeface="Arial"/>
              </a:rPr>
              <a:t>4</a:t>
            </a:r>
            <a:endParaRPr lang="en-US" sz="1100" b="0" u="none" strike="noStrike">
              <a:solidFill>
                <a:srgbClr val="000000"/>
              </a:solidFill>
              <a:effectLst/>
              <a:uFillTx/>
              <a:latin typeface="Arial"/>
            </a:endParaRPr>
          </a:p>
        </p:txBody>
      </p:sp>
      <p:sp>
        <p:nvSpPr>
          <p:cNvPr id="405" name="Live pipeline step 4"/>
          <p:cNvSpPr/>
          <p:nvPr/>
        </p:nvSpPr>
        <p:spPr>
          <a:xfrm>
            <a:off x="4975200" y="3401640"/>
            <a:ext cx="26888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lt1"/>
                </a:solidFill>
                <a:effectLst/>
                <a:uFillTx/>
                <a:latin typeface="Calibri"/>
              </a:rPr>
              <a:t>Backend classifies and stores it</a:t>
            </a:r>
            <a:endParaRPr lang="en-US" sz="1400" b="0" u="none" strike="noStrike">
              <a:solidFill>
                <a:srgbClr val="FFFFFF"/>
              </a:solidFill>
              <a:effectLst/>
              <a:uFillTx/>
              <a:latin typeface="Arial"/>
            </a:endParaRPr>
          </a:p>
        </p:txBody>
      </p:sp>
      <p:sp>
        <p:nvSpPr>
          <p:cNvPr id="406" name="Live pipeline step 5 number"/>
          <p:cNvSpPr/>
          <p:nvPr/>
        </p:nvSpPr>
        <p:spPr>
          <a:xfrm>
            <a:off x="4545360" y="3996000"/>
            <a:ext cx="292320" cy="29232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chemeClr val="dk1"/>
                </a:solidFill>
                <a:effectLst/>
                <a:uFillTx/>
                <a:latin typeface="Arial"/>
                <a:ea typeface="Arial"/>
              </a:rPr>
              <a:t>5</a:t>
            </a:r>
            <a:endParaRPr lang="en-US" sz="1100" b="0" u="none" strike="noStrike">
              <a:solidFill>
                <a:srgbClr val="000000"/>
              </a:solidFill>
              <a:effectLst/>
              <a:uFillTx/>
              <a:latin typeface="Arial"/>
            </a:endParaRPr>
          </a:p>
        </p:txBody>
      </p:sp>
      <p:sp>
        <p:nvSpPr>
          <p:cNvPr id="407" name="Live pipeline step 5"/>
          <p:cNvSpPr/>
          <p:nvPr/>
        </p:nvSpPr>
        <p:spPr>
          <a:xfrm>
            <a:off x="4975200" y="3968640"/>
            <a:ext cx="26888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lt1"/>
                </a:solidFill>
                <a:effectLst/>
                <a:uFillTx/>
                <a:latin typeface="Calibri"/>
              </a:rPr>
              <a:t>Map updates live over MQTT</a:t>
            </a:r>
            <a:endParaRPr lang="en-US" sz="1400" b="0" u="none" strike="noStrike">
              <a:solidFill>
                <a:srgbClr val="FFFFFF"/>
              </a:solidFill>
              <a:effectLst/>
              <a:uFillTx/>
              <a:latin typeface="Arial"/>
            </a:endParaRPr>
          </a:p>
        </p:txBody>
      </p:sp>
      <p:sp>
        <p:nvSpPr>
          <p:cNvPr id="408" name="Prediction card"/>
          <p:cNvSpPr/>
          <p:nvPr/>
        </p:nvSpPr>
        <p:spPr>
          <a:xfrm>
            <a:off x="8085240" y="1783080"/>
            <a:ext cx="3557520" cy="3126960"/>
          </a:xfrm>
          <a:prstGeom prst="roundRect">
            <a:avLst>
              <a:gd name="adj" fmla="val 2339"/>
            </a:avLst>
          </a:prstGeom>
          <a:solidFill>
            <a:schemeClr val="accent5"/>
          </a:solidFill>
          <a:ln w="12700">
            <a:solidFill>
              <a:schemeClr val="accent4">
                <a:alpha val="50000"/>
              </a:scheme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09" name="Prediction tag"/>
          <p:cNvSpPr/>
          <p:nvPr/>
        </p:nvSpPr>
        <p:spPr>
          <a:xfrm>
            <a:off x="8313840" y="1984320"/>
            <a:ext cx="18284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pc="99" strike="noStrike">
                <a:solidFill>
                  <a:schemeClr val="accent1"/>
                </a:solidFill>
                <a:effectLst/>
                <a:uFillTx/>
                <a:latin typeface="Arial"/>
                <a:ea typeface="Arial"/>
              </a:rPr>
              <a:t>PHASE 3</a:t>
            </a:r>
            <a:endParaRPr lang="en-US" sz="1000" b="0" u="none" strike="noStrike">
              <a:solidFill>
                <a:srgbClr val="FFFFFF"/>
              </a:solidFill>
              <a:effectLst/>
              <a:uFillTx/>
              <a:latin typeface="Arial"/>
            </a:endParaRPr>
          </a:p>
        </p:txBody>
      </p:sp>
      <p:sp>
        <p:nvSpPr>
          <p:cNvPr id="410" name="Prediction title"/>
          <p:cNvSpPr/>
          <p:nvPr/>
        </p:nvSpPr>
        <p:spPr>
          <a:xfrm>
            <a:off x="8313840" y="2240280"/>
            <a:ext cx="310032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lt1"/>
                </a:solidFill>
                <a:effectLst/>
                <a:uFillTx/>
                <a:latin typeface="Arial"/>
                <a:ea typeface="Arial"/>
              </a:rPr>
              <a:t>Prediction</a:t>
            </a:r>
            <a:endParaRPr lang="en-US" sz="2000" b="0" u="none" strike="noStrike">
              <a:solidFill>
                <a:srgbClr val="FFFFFF"/>
              </a:solidFill>
              <a:effectLst/>
              <a:uFillTx/>
              <a:latin typeface="Arial"/>
            </a:endParaRPr>
          </a:p>
        </p:txBody>
      </p:sp>
      <p:sp>
        <p:nvSpPr>
          <p:cNvPr id="411" name="Prediction step 6 number"/>
          <p:cNvSpPr/>
          <p:nvPr/>
        </p:nvSpPr>
        <p:spPr>
          <a:xfrm>
            <a:off x="8313840" y="2862000"/>
            <a:ext cx="292320" cy="29232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chemeClr val="dk1"/>
                </a:solidFill>
                <a:effectLst/>
                <a:uFillTx/>
                <a:latin typeface="Arial"/>
                <a:ea typeface="Arial"/>
              </a:rPr>
              <a:t>6</a:t>
            </a:r>
            <a:endParaRPr lang="en-US" sz="1100" b="0" u="none" strike="noStrike">
              <a:solidFill>
                <a:srgbClr val="000000"/>
              </a:solidFill>
              <a:effectLst/>
              <a:uFillTx/>
              <a:latin typeface="Arial"/>
            </a:endParaRPr>
          </a:p>
        </p:txBody>
      </p:sp>
      <p:sp>
        <p:nvSpPr>
          <p:cNvPr id="412" name="Prediction step 6"/>
          <p:cNvSpPr/>
          <p:nvPr/>
        </p:nvSpPr>
        <p:spPr>
          <a:xfrm>
            <a:off x="8743320" y="2834640"/>
            <a:ext cx="26888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lt1"/>
                </a:solidFill>
                <a:effectLst/>
                <a:uFillTx/>
                <a:latin typeface="Calibri"/>
              </a:rPr>
              <a:t>Record history for prediction</a:t>
            </a:r>
            <a:endParaRPr lang="en-US" sz="1400" b="0" u="none" strike="noStrike">
              <a:solidFill>
                <a:srgbClr val="FFFFFF"/>
              </a:solidFill>
              <a:effectLst/>
              <a:uFillTx/>
              <a:latin typeface="Arial"/>
            </a:endParaRPr>
          </a:p>
        </p:txBody>
      </p:sp>
      <p:sp>
        <p:nvSpPr>
          <p:cNvPr id="413" name="Prediction step 7 number"/>
          <p:cNvSpPr/>
          <p:nvPr/>
        </p:nvSpPr>
        <p:spPr>
          <a:xfrm>
            <a:off x="8313840" y="3429000"/>
            <a:ext cx="292320" cy="29232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chemeClr val="dk1"/>
                </a:solidFill>
                <a:effectLst/>
                <a:uFillTx/>
                <a:latin typeface="Arial"/>
                <a:ea typeface="Arial"/>
              </a:rPr>
              <a:t>7</a:t>
            </a:r>
            <a:endParaRPr lang="en-US" sz="1100" b="0" u="none" strike="noStrike">
              <a:solidFill>
                <a:srgbClr val="000000"/>
              </a:solidFill>
              <a:effectLst/>
              <a:uFillTx/>
              <a:latin typeface="Arial"/>
            </a:endParaRPr>
          </a:p>
        </p:txBody>
      </p:sp>
      <p:sp>
        <p:nvSpPr>
          <p:cNvPr id="414" name="Prediction step 7"/>
          <p:cNvSpPr/>
          <p:nvPr/>
        </p:nvSpPr>
        <p:spPr>
          <a:xfrm>
            <a:off x="8743320" y="3401640"/>
            <a:ext cx="26888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lt1"/>
                </a:solidFill>
                <a:effectLst/>
                <a:uFillTx/>
                <a:latin typeface="Calibri"/>
              </a:rPr>
              <a:t>A first forecast job</a:t>
            </a:r>
            <a:endParaRPr lang="en-US" sz="1400" b="0" u="none" strike="noStrike">
              <a:solidFill>
                <a:srgbClr val="FFFFFF"/>
              </a:solidFill>
              <a:effectLst/>
              <a:uFillTx/>
              <a:latin typeface="Arial"/>
            </a:endParaRPr>
          </a:p>
        </p:txBody>
      </p:sp>
      <p:sp>
        <p:nvSpPr>
          <p:cNvPr id="415" name="Prediction step 8 number"/>
          <p:cNvSpPr/>
          <p:nvPr/>
        </p:nvSpPr>
        <p:spPr>
          <a:xfrm>
            <a:off x="8313840" y="3996000"/>
            <a:ext cx="292320" cy="292320"/>
          </a:xfrm>
          <a:prstGeom prst="roundRect">
            <a:avLst>
              <a:gd name="adj" fmla="val 50000"/>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chemeClr val="dk1"/>
                </a:solidFill>
                <a:effectLst/>
                <a:uFillTx/>
                <a:latin typeface="Arial"/>
                <a:ea typeface="Arial"/>
              </a:rPr>
              <a:t>8</a:t>
            </a:r>
            <a:endParaRPr lang="en-US" sz="1100" b="0" u="none" strike="noStrike">
              <a:solidFill>
                <a:srgbClr val="000000"/>
              </a:solidFill>
              <a:effectLst/>
              <a:uFillTx/>
              <a:latin typeface="Arial"/>
            </a:endParaRPr>
          </a:p>
        </p:txBody>
      </p:sp>
      <p:sp>
        <p:nvSpPr>
          <p:cNvPr id="416" name="Prediction step 8"/>
          <p:cNvSpPr/>
          <p:nvPr/>
        </p:nvSpPr>
        <p:spPr>
          <a:xfrm>
            <a:off x="8743320" y="3968640"/>
            <a:ext cx="26888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lt1"/>
                </a:solidFill>
                <a:effectLst/>
                <a:uFillTx/>
                <a:latin typeface="Calibri"/>
              </a:rPr>
              <a:t>Forecasts on the map</a:t>
            </a:r>
            <a:endParaRPr lang="en-US" sz="1400" b="0" u="none" strike="noStrike">
              <a:solidFill>
                <a:srgbClr val="FFFFFF"/>
              </a:solidFill>
              <a:effectLst/>
              <a:uFillTx/>
              <a:latin typeface="Arial"/>
            </a:endParaRPr>
          </a:p>
        </p:txBody>
      </p:sp>
      <p:sp>
        <p:nvSpPr>
          <p:cNvPr id="417" name="Test strip"/>
          <p:cNvSpPr/>
          <p:nvPr/>
        </p:nvSpPr>
        <p:spPr>
          <a:xfrm>
            <a:off x="548640" y="5074920"/>
            <a:ext cx="11094120" cy="978120"/>
          </a:xfrm>
          <a:prstGeom prst="roundRect">
            <a:avLst>
              <a:gd name="adj" fmla="val 7477"/>
            </a:avLst>
          </a:prstGeom>
          <a:solidFill>
            <a:schemeClr val="accent1">
              <a:alpha val="15000"/>
            </a:schemeClr>
          </a:solidFill>
          <a:ln w="12700">
            <a:solidFill>
              <a:schemeClr val="accent1">
                <a:alpha val="60000"/>
              </a:schemeClr>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18" name="Test strip label"/>
          <p:cNvSpPr/>
          <p:nvPr/>
        </p:nvSpPr>
        <p:spPr>
          <a:xfrm>
            <a:off x="777240" y="5203080"/>
            <a:ext cx="36572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pc="99" strike="noStrike">
                <a:solidFill>
                  <a:schemeClr val="accent1"/>
                </a:solidFill>
                <a:effectLst/>
                <a:uFillTx/>
                <a:latin typeface="Arial"/>
                <a:ea typeface="Arial"/>
              </a:rPr>
              <a:t>HOW WE WILL TEST IT</a:t>
            </a:r>
            <a:endParaRPr lang="en-US" sz="1000" b="0" u="none" strike="noStrike">
              <a:solidFill>
                <a:srgbClr val="FFFFFF"/>
              </a:solidFill>
              <a:effectLst/>
              <a:uFillTx/>
              <a:latin typeface="Arial"/>
            </a:endParaRPr>
          </a:p>
        </p:txBody>
      </p:sp>
      <p:sp>
        <p:nvSpPr>
          <p:cNvPr id="419" name="Test 1"/>
          <p:cNvSpPr/>
          <p:nvPr/>
        </p:nvSpPr>
        <p:spPr>
          <a:xfrm>
            <a:off x="777240" y="5459040"/>
            <a:ext cx="24760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lt1"/>
                </a:solidFill>
                <a:effectLst/>
                <a:uFillTx/>
                <a:latin typeface="Calibri"/>
              </a:rPr>
              <a:t>Watch every message with </a:t>
            </a:r>
            <a:r>
              <a:rPr lang="en-US" sz="1150" b="1" u="none" strike="noStrike">
                <a:solidFill>
                  <a:schemeClr val="accent1"/>
                </a:solidFill>
                <a:effectLst/>
                <a:uFillTx/>
                <a:latin typeface="Courier New"/>
                <a:ea typeface="Courier New"/>
              </a:rPr>
              <a:t>mosquitto_sub</a:t>
            </a:r>
            <a:endParaRPr lang="en-US" sz="1150" b="0" u="none" strike="noStrike">
              <a:solidFill>
                <a:srgbClr val="FFFFFF"/>
              </a:solidFill>
              <a:effectLst/>
              <a:uFillTx/>
              <a:latin typeface="Arial"/>
            </a:endParaRPr>
          </a:p>
        </p:txBody>
      </p:sp>
      <p:sp>
        <p:nvSpPr>
          <p:cNvPr id="420" name="Test 2"/>
          <p:cNvSpPr/>
          <p:nvPr/>
        </p:nvSpPr>
        <p:spPr>
          <a:xfrm>
            <a:off x="3436560" y="5459040"/>
            <a:ext cx="24760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lt1"/>
                </a:solidFill>
                <a:effectLst/>
                <a:uFillTx/>
                <a:latin typeface="Calibri"/>
              </a:rPr>
              <a:t>Stop the adapter → it shows as </a:t>
            </a:r>
            <a:r>
              <a:rPr lang="en-US" sz="1250" b="1" u="none" strike="noStrike">
                <a:solidFill>
                  <a:schemeClr val="lt1"/>
                </a:solidFill>
                <a:effectLst/>
                <a:uFillTx/>
                <a:latin typeface="Calibri"/>
              </a:rPr>
              <a:t>offline</a:t>
            </a:r>
            <a:endParaRPr lang="en-US" sz="1250" b="0" u="none" strike="noStrike">
              <a:solidFill>
                <a:srgbClr val="FFFFFF"/>
              </a:solidFill>
              <a:effectLst/>
              <a:uFillTx/>
              <a:latin typeface="Arial"/>
            </a:endParaRPr>
          </a:p>
        </p:txBody>
      </p:sp>
      <p:sp>
        <p:nvSpPr>
          <p:cNvPr id="421" name="Test 3"/>
          <p:cNvSpPr/>
          <p:nvPr/>
        </p:nvSpPr>
        <p:spPr>
          <a:xfrm>
            <a:off x="6095880" y="5459040"/>
            <a:ext cx="24760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lt1"/>
                </a:solidFill>
                <a:effectLst/>
                <a:uFillTx/>
                <a:latin typeface="Calibri"/>
              </a:rPr>
              <a:t>Restart the backend → nothing </a:t>
            </a:r>
            <a:r>
              <a:rPr lang="en-US" sz="1250" b="1" u="none" strike="noStrike">
                <a:solidFill>
                  <a:schemeClr val="lt1"/>
                </a:solidFill>
                <a:effectLst/>
                <a:uFillTx/>
                <a:latin typeface="Calibri"/>
              </a:rPr>
              <a:t>lost or doubled</a:t>
            </a:r>
            <a:endParaRPr lang="en-US" sz="1250" b="0" u="none" strike="noStrike">
              <a:solidFill>
                <a:srgbClr val="FFFFFF"/>
              </a:solidFill>
              <a:effectLst/>
              <a:uFillTx/>
              <a:latin typeface="Arial"/>
            </a:endParaRPr>
          </a:p>
        </p:txBody>
      </p:sp>
      <p:sp>
        <p:nvSpPr>
          <p:cNvPr id="422" name="Test 4"/>
          <p:cNvSpPr/>
          <p:nvPr/>
        </p:nvSpPr>
        <p:spPr>
          <a:xfrm>
            <a:off x="8755200" y="5459040"/>
            <a:ext cx="24760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chemeClr val="lt1"/>
                </a:solidFill>
                <a:effectLst/>
                <a:uFillTx/>
                <a:latin typeface="Calibri"/>
              </a:rPr>
              <a:t>Load test: messages/s, lag, database writes</a:t>
            </a:r>
            <a:endParaRPr lang="en-US" sz="1250" b="0" u="none" strike="noStrike">
              <a:solidFill>
                <a:srgbClr val="FFFFFF"/>
              </a:solidFill>
              <a:effectLst/>
              <a:uFillTx/>
              <a:latin typeface="Arial"/>
            </a:endParaRPr>
          </a:p>
        </p:txBody>
      </p:sp>
      <p:sp>
        <p:nvSpPr>
          <p:cNvPr id="423" name="PlaceHolder 3"/>
          <p:cNvSpPr>
            <a:spLocks noGrp="1"/>
          </p:cNvSpPr>
          <p:nvPr>
            <p:ph type="sldNum" idx="13"/>
          </p:nvPr>
        </p:nvSpPr>
        <p:spPr>
          <a:xfrm>
            <a:off x="11185920" y="6382440"/>
            <a:ext cx="456840" cy="25560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4"/>
                </a:solidFill>
                <a:effectLst/>
                <a:uFillTx/>
                <a:latin typeface="Calibri"/>
              </a:defRPr>
            </a:lvl1pPr>
          </a:lstStyle>
          <a:p>
            <a:pPr indent="0" algn="r" defTabSz="914400">
              <a:lnSpc>
                <a:spcPct val="100000"/>
              </a:lnSpc>
              <a:buNone/>
            </a:pPr>
            <a:fld id="{98794CD8-A926-4F30-B2F8-2B3BC6A22432}" type="slidenum">
              <a:rPr lang="en-US" sz="1000" b="0" u="none" strike="noStrike">
                <a:solidFill>
                  <a:schemeClr val="accent4"/>
                </a:solidFill>
                <a:effectLst/>
                <a:uFillTx/>
                <a:latin typeface="Calibri"/>
              </a:rPr>
              <a:t>&lt;number&gt;</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GreenWave">
  <a:themeElements>
    <a:clrScheme name="GreenWave">
      <a:dk1>
        <a:srgbClr val="0E1A26"/>
      </a:dk1>
      <a:lt1>
        <a:srgbClr val="FFFFFF"/>
      </a:lt1>
      <a:dk2>
        <a:srgbClr val="3A5169"/>
      </a:dk2>
      <a:lt2>
        <a:srgbClr val="F5F7FA"/>
      </a:lt2>
      <a:accent1>
        <a:srgbClr val="F2A03D"/>
      </a:accent1>
      <a:accent2>
        <a:srgbClr val="2FBF71"/>
      </a:accent2>
      <a:accent3>
        <a:srgbClr val="E2523A"/>
      </a:accent3>
      <a:accent4>
        <a:srgbClr val="5B7C99"/>
      </a:accent4>
      <a:accent5>
        <a:srgbClr val="16293D"/>
      </a:accent5>
      <a:accent6>
        <a:srgbClr val="B4720F"/>
      </a:accent6>
      <a:hlink>
        <a:srgbClr val="2E6DA4"/>
      </a:hlink>
      <a:folHlink>
        <a:srgbClr val="6B8299"/>
      </a:folHlink>
    </a:clrScheme>
    <a:fontScheme name="GreenWave">
      <a:majorFont>
        <a:latin typeface="Arial"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TotalTime>
  <Application>LibreOffice/26.8.0.3$MacOSX_AARCH64 LibreOffice_project/bce0998afefdbc355585ca324285661a2170ba77</Application>
  <AppVersion>15.0000</AppVersion>
  <Words>0</Words>
  <Paragraphs>0</Paragraphs>
  <Company>Aarhus University</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2026-10-25T18:48:52Z</dcterms:created>
  <dc:creator>IoT Group 5</dc:creator>
  <dc:description/>
  <dc:language>en-US</dc:language>
  <cp:lastModifiedBy/>
  <dcterms:modified xsi:type="dcterms:W3CDTF">2026-10-25T22:10:07Z</dcterms:modified>
  <cp:revision>2</cp:revision>
  <dc:subject>PptxGenJS Presentation</dc:subject>
  <dc:title>GreenWave: Presentation 2, project status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9</vt:i4>
  </property>
  <property fmtid="{D5CDD505-2E9C-101B-9397-08002B2CF9AE}" pid="3" name="PresentationFormat">
    <vt:lpwstr>On-screen Show (16:9)</vt:lpwstr>
  </property>
  <property fmtid="{D5CDD505-2E9C-101B-9397-08002B2CF9AE}" pid="4" name="Slides">
    <vt:i4>9</vt:i4>
  </property>
</Properties>
</file>